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Pretendard" panose="02000503000000020004" pitchFamily="50" charset="-127"/>
      <p:regular r:id="rId26"/>
      <p:bold r:id="rId27"/>
    </p:embeddedFont>
    <p:embeddedFont>
      <p:font typeface="Pretendard SemiBold" panose="02000703000000020004" pitchFamily="50" charset="-1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6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Pretendard"/>
                <a:ea typeface="Pretendard"/>
                <a:cs typeface="Pretendar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www.youtube.com/watch?v=cK3tZQnQxlI" TargetMode="Externa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8" y="1444887"/>
            <a:ext cx="10764781" cy="949063"/>
          </a:xfrm>
        </p:spPr>
        <p:txBody>
          <a:bodyPr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55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5주차 — 로봇 기초·관절 위치제어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Link·Joint·FK·Position Control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2">
                    <a:lumMod val="90000"/>
                  </a:schemeClr>
                </a:solidFill>
                <a:latin typeface="Pretendard"/>
                <a:ea typeface="Pretendard"/>
                <a:cs typeface="Pretendard"/>
              </a:rPr>
              <a:t>임베디드 시스템 설계 및 실습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29CEB81-A958-4CDA-8FDD-4761767D45EB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B9255052-E5A2-4B5F-A124-684829B84FC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/>
          <a:lstStyle/>
          <a:p>
            <a:pPr algn="r">
              <a:buNone/>
              <a:defRPr sz="11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1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2598689-54C9-18A7-3A19-ED76AA08988F}" type="slidenum">
              <a:rPr>
                <a:latin typeface="Pretendard"/>
                <a:ea typeface="Pretendard"/>
                <a:cs typeface="Pretendard"/>
              </a:rPr>
              <a:t>2</a:t>
            </a:fld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graphicFrame>
        <p:nvGraphicFramePr>
          <p:cNvPr id="9" name="Table 6"/>
          <p:cNvGraphicFramePr/>
          <p:nvPr/>
        </p:nvGraphicFramePr>
        <p:xfrm>
          <a:off x="393700" y="8331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로봇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구성요소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자유도·좌표계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기구학·순기구학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관절 공간 제어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제어·자세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</a:t>
                      </a:r>
                      <a:endParaRPr sz="2300" b="0" i="0" u="none" cap="none" spc="0" dirty="0">
                        <a:ln>
                          <a:noFill/>
                        </a:ln>
                        <a:solidFill>
                          <a:prstClr val="black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Pretendard"/>
                          <a:ea typeface="Pretendard"/>
                          <a:cs typeface="Pretendard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실습</a:t>
                      </a:r>
                      <a:r>
                        <a:rPr sz="2300" b="0" i="0" u="none" cap="none" spc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etendard"/>
                          <a:ea typeface="Pretendard"/>
                          <a:cs typeface="Pretendard"/>
                        </a:rPr>
                        <a:t> 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dirty="0"/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02359C0-8A7A-196E-DD58-8E6569619F09}" type="slidenum">
              <a:rPr>
                <a:latin typeface="Pretendard"/>
                <a:ea typeface="Pretendard"/>
                <a:cs typeface="Pretendard"/>
              </a:rPr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관절의 움직임과 로봇 손끝 위치의 관계 이해</a:t>
            </a:r>
            <a:endParaRPr sz="1600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FD6AB9A-5F9E-5F59-51AB-3C8734130965}" type="slidenum">
              <a:rPr>
                <a:latin typeface="Pretendard"/>
                <a:ea typeface="Pretendard"/>
                <a:cs typeface="Pretendard"/>
              </a:rPr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로봇 매니퓰레이터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463264" y="2009623"/>
            <a:ext cx="5537200" cy="150631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latin typeface="Pretendard"/>
                <a:ea typeface="Pretendard"/>
                <a:cs typeface="Pretendard"/>
              </a:rPr>
              <a:t>• Base에서 End-Effector까지 이어진 구조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latin typeface="Pretendard"/>
                <a:ea typeface="Pretendard"/>
                <a:cs typeface="Pretendard"/>
              </a:rPr>
              <a:t>• 여러 Joint가 Link 사이의 운동 허용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>
                <a:latin typeface="Pretendard"/>
                <a:ea typeface="Pretendard"/>
                <a:cs typeface="Pretendard"/>
              </a:rPr>
              <a:t>• 관절값 조합에 따라 전체 형상 결정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699" y="1436666"/>
            <a:ext cx="6174525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Link와 Joint를 연결해 EE의 위치·자세를 만드는 기계 시스템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452BDDF-1A21-2D20-B5AD-5846BB903A6A}"/>
              </a:ext>
            </a:extLst>
          </p:cNvPr>
          <p:cNvSpPr>
            <a:spLocks noGrp="1"/>
          </p:cNvSpPr>
          <p:nvPr/>
        </p:nvSpPr>
        <p:spPr>
          <a:xfrm>
            <a:off x="6632619" y="1900164"/>
            <a:ext cx="5096117" cy="3838415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541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0" y="-19050000"/>
            <a:ext cx="9525" cy="9525"/>
          </a:xfrm>
          <a:prstGeom prst="rect">
            <a:avLst/>
          </a:prstGeom>
        </p:spPr>
      </p:pic>
      <p:pic>
        <p:nvPicPr>
          <p:cNvPr id="542" name="그림 5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37984" y="2398573"/>
            <a:ext cx="4485666" cy="284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E5B3003-2C54-13C6-9832-7637201064DE}" type="slidenum">
              <a:rPr>
                <a:latin typeface="Pretendard"/>
                <a:ea typeface="Pretendard"/>
                <a:cs typeface="Pretendard"/>
              </a:rPr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Link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로봇을 구성하는 고정된 몸체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힘과 운동을 다음 Joint로 전달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길이와 형상이 도달 범위에 영향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사람의 팔뼈와 유사한 역할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69944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Joint 사이를 연결하는 형태가 변하지 않는 강체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452BDDF-1A21-2D20-B5AD-5846BB903A6A}"/>
              </a:ext>
            </a:extLst>
          </p:cNvPr>
          <p:cNvSpPr>
            <a:spLocks noGrp="1"/>
          </p:cNvSpPr>
          <p:nvPr/>
        </p:nvSpPr>
        <p:spPr>
          <a:xfrm>
            <a:off x="6405563" y="1522095"/>
            <a:ext cx="5394008" cy="447198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541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0" y="-19050000"/>
            <a:ext cx="9525" cy="9525"/>
          </a:xfrm>
          <a:prstGeom prst="rect">
            <a:avLst/>
          </a:prstGeom>
        </p:spPr>
      </p:pic>
      <p:pic>
        <p:nvPicPr>
          <p:cNvPr id="542" name="그림 5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29226" y="1695461"/>
            <a:ext cx="4103183" cy="42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8C630A04-5A25-9E0C-9436-126091DB86B3}" type="slidenum">
              <a:rPr>
                <a:latin typeface="Pretendard"/>
                <a:ea typeface="Pretendard"/>
                <a:cs typeface="Pretendard"/>
              </a:rPr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Joint 종류·변수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Revolute: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축을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중심으로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회전·변수</a:t>
            </a:r>
            <a:r>
              <a:rPr sz="1600" dirty="0">
                <a:latin typeface="Pretendard"/>
                <a:ea typeface="Pretendard"/>
                <a:cs typeface="Pretendard"/>
              </a:rPr>
              <a:t> θ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Prismatic: 축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방향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직선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이동·변수</a:t>
            </a:r>
            <a:r>
              <a:rPr sz="1600" dirty="0">
                <a:latin typeface="Pretendard"/>
                <a:ea typeface="Pretendard"/>
                <a:cs typeface="Pretendard"/>
              </a:rPr>
              <a:t> 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Cylindrical: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축의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회전과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직선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이동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Joint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종류가</a:t>
            </a:r>
            <a:r>
              <a:rPr sz="1600" dirty="0">
                <a:latin typeface="Pretendard"/>
                <a:ea typeface="Pretendard"/>
                <a:cs typeface="Pretendard"/>
              </a:rPr>
              <a:t> Link </a:t>
            </a:r>
            <a:r>
              <a:rPr sz="1600" dirty="0" err="1">
                <a:latin typeface="Pretendard"/>
                <a:ea typeface="Pretendard"/>
                <a:cs typeface="Pretendard"/>
              </a:rPr>
              <a:t>사이의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운동을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제한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69944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허용하는 상대운동에 따라 관절 변수와 자유도 결정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452BDDF-1A21-2D20-B5AD-5846BB903A6A}"/>
              </a:ext>
            </a:extLst>
          </p:cNvPr>
          <p:cNvSpPr>
            <a:spLocks noGrp="1"/>
          </p:cNvSpPr>
          <p:nvPr/>
        </p:nvSpPr>
        <p:spPr>
          <a:xfrm>
            <a:off x="6405563" y="1522095"/>
            <a:ext cx="5394008" cy="447198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541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0" y="-19050000"/>
            <a:ext cx="9525" cy="9525"/>
          </a:xfrm>
          <a:prstGeom prst="rect">
            <a:avLst/>
          </a:prstGeom>
        </p:spPr>
      </p:pic>
      <p:pic>
        <p:nvPicPr>
          <p:cNvPr id="542" name="그림 5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53804" y="1695461"/>
            <a:ext cx="4454027" cy="42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3D7D1C8-AE23-AA48-DF65-C742588DBE47}" type="slidenum">
              <a:rPr>
                <a:latin typeface="Pretendard"/>
                <a:ea typeface="Pretendard"/>
                <a:cs typeface="Pretendard"/>
              </a:rPr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자유도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눈에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보이는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부품이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아닌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운동의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개수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Revolute Joint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하나는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일반적으로</a:t>
            </a:r>
            <a:r>
              <a:rPr sz="1600" dirty="0">
                <a:latin typeface="Pretendard"/>
                <a:ea typeface="Pretendard"/>
                <a:cs typeface="Pretendard"/>
              </a:rPr>
              <a:t> 1 DOF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독립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1600" dirty="0">
                <a:latin typeface="Pretendard"/>
                <a:ea typeface="Pretendard"/>
                <a:cs typeface="Pretendard"/>
              </a:rPr>
              <a:t> 두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개는</a:t>
            </a:r>
            <a:r>
              <a:rPr sz="1600" dirty="0">
                <a:latin typeface="Pretendard"/>
                <a:ea typeface="Pretendard"/>
                <a:cs typeface="Pretendard"/>
              </a:rPr>
              <a:t> 2 DOF </a:t>
            </a:r>
            <a:r>
              <a:rPr sz="1600" dirty="0" err="1">
                <a:latin typeface="Pretendard"/>
                <a:ea typeface="Pretendard"/>
                <a:cs typeface="Pretendard"/>
              </a:rPr>
              <a:t>구성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원하는</a:t>
            </a:r>
            <a:r>
              <a:rPr sz="1600" dirty="0">
                <a:latin typeface="Pretendard"/>
                <a:ea typeface="Pretendard"/>
                <a:cs typeface="Pretendard"/>
              </a:rPr>
              <a:t> Pose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제어에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필요한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자유도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확보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69944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로봇 구성을 완전히 정하는 독립 운동 변수의 수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452BDDF-1A21-2D20-B5AD-5846BB903A6A}"/>
              </a:ext>
            </a:extLst>
          </p:cNvPr>
          <p:cNvSpPr>
            <a:spLocks noGrp="1"/>
          </p:cNvSpPr>
          <p:nvPr/>
        </p:nvSpPr>
        <p:spPr>
          <a:xfrm>
            <a:off x="6405563" y="1522095"/>
            <a:ext cx="5394008" cy="447198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541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0" y="-19050000"/>
            <a:ext cx="9525" cy="9525"/>
          </a:xfrm>
          <a:prstGeom prst="rect">
            <a:avLst/>
          </a:prstGeom>
        </p:spPr>
      </p:pic>
      <p:pic>
        <p:nvPicPr>
          <p:cNvPr id="542" name="그림 5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83455" y="1695461"/>
            <a:ext cx="4194724" cy="42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A58DA2A-B818-18A9-29C1-B697728D5BCE}" type="slidenum">
              <a:rPr>
                <a:latin typeface="Pretendard"/>
                <a:ea typeface="Pretendard"/>
                <a:cs typeface="Pretendard"/>
              </a:rPr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Base·End-Effector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556014" y="1948339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Base: 로봇 전체를 지지하는 기준 구조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Base 좌표계에서 Link와 Joint Pose 표현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End-Effector: 작업 목적에 맞는 도구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699" y="1436666"/>
            <a:ext cx="5878311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Base는 기준, End-Effector는 실제 작업이 일어나는 끝단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452BDDF-1A21-2D20-B5AD-5846BB903A6A}"/>
              </a:ext>
            </a:extLst>
          </p:cNvPr>
          <p:cNvSpPr>
            <a:spLocks noGrp="1"/>
          </p:cNvSpPr>
          <p:nvPr/>
        </p:nvSpPr>
        <p:spPr>
          <a:xfrm>
            <a:off x="6405563" y="1522095"/>
            <a:ext cx="5394008" cy="4471988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541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0" y="-19050000"/>
            <a:ext cx="9525" cy="9525"/>
          </a:xfrm>
          <a:prstGeom prst="rect">
            <a:avLst/>
          </a:prstGeom>
        </p:spPr>
      </p:pic>
      <p:pic>
        <p:nvPicPr>
          <p:cNvPr id="542" name="그림 5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30262" y="1695461"/>
            <a:ext cx="4301110" cy="424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388657AE-30A1-5A7A-6A7F-315D84436430}" type="slidenum">
              <a:rPr>
                <a:latin typeface="Pretendard"/>
                <a:ea typeface="Pretendard"/>
                <a:cs typeface="Pretendard"/>
              </a:rPr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좌표계·Pose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Coordinate Frame</a:t>
            </a:r>
            <a:r>
              <a:rPr lang="en-US" sz="1600" dirty="0"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600" dirty="0">
                <a:latin typeface="Pretendard"/>
                <a:ea typeface="Pretendard"/>
                <a:cs typeface="Pretendard"/>
              </a:rPr>
              <a:t>좌표계</a:t>
            </a:r>
            <a:r>
              <a:rPr lang="en-US" sz="1600" dirty="0">
                <a:latin typeface="Pretendard"/>
                <a:ea typeface="Pretendard"/>
                <a:cs typeface="Pretendard"/>
              </a:rPr>
              <a:t>)</a:t>
            </a:r>
            <a:r>
              <a:rPr sz="1600" dirty="0">
                <a:latin typeface="Pretendard"/>
                <a:ea typeface="Pretendard"/>
                <a:cs typeface="Pretendard"/>
              </a:rPr>
              <a:t>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원점과</a:t>
            </a:r>
            <a:r>
              <a:rPr sz="1600" dirty="0">
                <a:latin typeface="Pretendard"/>
                <a:ea typeface="Pretendard"/>
                <a:cs typeface="Pretendard"/>
              </a:rPr>
              <a:t> 세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개의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좌표축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Position: </a:t>
            </a:r>
            <a:r>
              <a:rPr sz="1600" dirty="0" err="1">
                <a:latin typeface="Pretendard"/>
                <a:ea typeface="Pretendard"/>
                <a:cs typeface="Pretendard"/>
              </a:rPr>
              <a:t>x·y·z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위치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성분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Orientation: </a:t>
            </a:r>
            <a:r>
              <a:rPr sz="1600" dirty="0" err="1">
                <a:latin typeface="Pretendard"/>
                <a:ea typeface="Pretendard"/>
                <a:cs typeface="Pretendard"/>
              </a:rPr>
              <a:t>Roll·Pitch·Yaw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또는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회전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표현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Pose: </a:t>
            </a:r>
            <a:r>
              <a:rPr sz="1600" dirty="0" err="1">
                <a:latin typeface="Pretendard"/>
                <a:ea typeface="Pretendard"/>
                <a:cs typeface="Pretendard"/>
              </a:rPr>
              <a:t>Position과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Orientation의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결합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기준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좌표계가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바뀌면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같은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물체의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수치도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변화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로봇의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위치와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방향은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기준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좌표계와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함께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표현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pic>
        <p:nvPicPr>
          <p:cNvPr id="2" name="roll pitch yaw">
            <a:hlinkClick r:id="" action="ppaction://media"/>
            <a:extLst>
              <a:ext uri="{FF2B5EF4-FFF2-40B4-BE49-F238E27FC236}">
                <a16:creationId xmlns:a16="http://schemas.microsoft.com/office/drawing/2014/main" id="{EAEE2EBE-9FB6-CDC0-F30F-119615EBFB9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76129" y="2805747"/>
            <a:ext cx="5362687" cy="3312383"/>
          </a:xfrm>
          <a:prstGeom prst="rect">
            <a:avLst/>
          </a:prstGeom>
        </p:spPr>
      </p:pic>
      <p:sp>
        <p:nvSpPr>
          <p:cNvPr id="4" name="Google Shape;534;p58">
            <a:extLst>
              <a:ext uri="{FF2B5EF4-FFF2-40B4-BE49-F238E27FC236}">
                <a16:creationId xmlns:a16="http://schemas.microsoft.com/office/drawing/2014/main" id="{7EDD98EF-2544-D6BE-1D59-7426B3062A23}"/>
              </a:ext>
            </a:extLst>
          </p:cNvPr>
          <p:cNvSpPr>
            <a:spLocks noGrp="1"/>
          </p:cNvSpPr>
          <p:nvPr/>
        </p:nvSpPr>
        <p:spPr>
          <a:xfrm>
            <a:off x="8382000" y="6118130"/>
            <a:ext cx="3156816" cy="22225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sz="1100" dirty="0">
                <a:hlinkClick r:id="rId6"/>
              </a:rPr>
              <a:t>https://www.youtube.com/watch?v=cK3tZQnQxlI</a:t>
            </a:r>
            <a:r>
              <a:rPr lang="en-US" sz="1100" dirty="0"/>
              <a:t> </a:t>
            </a:r>
            <a:endParaRPr sz="1100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B7BEEEC-A170-5376-2B6E-CB54687B0CB1}" type="slidenum">
              <a:rPr>
                <a:latin typeface="Pretendard"/>
                <a:ea typeface="Pretendard"/>
                <a:cs typeface="Pretendard"/>
              </a:rPr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en-US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Kinematics, </a:t>
            </a: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기구학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Joint </a:t>
            </a:r>
            <a:r>
              <a:rPr sz="1600" dirty="0" err="1">
                <a:latin typeface="Pretendard"/>
                <a:ea typeface="Pretendard"/>
                <a:cs typeface="Pretendard"/>
              </a:rPr>
              <a:t>Variable과</a:t>
            </a:r>
            <a:r>
              <a:rPr sz="1600" dirty="0">
                <a:latin typeface="Pretendard"/>
                <a:ea typeface="Pretendard"/>
                <a:cs typeface="Pretendard"/>
              </a:rPr>
              <a:t> Link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배치의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관절값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변화에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따른</a:t>
            </a:r>
            <a:r>
              <a:rPr sz="1600" dirty="0">
                <a:latin typeface="Pretendard"/>
                <a:ea typeface="Pretendard"/>
                <a:cs typeface="Pretendard"/>
              </a:rPr>
              <a:t> EE Pose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계산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Forward </a:t>
            </a:r>
            <a:r>
              <a:rPr sz="1600" dirty="0" err="1">
                <a:latin typeface="Pretendard"/>
                <a:ea typeface="Pretendard"/>
                <a:cs typeface="Pretendard"/>
              </a:rPr>
              <a:t>Kinematics와</a:t>
            </a:r>
            <a:r>
              <a:rPr sz="1600" dirty="0">
                <a:latin typeface="Pretendard"/>
                <a:ea typeface="Pretendard"/>
                <a:cs typeface="Pretendard"/>
              </a:rPr>
              <a:t> Inverse Kinematics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제어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공간과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작업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공간으로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연결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lang="ko-KR" altLang="en-US" sz="2000" b="1" dirty="0">
                <a:latin typeface="Pretendard"/>
                <a:ea typeface="Pretendard"/>
                <a:cs typeface="Pretendard"/>
              </a:rPr>
              <a:t>로봇의 관절 좌표와 공간 배치 간의 관계를 다루는 학문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BEC75A80-327C-FB29-5043-076602EDB613}"/>
              </a:ext>
            </a:extLst>
          </p:cNvPr>
          <p:cNvSpPr>
            <a:spLocks noGrp="1"/>
          </p:cNvSpPr>
          <p:nvPr/>
        </p:nvSpPr>
        <p:spPr>
          <a:xfrm>
            <a:off x="393699" y="35325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/>
              <a:t>Forward Kinematics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• </a:t>
            </a:r>
            <a:r>
              <a:rPr sz="1400" dirty="0" err="1"/>
              <a:t>입력</a:t>
            </a:r>
            <a:r>
              <a:rPr sz="1400" dirty="0"/>
              <a:t>: Joint Values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• </a:t>
            </a:r>
            <a:r>
              <a:rPr sz="1400" dirty="0" err="1"/>
              <a:t>출력</a:t>
            </a:r>
            <a:r>
              <a:rPr sz="1400" dirty="0"/>
              <a:t>: End-Effector Pose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• </a:t>
            </a:r>
            <a:r>
              <a:rPr sz="1400" dirty="0" err="1"/>
              <a:t>주어진</a:t>
            </a:r>
            <a:r>
              <a:rPr sz="1400" dirty="0"/>
              <a:t> </a:t>
            </a:r>
            <a:r>
              <a:rPr sz="1400" dirty="0" err="1"/>
              <a:t>로봇</a:t>
            </a:r>
            <a:r>
              <a:rPr sz="1400" dirty="0"/>
              <a:t> </a:t>
            </a:r>
            <a:r>
              <a:rPr sz="1400" dirty="0" err="1"/>
              <a:t>형상의</a:t>
            </a:r>
            <a:r>
              <a:rPr sz="1400" dirty="0"/>
              <a:t> </a:t>
            </a:r>
            <a:r>
              <a:rPr sz="1400" dirty="0" err="1"/>
              <a:t>결과</a:t>
            </a:r>
            <a:r>
              <a:rPr sz="1400" dirty="0"/>
              <a:t> </a:t>
            </a:r>
            <a:r>
              <a:rPr sz="1400" dirty="0" err="1"/>
              <a:t>계산</a:t>
            </a:r>
            <a:endParaRPr sz="14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• 한 </a:t>
            </a:r>
            <a:r>
              <a:rPr sz="1400" dirty="0" err="1"/>
              <a:t>구성에서</a:t>
            </a:r>
            <a:r>
              <a:rPr sz="1400" dirty="0"/>
              <a:t> </a:t>
            </a:r>
            <a:r>
              <a:rPr sz="1400" dirty="0" err="1"/>
              <a:t>하나의</a:t>
            </a:r>
            <a:r>
              <a:rPr sz="1400" dirty="0"/>
              <a:t> Pose </a:t>
            </a:r>
            <a:r>
              <a:rPr sz="1400" dirty="0" err="1"/>
              <a:t>결정</a:t>
            </a:r>
            <a:endParaRPr sz="1400" dirty="0"/>
          </a:p>
        </p:txBody>
      </p:sp>
      <p:sp>
        <p:nvSpPr>
          <p:cNvPr id="4" name="Google Shape;534;p58">
            <a:extLst>
              <a:ext uri="{FF2B5EF4-FFF2-40B4-BE49-F238E27FC236}">
                <a16:creationId xmlns:a16="http://schemas.microsoft.com/office/drawing/2014/main" id="{C00DC96C-C7DD-2553-67AC-6521E665DA6D}"/>
              </a:ext>
            </a:extLst>
          </p:cNvPr>
          <p:cNvSpPr>
            <a:spLocks noGrp="1"/>
          </p:cNvSpPr>
          <p:nvPr/>
        </p:nvSpPr>
        <p:spPr>
          <a:xfrm>
            <a:off x="3883860" y="35325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Inverse Kinematics</a:t>
            </a:r>
            <a:endParaRPr sz="140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입력: 원하는 EE Pose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출력: 가능한 Joint Values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관절 구성을 역으로 탐색</a:t>
            </a:r>
            <a:endParaRPr sz="14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latin typeface="Pretendard"/>
                <a:ea typeface="Pretendard"/>
                <a:cs typeface="Pretendard"/>
              </a:rPr>
              <a:t>• 해가 없거나 여러 개일 수 있음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4DB16885-0D3F-A391-B669-3211DB3B26E8}" type="slidenum">
              <a:rPr>
                <a:latin typeface="Pretendard"/>
                <a:ea typeface="Pretendard"/>
                <a:cs typeface="Pretendard"/>
              </a:rPr>
              <a:t>11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순기구학 (Forward Kinematics)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입력은 전체 관절값 집합 Configuration q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출력은 Base 좌표계 기준 EE Pose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Link 길이와 Joint 연결 관계 필요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힘·토크보다 로봇 형상 계산에 집중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관절값으로 Base 기준 EE 위치·방향 계산</a:t>
            </a:r>
          </a:p>
        </p:txBody>
      </p:sp>
      <p:pic>
        <p:nvPicPr>
          <p:cNvPr id="539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688" y="1739743"/>
            <a:ext cx="5218112" cy="398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2DD23107-4986-8758-3A93-3D74F35908CC}" type="slidenum">
              <a:rPr>
                <a:latin typeface="Pretendard"/>
                <a:ea typeface="Pretendard"/>
                <a:cs typeface="Pretendard"/>
              </a:rPr>
              <a:t>12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기구학 체인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Base에서 End-Effector까지 연속 연결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각 Joint가 다음 Link의 자세 결정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상류 Joint는 이후 구조 전체에 영향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관절값 조합이 최종 로봇 형상 구성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앞쪽 Joint의 변화가 뒤쪽 Link와 EE에 누적</a:t>
            </a:r>
          </a:p>
        </p:txBody>
      </p:sp>
      <p:pic>
        <p:nvPicPr>
          <p:cNvPr id="539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688" y="1739743"/>
            <a:ext cx="5218112" cy="398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84344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>
                <a:latin typeface="Pretendard"/>
                <a:ea typeface="Pretendard"/>
                <a:cs typeface="Pretendard"/>
              </a:rPr>
              <a:t>Joint Space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목표</a:t>
            </a:r>
            <a:r>
              <a:rPr sz="1400" dirty="0">
                <a:latin typeface="Pretendard"/>
                <a:ea typeface="Pretendard"/>
                <a:cs typeface="Pretendard"/>
              </a:rPr>
              <a:t>: q₁·q₂·…·qₙ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관절별</a:t>
            </a:r>
            <a:r>
              <a:rPr sz="1400" dirty="0">
                <a:latin typeface="Pretendard"/>
                <a:ea typeface="Pretendard"/>
                <a:cs typeface="Pretendard"/>
              </a:rPr>
              <a:t> radian 값 </a:t>
            </a:r>
            <a:r>
              <a:rPr sz="1400" dirty="0" err="1">
                <a:latin typeface="Pretendard"/>
                <a:ea typeface="Pretendard"/>
                <a:cs typeface="Pretendard"/>
              </a:rPr>
              <a:t>사용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목표각을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직접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모터에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연결</a:t>
            </a:r>
            <a:endParaRPr sz="14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>
                <a:latin typeface="Pretendard"/>
                <a:ea typeface="Pretendard"/>
                <a:cs typeface="Pretendard"/>
              </a:rPr>
              <a:t>• </a:t>
            </a:r>
            <a:r>
              <a:rPr sz="1400" dirty="0" err="1">
                <a:latin typeface="Pretendard"/>
                <a:ea typeface="Pretendard"/>
                <a:cs typeface="Pretendard"/>
              </a:rPr>
              <a:t>이번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주차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실습</a:t>
            </a:r>
            <a:r>
              <a:rPr sz="1400" dirty="0"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latin typeface="Pretendard"/>
                <a:ea typeface="Pretendard"/>
                <a:cs typeface="Pretendard"/>
              </a:rPr>
              <a:t>방식</a:t>
            </a:r>
            <a:endParaRPr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327921A4-25C4-3DB4-06B1-32693CEE2241}" type="slidenum">
              <a:rPr>
                <a:latin typeface="Pretendard"/>
                <a:ea typeface="Pretendard"/>
                <a:cs typeface="Pretendard"/>
              </a:rPr>
              <a:t>13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관절 공간 제어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9436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latin typeface="Pretendard"/>
                <a:ea typeface="Pretendard"/>
                <a:cs typeface="Pretendard"/>
              </a:rPr>
              <a:t>이번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실습은</a:t>
            </a:r>
            <a:r>
              <a:rPr sz="2000" b="1" dirty="0">
                <a:latin typeface="Pretendard"/>
                <a:ea typeface="Pretendard"/>
                <a:cs typeface="Pretendard"/>
              </a:rPr>
              <a:t> EE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좌표가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아니라</a:t>
            </a:r>
            <a:r>
              <a:rPr sz="2000" b="1" dirty="0">
                <a:latin typeface="Pretendard"/>
                <a:ea typeface="Pretendard"/>
                <a:cs typeface="Pretendard"/>
              </a:rPr>
              <a:t> 각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관절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목표각을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직접</a:t>
            </a:r>
            <a:r>
              <a:rPr sz="2000" b="1" dirty="0"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latin typeface="Pretendard"/>
                <a:ea typeface="Pretendard"/>
                <a:cs typeface="Pretendard"/>
              </a:rPr>
              <a:t>지정</a:t>
            </a:r>
            <a:endParaRPr sz="2000" b="1" dirty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EA83FA91-883A-0168-8075-96CEB9DCA3C2}" type="slidenum">
              <a:rPr>
                <a:latin typeface="Pretendard"/>
                <a:ea typeface="Pretendard"/>
                <a:cs typeface="Pretendard"/>
              </a:rPr>
              <a:t>14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dirty="0" err="1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목표값·명령값·측정값</a:t>
            </a:r>
            <a:endParaRPr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Target: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최종적으로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도달할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목표각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Commanded: </a:t>
            </a:r>
            <a:r>
              <a:rPr sz="1600" dirty="0" err="1">
                <a:latin typeface="Pretendard"/>
                <a:ea typeface="Pretendard"/>
                <a:cs typeface="Pretendard"/>
              </a:rPr>
              <a:t>직전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주기에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전송한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명령각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Measured: </a:t>
            </a:r>
            <a:r>
              <a:rPr sz="1600" dirty="0" err="1">
                <a:latin typeface="Pretendard"/>
                <a:ea typeface="Pretendard"/>
                <a:cs typeface="Pretendard"/>
              </a:rPr>
              <a:t>Servo에서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읽은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관절각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>
                <a:latin typeface="Pretendard"/>
                <a:ea typeface="Pretendard"/>
                <a:cs typeface="Pretendard"/>
              </a:rPr>
              <a:t>세 </a:t>
            </a:r>
            <a:r>
              <a:rPr sz="2000" dirty="0" err="1">
                <a:latin typeface="Pretendard"/>
                <a:ea typeface="Pretendard"/>
                <a:cs typeface="Pretendard"/>
              </a:rPr>
              <a:t>값을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분리해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제어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진행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상태와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실제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응답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관리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최종 목표 q_target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Target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직전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출력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q_command</a:t>
            </a:r>
            <a:endParaRPr sz="14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Commanded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실제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관절</a:t>
            </a:r>
            <a:r>
              <a:rPr sz="14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4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q_measured</a:t>
            </a:r>
            <a:endParaRPr sz="14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Measured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DC9C7607-4BA3-B4DC-A00F-2E67A9FCFF7E}" type="slidenum">
              <a:rPr>
                <a:latin typeface="Pretendard"/>
                <a:ea typeface="Pretendard"/>
                <a:cs typeface="Pretendard"/>
              </a:rPr>
              <a:t>15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전체 관절 제어 흐름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518509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목표·토크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Topic으로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/>
              <a:t>관절</a:t>
            </a:r>
            <a:r>
              <a:rPr sz="1600" dirty="0"/>
              <a:t> </a:t>
            </a:r>
            <a:r>
              <a:rPr sz="1600" dirty="0" err="1"/>
              <a:t>제어</a:t>
            </a:r>
            <a:r>
              <a:rPr sz="1600" dirty="0"/>
              <a:t> 값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입력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Controller가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안전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조건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검사·보간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FeetechBus가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radian과</a:t>
            </a:r>
            <a:r>
              <a:rPr sz="1600" dirty="0">
                <a:latin typeface="Pretendard"/>
                <a:ea typeface="Pretendard"/>
                <a:cs typeface="Pretendard"/>
              </a:rPr>
              <a:t> Servo tick </a:t>
            </a:r>
            <a:r>
              <a:rPr sz="1600" dirty="0" err="1">
                <a:latin typeface="Pretendard"/>
                <a:ea typeface="Pretendard"/>
                <a:cs typeface="Pretendard"/>
              </a:rPr>
              <a:t>변환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측정값은</a:t>
            </a:r>
            <a:r>
              <a:rPr sz="1600" dirty="0">
                <a:latin typeface="Pretendard"/>
                <a:ea typeface="Pretendard"/>
                <a:cs typeface="Pretendard"/>
              </a:rPr>
              <a:t> /</a:t>
            </a:r>
            <a:r>
              <a:rPr sz="1600" dirty="0" err="1">
                <a:latin typeface="Pretendard"/>
                <a:ea typeface="Pretendard"/>
                <a:cs typeface="Pretendard"/>
              </a:rPr>
              <a:t>joint_states로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다시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발행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12631"/>
            <a:ext cx="5014766" cy="4095042"/>
          </a:xfrm>
          <a:prstGeom prst="rect">
            <a:avLst/>
          </a:prstGeom>
        </p:spPr>
        <p:txBody>
          <a:bodyPr vert="horz" lIns="0" tIns="0" rIns="0" bIns="0">
            <a:normAutofit fontScale="92500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/safety/</a:t>
            </a:r>
            <a:r>
              <a:rPr sz="1400" dirty="0" err="1"/>
              <a:t>torque_enable</a:t>
            </a:r>
            <a:endParaRPr sz="1400" dirty="0"/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/</a:t>
            </a:r>
            <a:r>
              <a:rPr sz="1400" dirty="0" err="1"/>
              <a:t>joint_targets</a:t>
            </a:r>
            <a:endParaRPr sz="1400" dirty="0"/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        ↓</a:t>
            </a:r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 err="1"/>
              <a:t>joint_controller</a:t>
            </a:r>
            <a:endParaRPr sz="1400" dirty="0"/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        ↓ </a:t>
            </a:r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FeetechBus → Servo</a:t>
            </a:r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        ↓</a:t>
            </a:r>
          </a:p>
          <a:p>
            <a:pPr marL="0" lvl="0" indent="0">
              <a:lnSpc>
                <a:spcPct val="120000"/>
              </a:lnSpc>
              <a:spcBef>
                <a:spcPts val="1300"/>
              </a:spcBef>
              <a:spcAft>
                <a:spcPts val="13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dirty="0"/>
              <a:t>/</a:t>
            </a:r>
            <a:r>
              <a:rPr sz="1400" dirty="0" err="1"/>
              <a:t>joint_states</a:t>
            </a:r>
            <a:endParaRPr sz="14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27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전체 관절 제어 흐름</a:t>
            </a:r>
            <a:endParaRPr sz="1400" b="0" i="0" u="none" cap="none" spc="0">
              <a:ln>
                <a:noFill/>
              </a:ln>
              <a:solidFill>
                <a:srgbClr val="3357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4760785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90F7333B-44AC-F7E9-D49D-FE92F45E0477}" type="slidenum">
              <a:rPr>
                <a:latin typeface="Pretendard"/>
                <a:ea typeface="Pretendard"/>
                <a:cs typeface="Pretendard"/>
              </a:rPr>
              <a:t>16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토크 활성화 흐름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Controller 시작 직후 실제 Servo 토크 OFF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State Timer가 현재 관절값 먼저 확보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Bool true 요청은 상태값으로 저장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현재 측정 자세를 최초 목표로 설정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225634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토크 ON은 임의 이동이 아니라 현재 자세 유지에서 시작</a:t>
            </a: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B1C6C81E-38B9-7560-621D-5A151A79DF9B}" type="slidenum">
              <a:rPr>
                <a:latin typeface="Pretendard"/>
                <a:ea typeface="Pretendard"/>
                <a:cs typeface="Pretendard"/>
              </a:rPr>
              <a:t>17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목표각 검증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name과</a:t>
            </a:r>
            <a:r>
              <a:rPr sz="1600" dirty="0">
                <a:latin typeface="Pretendard"/>
                <a:ea typeface="Pretendard"/>
                <a:cs typeface="Pretendard"/>
              </a:rPr>
              <a:t> position </a:t>
            </a:r>
            <a:r>
              <a:rPr sz="1600" dirty="0" err="1">
                <a:latin typeface="Pretendard"/>
                <a:ea typeface="Pretendard"/>
                <a:cs typeface="Pretendard"/>
              </a:rPr>
              <a:t>배열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길이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일치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Config에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등록된</a:t>
            </a:r>
            <a:r>
              <a:rPr sz="1600" dirty="0">
                <a:latin typeface="Pretendard"/>
                <a:ea typeface="Pretendard"/>
                <a:cs typeface="Pretendard"/>
              </a:rPr>
              <a:t> Joint Name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limit_rad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범위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안의</a:t>
            </a:r>
            <a:r>
              <a:rPr sz="1600" dirty="0">
                <a:latin typeface="Pretendard"/>
                <a:ea typeface="Pretendard"/>
                <a:cs typeface="Pretendard"/>
              </a:rPr>
              <a:t> radian 값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토크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활성화와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초기</a:t>
            </a:r>
            <a:r>
              <a:rPr sz="1600" dirty="0">
                <a:latin typeface="Pretendard"/>
                <a:ea typeface="Pretendard"/>
                <a:cs typeface="Pretendard"/>
              </a:rPr>
              <a:t> Target </a:t>
            </a:r>
            <a:r>
              <a:rPr sz="1600" dirty="0" err="1">
                <a:latin typeface="Pretendard"/>
                <a:ea typeface="Pretendard"/>
                <a:cs typeface="Pretendard"/>
              </a:rPr>
              <a:t>준비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확인</a:t>
            </a:r>
            <a:endParaRPr sz="1600" dirty="0">
              <a:latin typeface="Pretendard"/>
              <a:ea typeface="Pretendard"/>
              <a:cs typeface="Pretendard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dirty="0">
                <a:latin typeface="Pretendard"/>
                <a:ea typeface="Pretendard"/>
                <a:cs typeface="Pretendard"/>
              </a:rPr>
              <a:t>• </a:t>
            </a:r>
            <a:r>
              <a:rPr sz="1600" dirty="0" err="1">
                <a:latin typeface="Pretendard"/>
                <a:ea typeface="Pretendard"/>
                <a:cs typeface="Pretendard"/>
              </a:rPr>
              <a:t>하나라도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실패하면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전체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메시지</a:t>
            </a:r>
            <a:r>
              <a:rPr sz="1600" dirty="0">
                <a:latin typeface="Pretendard"/>
                <a:ea typeface="Pretendard"/>
                <a:cs typeface="Pretendard"/>
              </a:rPr>
              <a:t> </a:t>
            </a:r>
            <a:r>
              <a:rPr sz="1600" dirty="0" err="1">
                <a:latin typeface="Pretendard"/>
                <a:ea typeface="Pretendard"/>
                <a:cs typeface="Pretendard"/>
              </a:rPr>
              <a:t>거부</a:t>
            </a:r>
            <a:endParaRPr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dirty="0" err="1">
                <a:latin typeface="Pretendard"/>
                <a:ea typeface="Pretendard"/>
                <a:cs typeface="Pretendard"/>
              </a:rPr>
              <a:t>모든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안전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조건을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통과한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메시지만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최종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목표를</a:t>
            </a:r>
            <a:r>
              <a:rPr sz="2000" dirty="0">
                <a:latin typeface="Pretendard"/>
                <a:ea typeface="Pretendard"/>
                <a:cs typeface="Pretendard"/>
              </a:rPr>
              <a:t> </a:t>
            </a:r>
            <a:r>
              <a:rPr sz="2000" dirty="0" err="1">
                <a:latin typeface="Pretendard"/>
                <a:ea typeface="Pretendard"/>
                <a:cs typeface="Pretendard"/>
              </a:rPr>
              <a:t>변경</a:t>
            </a:r>
            <a:endParaRPr sz="2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A9DAFD24-9FF2-B37D-490A-FA142F1800DC}"/>
              </a:ext>
            </a:extLst>
          </p:cNvPr>
          <p:cNvSpPr>
            <a:spLocks noGrp="1"/>
          </p:cNvSpPr>
          <p:nvPr/>
        </p:nvSpPr>
        <p:spPr>
          <a:xfrm>
            <a:off x="393698" y="4203859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shoulder_pan    −1.920 ~ 1.920 rad    · 0.35 rad/s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shoulder_lift      −1.745 ~ 1.745 rad    · 0.35 rad/s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elbow_flex          −1.690 ~ 1.690 rad    · 0.35 rad/s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wrist_flex           −1.658 ~ 1.658 rad    · 0.45 rad/s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wrist_roll           −2.744 ~ 2.841 rad    · 0.55 rad/s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gripper               −0.175 ~ 1.745 rad    · 0.60 rad/s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32239016-E954-F25F-093E-FD9056A1A7C8}"/>
              </a:ext>
            </a:extLst>
          </p:cNvPr>
          <p:cNvSpPr>
            <a:spLocks noGrp="1"/>
          </p:cNvSpPr>
          <p:nvPr/>
        </p:nvSpPr>
        <p:spPr>
          <a:xfrm>
            <a:off x="393698" y="3761179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/>
              <a:t>Joints.yaml</a:t>
            </a:r>
            <a:endParaRPr sz="200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CCF91274-D221-1BB4-3BF9-836E3AD31EBE}" type="slidenum">
              <a:rPr>
                <a:latin typeface="Pretendard"/>
                <a:ea typeface="Pretendard"/>
                <a:cs typeface="Pretendard"/>
              </a:rPr>
              <a:t>18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부분 관절 명령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231330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JointState name과 position의 같은 순서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단일 Joint 또는 여러 Joint 목표 전송 가능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수신 Joint만 기존 Target Vector에 반영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명령하지 않은 Joint는 이전 Target 유지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알려지지 않은 Joint Name은 전체 명령 거부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명시한 관절만 갱신하고 나머지는 이전 목표를 유지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844E025A-983C-6D44-79C6-4612AACD43FC}" type="slidenum">
              <a:rPr>
                <a:latin typeface="Pretendard"/>
                <a:ea typeface="Pretendard"/>
                <a:cs typeface="Pretendard"/>
              </a:rPr>
              <a:t>19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속도 제한 이동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dt = 1 / control_hz로 한 주기 시간 계산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max_step = max_vel_rad_s × dt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목표가 가까우면 최종 목표값 사용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명령 변화가 없으면 불필요한 Serial 쓰기 생략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30 Hz 주기마다 허용 각도만 목표 방향으로 이동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Target − Commanded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오차 계산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최대 이동량만 반영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다음 명령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write_positions 실행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Servo 전송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0BB18BA8-60F4-C50D-CD9B-1BB87D3E8506}" type="slidenum">
              <a:rPr>
                <a:latin typeface="Pretendard"/>
                <a:ea typeface="Pretendard"/>
                <a:cs typeface="Pretendard"/>
              </a:rPr>
              <a:t>20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자세 유지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1970" y="193487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모든 Joint가 목표에 도달하면 이동 상태 종료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마지막 Target과 Commanded 값 계속 보관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10 Hz Heartbeat로 마지막 목표 재전송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• Torque OFF 또는 종료 시 자세 유지 해제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871672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 b="1">
                <a:latin typeface="Pretendard"/>
                <a:ea typeface="Pretendard"/>
                <a:cs typeface="Pretendard"/>
              </a:rPr>
              <a:t>목표 도달 후 마지막 목표를 반복 전송해 자세 유지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Measured가 Target에 수렴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목표 도달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Servo 내부 위치제어·Heartbeat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Position Holding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latin typeface="Pretendard"/>
                <a:ea typeface="Pretendard"/>
                <a:cs typeface="Pretendard"/>
              </a:rPr>
              <a:t>Bool false·종료 finally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안전 해제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672731C3-3B3D-DFCA-5B87-6A9824F94DC9}"/>
              </a:ext>
            </a:extLst>
          </p:cNvPr>
          <p:cNvSpPr>
            <a:spLocks noGrp="1"/>
          </p:cNvSpPr>
          <p:nvPr/>
        </p:nvSpPr>
        <p:spPr>
          <a:xfrm>
            <a:off x="6405842" y="4542881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75D7694-EF39-E4BA-A934-D6C495CCF4BC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4356975-E5D7-C04B-9BA6-EEC211598B5E}"/>
              </a:ext>
            </a:extLst>
          </p:cNvPr>
          <p:cNvSpPr>
            <a:spLocks noGrp="1"/>
          </p:cNvSpPr>
          <p:nvPr/>
        </p:nvSpPr>
        <p:spPr>
          <a:xfrm>
            <a:off x="6405843" y="1518509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A4E99CEF-AF55-BA3C-ADF8-4E52E186DD8F}" type="slidenum">
              <a:rPr>
                <a:latin typeface="Pretendard"/>
                <a:ea typeface="Pretendard"/>
                <a:cs typeface="Pretendard"/>
              </a:rPr>
              <a:t>21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420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실제 관절 제어와 자세 유지 검증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4A59AF09-D197-0193-A7DE-FAAF0B691058}" type="slidenum">
              <a:rPr>
                <a:latin typeface="Pretendard"/>
                <a:ea typeface="Pretendard"/>
                <a:cs typeface="Pretendard"/>
              </a:rPr>
              <a:t>22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실습 · Joint control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제공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File·joints.yaml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배치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상세 명령과 TODO: student/practice.md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Package 구성과 네 가지 구현 항목 완성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Package·Config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/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joint_states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생성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Publisher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목표·토크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Topic과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Callback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연결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 dirty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Subscriber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범위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조건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완성·실행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파일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2개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확인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Soft Limit·Build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fld id="{5AB55966-FA28-BC73-EA9E-53DF014DF033}" type="slidenum">
              <a:rPr>
                <a:latin typeface="Pretendard"/>
                <a:ea typeface="Pretendard"/>
                <a:cs typeface="Pretendard"/>
              </a:rPr>
              <a:t>23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buNone/>
              <a:defRPr>
                <a:latin typeface="Pretendard"/>
                <a:ea typeface="Pretendard"/>
                <a:cs typeface="Pretendard"/>
              </a:defRPr>
            </a:pPr>
            <a:r>
              <a:rPr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5주차 조교 검사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joint_controller·joint_plotter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등록</a:t>
            </a:r>
            <a:endParaRPr sz="1600" b="0" i="0" u="none" cap="none" spc="0" dirty="0">
              <a:ln>
                <a:noFill/>
              </a:ln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>
                <a:latin typeface="Pretendard"/>
                <a:ea typeface="Pretendard"/>
                <a:cs typeface="Pretendard"/>
              </a:rPr>
              <a:t>실행 결과를 조교에게 직접 확인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Pretendard"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2000">
                <a:latin typeface="Pretendard"/>
                <a:ea typeface="Pretendard"/>
                <a:cs typeface="Pretendard"/>
              </a:rPr>
              <a:t>제어·안전·결과가 모두 확인되면 실습 완료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Package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6개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관절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Current·Target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Graph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목표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추종·Position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Holding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제어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Limit </a:t>
            </a:r>
            <a:r>
              <a:rPr sz="1600" b="0" i="0" u="none" cap="none" spc="0" dirty="0" err="1">
                <a:ln>
                  <a:noFill/>
                </a:ln>
                <a:latin typeface="Pretendard"/>
                <a:ea typeface="Pretendard"/>
                <a:cs typeface="Pretendard"/>
              </a:rPr>
              <a:t>거부·Torque</a:t>
            </a:r>
            <a:r>
              <a:rPr sz="1600" b="0" i="0" u="none" cap="none" spc="0" dirty="0">
                <a:ln>
                  <a:noFill/>
                </a:ln>
                <a:latin typeface="Pretendard"/>
                <a:ea typeface="Pretendard"/>
                <a:cs typeface="Pretendard"/>
              </a:rPr>
              <a:t> OFF·CSV·PNG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>
                <a:latin typeface="Pretendard"/>
                <a:ea typeface="Pretendard"/>
                <a:cs typeface="Pretendard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Pretendard"/>
                <a:ea typeface="Pretendard"/>
                <a:cs typeface="Pretendard"/>
              </a:rPr>
              <a:t>안전·결과</a:t>
            </a:r>
          </a:p>
        </p:txBody>
      </p:sp>
      <p:sp>
        <p:nvSpPr>
          <p:cNvPr id="3" name="Rounded Rectangle 9">
            <a:extLst>
              <a:ext uri="{FF2B5EF4-FFF2-40B4-BE49-F238E27FC236}">
                <a16:creationId xmlns:a16="http://schemas.microsoft.com/office/drawing/2014/main" id="{50060C77-52B1-F6FC-B1A4-C961670FE2AD}"/>
              </a:ext>
            </a:extLst>
          </p:cNvPr>
          <p:cNvSpPr>
            <a:spLocks noGrp="1"/>
          </p:cNvSpPr>
          <p:nvPr/>
        </p:nvSpPr>
        <p:spPr>
          <a:xfrm>
            <a:off x="499316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1159D27A-1461-523D-7DD5-673A60B66AD8}"/>
              </a:ext>
            </a:extLst>
          </p:cNvPr>
          <p:cNvSpPr>
            <a:spLocks noGrp="1"/>
          </p:cNvSpPr>
          <p:nvPr/>
        </p:nvSpPr>
        <p:spPr>
          <a:xfrm>
            <a:off x="6298499" y="2553962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" name="Rounded Rectangle 9">
            <a:extLst>
              <a:ext uri="{FF2B5EF4-FFF2-40B4-BE49-F238E27FC236}">
                <a16:creationId xmlns:a16="http://schemas.microsoft.com/office/drawing/2014/main" id="{8D6E1CF7-05C7-0A24-2B00-908E4780C230}"/>
              </a:ext>
            </a:extLst>
          </p:cNvPr>
          <p:cNvSpPr>
            <a:spLocks noGrp="1"/>
          </p:cNvSpPr>
          <p:nvPr/>
        </p:nvSpPr>
        <p:spPr>
          <a:xfrm>
            <a:off x="499316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E8DB49BA-56EA-3432-AE06-A384DAAD1E28}"/>
              </a:ext>
            </a:extLst>
          </p:cNvPr>
          <p:cNvSpPr>
            <a:spLocks noGrp="1"/>
          </p:cNvSpPr>
          <p:nvPr/>
        </p:nvSpPr>
        <p:spPr>
          <a:xfrm>
            <a:off x="6298499" y="4298613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latin typeface="Pretendard"/>
                <a:ea typeface="Pretendard"/>
                <a:cs typeface="Pretendard"/>
              </a:defRPr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1150</Words>
  <Application>Microsoft Office PowerPoint</Application>
  <DocSecurity>0</DocSecurity>
  <PresentationFormat>와이드스크린</PresentationFormat>
  <Paragraphs>212</Paragraphs>
  <Slides>23</Slides>
  <Notes>23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Pretendard SemiBold</vt:lpstr>
      <vt:lpstr>Pretendard</vt:lpstr>
      <vt:lpstr>Default Codex Theme</vt:lpstr>
      <vt:lpstr>5주차 — 로봇 기초·관절 위치제어</vt:lpstr>
      <vt:lpstr>PowerPoint 프레젠테이션</vt:lpstr>
      <vt:lpstr>이론</vt:lpstr>
      <vt:lpstr>로봇 매니퓰레이터</vt:lpstr>
      <vt:lpstr>Link</vt:lpstr>
      <vt:lpstr>Joint 종류·변수</vt:lpstr>
      <vt:lpstr>자유도</vt:lpstr>
      <vt:lpstr>Base·End-Effector</vt:lpstr>
      <vt:lpstr>좌표계·Pose</vt:lpstr>
      <vt:lpstr>Kinematics, 기구학</vt:lpstr>
      <vt:lpstr>순기구학 (Forward Kinematics)</vt:lpstr>
      <vt:lpstr>기구학 체인</vt:lpstr>
      <vt:lpstr>관절 공간 제어</vt:lpstr>
      <vt:lpstr>목표값·명령값·측정값</vt:lpstr>
      <vt:lpstr>전체 관절 제어 흐름</vt:lpstr>
      <vt:lpstr>토크 활성화 흐름</vt:lpstr>
      <vt:lpstr>목표각 검증</vt:lpstr>
      <vt:lpstr>부분 관절 명령</vt:lpstr>
      <vt:lpstr>속도 제한 이동</vt:lpstr>
      <vt:lpstr>자세 유지</vt:lpstr>
      <vt:lpstr>실습</vt:lpstr>
      <vt:lpstr>실습 · Joint control</vt:lpstr>
      <vt:lpstr>5주차 조교 검사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김성민</cp:lastModifiedBy>
  <cp:revision>4</cp:revision>
  <dcterms:created xsi:type="dcterms:W3CDTF">2026-09-04T01:18:04Z</dcterms:created>
  <dcterms:modified xsi:type="dcterms:W3CDTF">2026-09-23T06:36:38Z</dcterms:modified>
</cp:coreProperties>
</file>