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88" r:id="rId5"/>
    <p:sldId id="260" r:id="rId6"/>
    <p:sldId id="259" r:id="rId7"/>
    <p:sldId id="276" r:id="rId8"/>
    <p:sldId id="261" r:id="rId9"/>
    <p:sldId id="263" r:id="rId10"/>
    <p:sldId id="267" r:id="rId11"/>
    <p:sldId id="268" r:id="rId12"/>
    <p:sldId id="269" r:id="rId13"/>
    <p:sldId id="270" r:id="rId14"/>
    <p:sldId id="289" r:id="rId15"/>
    <p:sldId id="271" r:id="rId16"/>
    <p:sldId id="299" r:id="rId17"/>
    <p:sldId id="300" r:id="rId18"/>
    <p:sldId id="301" r:id="rId19"/>
    <p:sldId id="272" r:id="rId20"/>
    <p:sldId id="273" r:id="rId21"/>
    <p:sldId id="274" r:id="rId22"/>
    <p:sldId id="287" r:id="rId23"/>
    <p:sldId id="264" r:id="rId24"/>
    <p:sldId id="294" r:id="rId25"/>
    <p:sldId id="292" r:id="rId26"/>
    <p:sldId id="293" r:id="rId27"/>
    <p:sldId id="265" r:id="rId28"/>
    <p:sldId id="296" r:id="rId29"/>
    <p:sldId id="290" r:id="rId30"/>
    <p:sldId id="298" r:id="rId31"/>
    <p:sldId id="280" r:id="rId32"/>
    <p:sldId id="282" r:id="rId33"/>
    <p:sldId id="283" r:id="rId34"/>
    <p:sldId id="284" r:id="rId35"/>
    <p:sldId id="285" r:id="rId36"/>
    <p:sldId id="286" r:id="rId37"/>
  </p:sldIdLst>
  <p:sldSz cx="12192000" cy="6858000"/>
  <p:notesSz cx="6858000" cy="9144000"/>
  <p:embeddedFontLst>
    <p:embeddedFont>
      <p:font typeface="Pretendard" panose="02000503000000020004" pitchFamily="50" charset="-127"/>
      <p:regular r:id="rId39"/>
      <p:bold r:id="rId40"/>
    </p:embeddedFont>
    <p:embeddedFont>
      <p:font typeface="Pretendard SemiBold" panose="02000703000000020004" pitchFamily="50" charset="-127"/>
      <p:bold r:id="rId41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목차" id="{BF683A9A-BC7B-46FE-9D9D-399BE865D24C}">
          <p14:sldIdLst>
            <p14:sldId id="256"/>
            <p14:sldId id="257"/>
            <p14:sldId id="258"/>
          </p14:sldIdLst>
        </p14:section>
        <p14:section name="분산 ROS" id="{2250DC2A-A772-4B97-BDB1-636B2612C4BF}">
          <p14:sldIdLst>
            <p14:sldId id="288"/>
            <p14:sldId id="260"/>
            <p14:sldId id="259"/>
            <p14:sldId id="276"/>
            <p14:sldId id="261"/>
            <p14:sldId id="263"/>
            <p14:sldId id="267"/>
            <p14:sldId id="268"/>
            <p14:sldId id="269"/>
            <p14:sldId id="270"/>
          </p14:sldIdLst>
        </p14:section>
        <p14:section name="QOS" id="{18A752C8-38B8-4B05-B8A8-F626BBA28A1A}">
          <p14:sldIdLst>
            <p14:sldId id="289"/>
            <p14:sldId id="271"/>
            <p14:sldId id="299"/>
            <p14:sldId id="300"/>
            <p14:sldId id="301"/>
            <p14:sldId id="272"/>
            <p14:sldId id="273"/>
            <p14:sldId id="274"/>
          </p14:sldIdLst>
        </p14:section>
        <p14:section name="PC-Jetson 연결" id="{7E5CFCFB-8956-47CA-A1F9-43324D6E90B1}">
          <p14:sldIdLst>
            <p14:sldId id="287"/>
            <p14:sldId id="264"/>
            <p14:sldId id="294"/>
            <p14:sldId id="292"/>
            <p14:sldId id="293"/>
            <p14:sldId id="265"/>
            <p14:sldId id="296"/>
          </p14:sldIdLst>
        </p14:section>
        <p14:section name="기타" id="{A1B93F24-5EB9-4F17-9E47-C71593D54E78}">
          <p14:sldIdLst>
            <p14:sldId id="290"/>
            <p14:sldId id="298"/>
            <p14:sldId id="280"/>
          </p14:sldIdLst>
        </p14:section>
        <p14:section name="실습" id="{A95FC413-038B-4EB0-9ACD-A3DBDB75FFB6}">
          <p14:sldIdLst>
            <p14:sldId id="282"/>
            <p14:sldId id="283"/>
            <p14:sldId id="284"/>
            <p14:sldId id="285"/>
            <p14:sldId id="28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67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20" autoAdjust="0"/>
    <p:restoredTop sz="85630" autoAdjust="0"/>
  </p:normalViewPr>
  <p:slideViewPr>
    <p:cSldViewPr snapToGrid="0">
      <p:cViewPr varScale="1">
        <p:scale>
          <a:sx n="136" d="100"/>
          <a:sy n="136" d="100"/>
        </p:scale>
        <p:origin x="156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2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91094-2423-ECA3-E6B1-7C79CF7C8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A63001-4DED-9A48-0487-DE635108A2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057314-5E35-BFEF-9DF6-A39576C4D7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62A871-9D69-92FF-277E-7B7E67B312B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422070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C7B59-EAD9-7336-DC3C-70E954690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929240-D8F6-2EC4-A3A2-83A64B1C95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EE0162-7CF1-D5AB-A16C-E49127B368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BB346B-5E39-5805-631B-18A76EC047E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414685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D0AEA-3B7B-03EE-2842-85E0E1B2D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CF4D51-CC38-689E-3C4F-E29E2BCF61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89C6EF-BEF8-DD7C-363F-7E1747EA7C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48C727-A93E-88D2-6B35-E109D0C9C69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446004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8A296-251A-21B8-2F35-E0A7BC493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E65999-DCB6-1DC6-9FFC-F547F20D09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AAD6CB-DC9A-EB53-F956-3A0299B0CB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ED3796-54E3-C1A0-43BD-3172802A89B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795137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E7D05-6C4B-4104-94C5-672271F59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24C034-A100-FC36-8AEE-043483B78C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1922B9-D09A-4C5E-9581-ED1E75E001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46DC9A-565C-2550-AD7E-1B426E1A55F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550095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5955F-BBEC-3D0E-5A11-74ED177EA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C6AC70-C79C-DEA2-6202-629384753D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9F86DF-EEDC-00F3-E5EE-27DAC3C8B5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9DF664-7572-7B7B-2B56-BE1874D0AFC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116583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18050-1462-674A-B1BA-D29E0A552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6A3FA9-6192-34B0-89DD-1532A60E09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D820CC-2E2A-B3CE-4EFC-C11A6085AF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41330F-6227-4538-6028-9F074C06781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3235628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281EE-922C-CB07-DEDF-75A787FC4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BE606B-474C-8823-C1A0-3354CE3C51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16C4A3-D9A1-6CA0-49CB-6DE3257DCD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187042-F4EF-C009-1D93-9CB60C4633E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6959545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2D948-4063-5ABA-166D-82355581E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65809E-10BE-1610-B311-EE699F019A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587306-AB46-B12A-2A31-E4D3066E99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EAA768-B3C3-EC9D-9711-E5840B087F5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6249643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700" y="1041400"/>
            <a:ext cx="7493000" cy="2491490"/>
          </a:xfrm>
        </p:spPr>
        <p:txBody>
          <a:bodyPr anchor="b"/>
          <a:lstStyle>
            <a:lvl1pPr algn="l">
              <a:buNone/>
              <a:defRPr sz="6000" b="1" i="0">
                <a:latin typeface="Pretendard"/>
                <a:ea typeface="Pretendard"/>
                <a:cs typeface="Pretendard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700" y="4356100"/>
            <a:ext cx="5537200" cy="163830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699" y="6279294"/>
            <a:ext cx="8129411" cy="241898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endParaRPr sz="110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1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55372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294"/>
            <a:ext cx="8705144" cy="241898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endParaRPr sz="110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1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56618" y="2032000"/>
            <a:ext cx="55372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35687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294"/>
            <a:ext cx="7493000" cy="241898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endParaRPr sz="110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1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318000" y="2032000"/>
            <a:ext cx="35687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232273" y="2032000"/>
            <a:ext cx="35687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4826000"/>
            <a:ext cx="2595934" cy="1168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699" y="6279294"/>
            <a:ext cx="8466647" cy="241898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endParaRPr sz="110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1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3334966" y="4826000"/>
            <a:ext cx="2595934" cy="1168400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64413" y="4826000"/>
            <a:ext cx="2595934" cy="1168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9205679" y="4826000"/>
            <a:ext cx="2595934" cy="1168400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>
              <a:buNone/>
            </a:pPr>
            <a:r>
              <a:t>Click to edit Master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699" y="6279294"/>
            <a:ext cx="7361767" cy="241898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endParaRPr sz="110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1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294"/>
            <a:ext cx="7587544" cy="241898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endParaRPr sz="110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1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fld id="{8574A810-7A8E-054F-9F6B-09E9C694ECF9}" type="slidenum">
              <a:t>‹#›</a:t>
            </a:fld>
            <a:endParaRPr sz="11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6393D1-1567-D34A-BE27-349709A0C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E2B713-FEB1-54CB-7FC5-0462B4076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E45BAE-B87E-09EF-64B3-16D4F51BE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1C2D0-7787-42D7-BE7E-0E712B3CCBF2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44C6E4-F713-BC3E-B954-FA2A23781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31A3F6-D295-28B4-535A-F721DBBFC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F5604-FB47-45E0-9FE9-146F139D77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4429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294"/>
            <a:ext cx="7531100" cy="241898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endParaRPr sz="11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1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fld id="{8574A810-7A8E-054F-9F6B-09E9C694ECF9}" type="slidenum">
              <a:t>‹#›</a:t>
            </a:fld>
            <a:endParaRPr sz="11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dt="0"/>
  <p:txStyles>
    <p:titleStyle>
      <a:lvl1pPr algn="l" defTabSz="914400">
        <a:lnSpc>
          <a:spcPct val="90000"/>
        </a:lnSpc>
        <a:spcBef>
          <a:spcPct val="0"/>
        </a:spcBef>
        <a:buNone/>
        <a:defRPr sz="2900" b="1" i="0" kern="1200">
          <a:solidFill>
            <a:schemeClr val="tx1"/>
          </a:solidFill>
          <a:latin typeface="Pretendard"/>
          <a:ea typeface="Pretendard"/>
          <a:cs typeface="Pretendard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Pretendard"/>
        <a:buChar char="•"/>
        <a:defRPr sz="2400" kern="1200">
          <a:solidFill>
            <a:schemeClr val="tx1"/>
          </a:solidFill>
          <a:latin typeface="Pretendard"/>
          <a:ea typeface="Pretendard"/>
          <a:cs typeface="Pretendard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Pretendard"/>
        <a:buChar char="•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Pretendard"/>
        <a:buChar char="•"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Pretendard"/>
        <a:buChar char="•"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Pretendard"/>
        <a:buChar char="•"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Pretendard"/>
        <a:buChar char="•"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Pretendard"/>
        <a:buChar char="•"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Pretendard"/>
        <a:buChar char="•"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Pretendard"/>
        <a:buChar char="•"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1pPr>
      <a:lvl2pPr marL="457200" algn="l" defTabSz="914400">
        <a:buNone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2pPr>
      <a:lvl3pPr marL="914400" algn="l" defTabSz="914400">
        <a:buNone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3pPr>
      <a:lvl4pPr marL="1371600" algn="l" defTabSz="914400">
        <a:buNone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4pPr>
      <a:lvl5pPr marL="1828800" algn="l" defTabSz="914400">
        <a:buNone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5pPr>
      <a:lvl6pPr marL="2286000" algn="l" defTabSz="914400">
        <a:buNone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6pPr>
      <a:lvl7pPr marL="2743200" algn="l" defTabSz="914400">
        <a:buNone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7pPr>
      <a:lvl8pPr marL="3200400" algn="l" defTabSz="914400">
        <a:buNone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8pPr>
      <a:lvl9pPr marL="3657600" algn="l" defTabSz="914400">
        <a:buNone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248" userDrawn="1">
          <p15:clr>
            <a:srgbClr val="F26B43"/>
          </p15:clr>
        </p15:guide>
        <p15:guide id="4" pos="1264" userDrawn="1">
          <p15:clr>
            <a:srgbClr val="F26B43"/>
          </p15:clr>
        </p15:guide>
        <p15:guide id="5" pos="1480" userDrawn="1">
          <p15:clr>
            <a:srgbClr val="F26B43"/>
          </p15:clr>
        </p15:guide>
        <p15:guide id="6" pos="2520" userDrawn="1">
          <p15:clr>
            <a:srgbClr val="F26B43"/>
          </p15:clr>
        </p15:guide>
        <p15:guide id="7" pos="2712" userDrawn="1">
          <p15:clr>
            <a:srgbClr val="F26B43"/>
          </p15:clr>
        </p15:guide>
        <p15:guide id="8" pos="3736" userDrawn="1">
          <p15:clr>
            <a:srgbClr val="F26B43"/>
          </p15:clr>
        </p15:guide>
        <p15:guide id="9" pos="3944" userDrawn="1">
          <p15:clr>
            <a:srgbClr val="F26B43"/>
          </p15:clr>
        </p15:guide>
        <p15:guide id="10" pos="4968" userDrawn="1">
          <p15:clr>
            <a:srgbClr val="F26B43"/>
          </p15:clr>
        </p15:guide>
        <p15:guide id="11" pos="5184" userDrawn="1">
          <p15:clr>
            <a:srgbClr val="F26B43"/>
          </p15:clr>
        </p15:guide>
        <p15:guide id="12" pos="6200" userDrawn="1">
          <p15:clr>
            <a:srgbClr val="F26B43"/>
          </p15:clr>
        </p15:guide>
        <p15:guide id="13" pos="6416" userDrawn="1">
          <p15:clr>
            <a:srgbClr val="F26B43"/>
          </p15:clr>
        </p15:guide>
        <p15:guide id="14" pos="7432" userDrawn="1">
          <p15:clr>
            <a:srgbClr val="F26B43"/>
          </p15:clr>
        </p15:guide>
        <p15:guide id="15" orient="horz" userDrawn="1">
          <p15:clr>
            <a:srgbClr val="F26B43"/>
          </p15:clr>
        </p15:guide>
        <p15:guide id="17" orient="horz" pos="248" userDrawn="1">
          <p15:clr>
            <a:srgbClr val="F26B43"/>
          </p15:clr>
        </p15:guide>
        <p15:guide id="18" orient="horz" pos="656" userDrawn="1">
          <p15:clr>
            <a:srgbClr val="F26B43"/>
          </p15:clr>
        </p15:guide>
        <p15:guide id="19" orient="horz" pos="872" userDrawn="1">
          <p15:clr>
            <a:srgbClr val="F26B43"/>
          </p15:clr>
        </p15:guide>
        <p15:guide id="20" orient="horz" pos="1280" userDrawn="1">
          <p15:clr>
            <a:srgbClr val="F26B43"/>
          </p15:clr>
        </p15:guide>
        <p15:guide id="21" orient="horz" pos="1496" userDrawn="1">
          <p15:clr>
            <a:srgbClr val="F26B43"/>
          </p15:clr>
        </p15:guide>
        <p15:guide id="22" orient="horz" pos="1904" userDrawn="1">
          <p15:clr>
            <a:srgbClr val="F26B43"/>
          </p15:clr>
        </p15:guide>
        <p15:guide id="23" orient="horz" pos="2120" userDrawn="1">
          <p15:clr>
            <a:srgbClr val="F26B43"/>
          </p15:clr>
        </p15:guide>
        <p15:guide id="24" orient="horz" pos="2528" userDrawn="1">
          <p15:clr>
            <a:srgbClr val="F26B43"/>
          </p15:clr>
        </p15:guide>
        <p15:guide id="25" orient="horz" pos="2744" userDrawn="1">
          <p15:clr>
            <a:srgbClr val="F26B43"/>
          </p15:clr>
        </p15:guide>
        <p15:guide id="26" orient="horz" pos="3152" userDrawn="1">
          <p15:clr>
            <a:srgbClr val="F26B43"/>
          </p15:clr>
        </p15:guide>
        <p15:guide id="27" orient="horz" pos="3368" userDrawn="1">
          <p15:clr>
            <a:srgbClr val="F26B43"/>
          </p15:clr>
        </p15:guide>
        <p15:guide id="28" orient="horz" pos="3776" userDrawn="1">
          <p15:clr>
            <a:srgbClr val="F26B43"/>
          </p15:clr>
        </p15:guide>
        <p15:guide id="29" orient="horz" pos="40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06809B0-D483-45C1-B580-B57BB5CC52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9968" y="1444887"/>
            <a:ext cx="10764781" cy="949063"/>
          </a:xfrm>
        </p:spPr>
        <p:txBody>
          <a:bodyPr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5500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4주차 — PC·Jetson 분산 통신</a:t>
            </a: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C66AB198-0518-67DE-AB81-D65264FDA20F}"/>
              </a:ext>
            </a:extLst>
          </p:cNvPr>
          <p:cNvSpPr>
            <a:spLocks noGrp="1"/>
          </p:cNvSpPr>
          <p:nvPr/>
        </p:nvSpPr>
        <p:spPr>
          <a:xfrm>
            <a:off x="603018" y="4606175"/>
            <a:ext cx="6304556" cy="320279"/>
          </a:xfrm>
          <a:prstGeom prst="rect">
            <a:avLst/>
          </a:prstGeom>
          <a:noFill/>
        </p:spPr>
        <p:txBody>
          <a:bodyPr vert="horz" lIns="0" tIns="0" rIns="0" bIns="0">
            <a:no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Pretendard"/>
              <a:buNone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b="1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DDS·Discovery·QoS 실습</a:t>
            </a:r>
          </a:p>
        </p:txBody>
      </p:sp>
      <p:sp>
        <p:nvSpPr>
          <p:cNvPr id="10" name="Subtitle 4">
            <a:extLst>
              <a:ext uri="{FF2B5EF4-FFF2-40B4-BE49-F238E27FC236}">
                <a16:creationId xmlns:a16="http://schemas.microsoft.com/office/drawing/2014/main" id="{CC2E0538-5645-7BC8-CF3A-FDF31FD97820}"/>
              </a:ext>
            </a:extLst>
          </p:cNvPr>
          <p:cNvSpPr>
            <a:spLocks noGrp="1"/>
          </p:cNvSpPr>
          <p:nvPr/>
        </p:nvSpPr>
        <p:spPr>
          <a:xfrm>
            <a:off x="603018" y="555606"/>
            <a:ext cx="3578411" cy="345178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Pretendard"/>
              <a:buNone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800">
                <a:solidFill>
                  <a:schemeClr val="accent2">
                    <a:lumMod val="90000"/>
                  </a:schemeClr>
                </a:solidFill>
                <a:latin typeface="Pretendard"/>
                <a:ea typeface="Pretendard"/>
                <a:cs typeface="Pretendard"/>
              </a:rPr>
              <a:t>임베디드 시스템 설계 및 실습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729CEB81-A958-4CDA-8FDD-4761767D45EB}"/>
              </a:ext>
            </a:extLst>
          </p:cNvPr>
          <p:cNvSpPr>
            <a:spLocks noGrp="1"/>
          </p:cNvSpPr>
          <p:nvPr/>
        </p:nvSpPr>
        <p:spPr>
          <a:xfrm>
            <a:off x="-183260" y="3934067"/>
            <a:ext cx="125585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11" name="Page Number">
            <a:extLst>
              <a:ext uri="{FF2B5EF4-FFF2-40B4-BE49-F238E27FC236}">
                <a16:creationId xmlns:a16="http://schemas.microsoft.com/office/drawing/2014/main" id="{B9255052-E5A2-4B5F-A124-684829B84FC4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/>
          <a:lstStyle/>
          <a:p>
            <a:pPr algn="r">
              <a:buNone/>
              <a:defRPr sz="11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10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850885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108432E-6CC9-7470-65A5-7F6A330EFB4F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fld id="{E2598689-54C9-18A7-3A19-ED76AA08988F}" type="slidenum">
              <a:rPr>
                <a:latin typeface="Pretendard"/>
                <a:ea typeface="Pretendard"/>
                <a:cs typeface="Pretendard"/>
              </a:rPr>
              <a:t>2</a:t>
            </a:fld>
            <a:endParaRPr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73F7058-30A0-0125-1A90-B808A012B5B4}"/>
              </a:ext>
            </a:extLst>
          </p:cNvPr>
          <p:cNvSpPr>
            <a:spLocks noGrp="1"/>
          </p:cNvSpPr>
          <p:nvPr/>
        </p:nvSpPr>
        <p:spPr>
          <a:xfrm>
            <a:off x="393699" y="392242"/>
            <a:ext cx="3578411" cy="345178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Pretendard"/>
              <a:buNone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800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목차</a:t>
            </a:r>
          </a:p>
        </p:txBody>
      </p:sp>
      <p:graphicFrame>
        <p:nvGraphicFramePr>
          <p:cNvPr id="10" name="Table 6"/>
          <p:cNvGraphicFramePr/>
          <p:nvPr>
            <p:extLst>
              <p:ext uri="{D42A27DB-BD31-4B8C-83A1-F6EECF244321}">
                <p14:modId xmlns:p14="http://schemas.microsoft.com/office/powerpoint/2010/main" val="4084943840"/>
              </p:ext>
            </p:extLst>
          </p:nvPr>
        </p:nvGraphicFramePr>
        <p:xfrm>
          <a:off x="393700" y="902970"/>
          <a:ext cx="114046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75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7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12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 spc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Pretendard"/>
                          <a:ea typeface="Pretendard"/>
                          <a:cs typeface="Pretendard"/>
                        </a:rPr>
                        <a:t>01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Pretendard"/>
                          <a:ea typeface="Pretendard"/>
                          <a:cs typeface="Pretendard"/>
                        </a:rPr>
                        <a:t>분산 ROS 2·DDS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/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 spc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Pretendard"/>
                          <a:ea typeface="Pretendard"/>
                          <a:cs typeface="Pretendard"/>
                        </a:rPr>
                        <a:t>02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 spc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Pretendard"/>
                          <a:ea typeface="Pretendard"/>
                          <a:cs typeface="Pretendard"/>
                        </a:rPr>
                        <a:t>Network·환경</a:t>
                      </a:r>
                      <a:r>
                        <a:rPr sz="2300" b="0" i="0" u="none" cap="none" spc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2300" b="0" i="0" u="none" cap="none" spc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변수</a:t>
                      </a:r>
                      <a:endParaRPr sz="2300" b="0" i="0" u="none" cap="none" spc="0" dirty="0">
                        <a:ln>
                          <a:noFill/>
                        </a:ln>
                        <a:solidFill>
                          <a:prstClr val="black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/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 spc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Pretendard"/>
                          <a:ea typeface="Pretendard"/>
                          <a:cs typeface="Pretendard"/>
                        </a:rPr>
                        <a:t>03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 spc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Pretendard"/>
                          <a:ea typeface="Pretendard"/>
                          <a:cs typeface="Pretendard"/>
                        </a:rPr>
                        <a:t>QoS·호환성</a:t>
                      </a:r>
                      <a:endParaRPr sz="2300" b="0" i="0" u="none" cap="none" spc="0" dirty="0">
                        <a:ln>
                          <a:noFill/>
                        </a:ln>
                        <a:solidFill>
                          <a:prstClr val="black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/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 spc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Pretendard"/>
                          <a:ea typeface="Pretendard"/>
                          <a:cs typeface="Pretendard"/>
                        </a:rPr>
                        <a:t>04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 spc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Pretendard"/>
                          <a:ea typeface="Pretendard"/>
                          <a:cs typeface="Pretendard"/>
                        </a:rPr>
                        <a:t>PC·Jetson</a:t>
                      </a:r>
                      <a:r>
                        <a:rPr sz="2300" b="0" i="0" u="none" cap="none" spc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lang="ko-KR" altLang="en-US" sz="2300" b="0" i="0" u="none" cap="none" spc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Pretendard"/>
                          <a:ea typeface="Pretendard"/>
                          <a:cs typeface="Pretendard"/>
                        </a:rPr>
                        <a:t>통신</a:t>
                      </a:r>
                      <a:endParaRPr sz="2300" b="0" i="0" u="none" cap="none" spc="0" dirty="0">
                        <a:ln>
                          <a:noFill/>
                        </a:ln>
                        <a:solidFill>
                          <a:prstClr val="black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/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 spc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Pretendard"/>
                          <a:ea typeface="Pretendard"/>
                          <a:cs typeface="Pretendard"/>
                        </a:rPr>
                        <a:t>05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 spc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진단·복구</a:t>
                      </a:r>
                      <a:endParaRPr sz="2300" b="0" i="0" u="none" cap="none" spc="0" dirty="0">
                        <a:ln>
                          <a:noFill/>
                        </a:ln>
                        <a:solidFill>
                          <a:prstClr val="black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/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 spc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Pretendard"/>
                          <a:ea typeface="Pretendard"/>
                          <a:cs typeface="Pretendard"/>
                        </a:rPr>
                        <a:t>06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실습 1·2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dirty="0"/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0133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F5D028D-B73B-5BFF-0AA5-65F94FB570F9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fld id="{202359C0-8A7A-196E-DD58-8E6569619F09}" type="slidenum">
              <a:rPr>
                <a:latin typeface="Pretendard"/>
                <a:ea typeface="Pretendard"/>
                <a:cs typeface="Pretendard"/>
              </a:rPr>
              <a:t>3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D035ED81-B82C-6CFE-FAA7-0911E05CD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1170935"/>
            <a:ext cx="11404600" cy="1797958"/>
          </a:xfrm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4200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이론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6730FFED-E57C-67CB-4BAA-568126831AB5}"/>
              </a:ext>
            </a:extLst>
          </p:cNvPr>
          <p:cNvSpPr>
            <a:spLocks noGrp="1"/>
          </p:cNvSpPr>
          <p:nvPr/>
        </p:nvSpPr>
        <p:spPr>
          <a:xfrm>
            <a:off x="2549677" y="3297710"/>
            <a:ext cx="7092645" cy="1865909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PC와 Jetson이 하나의 ROS 2 통신망으로 동작하는 조건 이해</a:t>
            </a:r>
            <a:endParaRPr sz="1600">
              <a:latin typeface="Pretendard SemiBold"/>
              <a:ea typeface="Pretendard SemiBold"/>
              <a:cs typeface="Pretendard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46614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9C875-C3AD-545B-ACC7-700EB93A2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F626FB79-AC66-E793-70E5-33388D70E2A1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fld id="{202359C0-8A7A-196E-DD58-8E6569619F09}" type="slidenum">
              <a:rPr>
                <a:latin typeface="Pretendard"/>
                <a:ea typeface="Pretendard"/>
                <a:cs typeface="Pretendard"/>
              </a:rPr>
              <a:t>4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2FE9D25F-4A7F-7F48-DCE5-6FF4D7CDF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1170935"/>
            <a:ext cx="11404600" cy="1797958"/>
          </a:xfrm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lang="ko-KR" altLang="en-US" sz="4200" dirty="0">
                <a:solidFill>
                  <a:schemeClr val="accent1"/>
                </a:solidFill>
              </a:rPr>
              <a:t>분산 </a:t>
            </a:r>
            <a:r>
              <a:rPr lang="en-US" altLang="ko-KR" sz="4200" dirty="0">
                <a:solidFill>
                  <a:schemeClr val="accent1"/>
                </a:solidFill>
              </a:rPr>
              <a:t>ROS</a:t>
            </a:r>
            <a:endParaRPr sz="4200" dirty="0">
              <a:solidFill>
                <a:schemeClr val="accent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906B4928-DC28-D730-6002-C8B57D1F63BE}"/>
              </a:ext>
            </a:extLst>
          </p:cNvPr>
          <p:cNvSpPr>
            <a:spLocks noGrp="1"/>
          </p:cNvSpPr>
          <p:nvPr/>
        </p:nvSpPr>
        <p:spPr>
          <a:xfrm>
            <a:off x="2549677" y="3297710"/>
            <a:ext cx="7092645" cy="1865909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lang="ko-KR" altLang="en-US" sz="1600" dirty="0"/>
              <a:t>여러 </a:t>
            </a:r>
            <a:r>
              <a:rPr lang="en-US" altLang="ko-KR" sz="1600" dirty="0"/>
              <a:t>PC</a:t>
            </a:r>
            <a:r>
              <a:rPr lang="ko-KR" altLang="en-US" sz="1600" dirty="0"/>
              <a:t>가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하나의</a:t>
            </a:r>
            <a:r>
              <a:rPr sz="1600" dirty="0">
                <a:latin typeface="Pretendard"/>
                <a:ea typeface="Pretendard"/>
                <a:cs typeface="Pretendard"/>
              </a:rPr>
              <a:t> ROS 2 </a:t>
            </a:r>
            <a:r>
              <a:rPr sz="1600" dirty="0" err="1">
                <a:latin typeface="Pretendard"/>
                <a:ea typeface="Pretendard"/>
                <a:cs typeface="Pretendard"/>
              </a:rPr>
              <a:t>통신망으로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동작하는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조건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이해</a:t>
            </a:r>
            <a:endParaRPr sz="1600" dirty="0">
              <a:latin typeface="Pretendard SemiBold"/>
              <a:ea typeface="Pretendard SemiBold"/>
              <a:cs typeface="Pretendard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418656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AD38C25-48AC-5A29-D53A-82080FAF926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fld id="{EE5B3003-2C54-13C6-9832-7637201064DE}" type="slidenum">
              <a:rPr>
                <a:latin typeface="Pretendard"/>
                <a:ea typeface="Pretendard"/>
                <a:cs typeface="Pretendard"/>
              </a:rPr>
              <a:t>5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33E8FE18-95DE-C7EA-9E95-10B821893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분산 ROS 2</a:t>
            </a:r>
          </a:p>
        </p:txBody>
      </p:sp>
      <p:sp>
        <p:nvSpPr>
          <p:cNvPr id="12" name="Google Shape;534;p58">
            <a:extLst>
              <a:ext uri="{FF2B5EF4-FFF2-40B4-BE49-F238E27FC236}">
                <a16:creationId xmlns:a16="http://schemas.microsoft.com/office/drawing/2014/main" id="{F393FB38-1005-6250-1642-93C1A76E0B77}"/>
              </a:ext>
            </a:extLst>
          </p:cNvPr>
          <p:cNvSpPr>
            <a:spLocks noGrp="1"/>
          </p:cNvSpPr>
          <p:nvPr/>
        </p:nvSpPr>
        <p:spPr>
          <a:xfrm>
            <a:off x="393700" y="1649094"/>
            <a:ext cx="11404600" cy="23133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Topic·Service 프로그램 구조 유지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IP Network를 통한 Endpoint 발견·데이터 교환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장비마다 별도 Process와 ROS 환경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Network·Domain·QoS가 새로운 통신 조건</a:t>
            </a:r>
          </a:p>
        </p:txBody>
      </p:sp>
      <p:sp>
        <p:nvSpPr>
          <p:cNvPr id="13" name="Google Shape;534;p58">
            <a:extLst>
              <a:ext uri="{FF2B5EF4-FFF2-40B4-BE49-F238E27FC236}">
                <a16:creationId xmlns:a16="http://schemas.microsoft.com/office/drawing/2014/main" id="{A0F4C075-109A-7DDE-18C9-18F128552C24}"/>
              </a:ext>
            </a:extLst>
          </p:cNvPr>
          <p:cNvSpPr>
            <a:spLocks noGrp="1"/>
          </p:cNvSpPr>
          <p:nvPr/>
        </p:nvSpPr>
        <p:spPr>
          <a:xfrm>
            <a:off x="393699" y="1146566"/>
            <a:ext cx="11404599" cy="402442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>
                <a:latin typeface="Pretendard"/>
                <a:ea typeface="Pretendard"/>
                <a:cs typeface="Pretendard"/>
              </a:rPr>
              <a:t>여러 장비의 Node가 하나의 ROS Graph에 참여하는 구성</a:t>
            </a:r>
          </a:p>
        </p:txBody>
      </p:sp>
    </p:spTree>
    <p:extLst>
      <p:ext uri="{BB962C8B-B14F-4D97-AF65-F5344CB8AC3E}">
        <p14:creationId xmlns:p14="http://schemas.microsoft.com/office/powerpoint/2010/main" val="2179535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208474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b="1">
                <a:latin typeface="Pretendard"/>
                <a:ea typeface="Pretendard"/>
                <a:cs typeface="Pretendard"/>
              </a:rPr>
              <a:t>3주차 — 한 장비</a:t>
            </a:r>
            <a:endParaRPr sz="2000" b="1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endParaRPr sz="140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Node가 같은 실행 환경에 위치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/joint_states Topic 사용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/get_joint_state Service 사용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이름·타입 일치로 통신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fld id="{EFD6AB9A-5F9E-5F59-51AB-3C8734130965}" type="slidenum">
              <a:rPr>
                <a:latin typeface="Pretendard"/>
                <a:ea typeface="Pretendard"/>
                <a:cs typeface="Pretendard"/>
              </a:rPr>
              <a:t>6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55026"/>
            <a:ext cx="7835900" cy="1029274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3주차 통신 확장</a:t>
            </a:r>
          </a:p>
        </p:txBody>
      </p:sp>
      <p:sp>
        <p:nvSpPr>
          <p:cNvPr id="2" name="Google Shape;534;p58">
            <a:extLst>
              <a:ext uri="{FF2B5EF4-FFF2-40B4-BE49-F238E27FC236}">
                <a16:creationId xmlns:a16="http://schemas.microsoft.com/office/drawing/2014/main" id="{A4A94F3C-B1B2-7289-7098-7C66C8A291D6}"/>
              </a:ext>
            </a:extLst>
          </p:cNvPr>
          <p:cNvSpPr>
            <a:spLocks noGrp="1"/>
          </p:cNvSpPr>
          <p:nvPr/>
        </p:nvSpPr>
        <p:spPr>
          <a:xfrm>
            <a:off x="5560261" y="208474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b="1">
                <a:latin typeface="Pretendard"/>
                <a:ea typeface="Pretendard"/>
                <a:cs typeface="Pretendard"/>
              </a:rPr>
              <a:t>4주차 — 두 장비</a:t>
            </a:r>
            <a:endParaRPr sz="2000" b="1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endParaRPr sz="140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Jetson: Publisher·Server</a:t>
            </a:r>
            <a:endParaRPr sz="140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WSL: Listener·Client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동일 Interface 유지</a:t>
            </a:r>
            <a:endParaRPr sz="140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Network·DDS 설정 추가</a:t>
            </a:r>
            <a:endParaRPr sz="1400"/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FD46BF2A-8122-2E0A-E8CC-886653CF64DA}"/>
              </a:ext>
            </a:extLst>
          </p:cNvPr>
          <p:cNvSpPr>
            <a:spLocks noGrp="1"/>
          </p:cNvSpPr>
          <p:nvPr/>
        </p:nvSpPr>
        <p:spPr>
          <a:xfrm>
            <a:off x="393700" y="1310936"/>
            <a:ext cx="5537200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>
                <a:latin typeface="Pretendard"/>
                <a:ea typeface="Pretendard"/>
                <a:cs typeface="Pretendard"/>
              </a:rPr>
              <a:t>같은 Topic·Service 규칙을 장비 간 Network로 확장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208474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b="1">
                <a:latin typeface="Pretendard"/>
                <a:ea typeface="Pretendard"/>
                <a:cs typeface="Pretendard"/>
              </a:rPr>
              <a:t>Jetson — 로봇 구동 단</a:t>
            </a:r>
            <a:endParaRPr sz="2000" b="1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endParaRPr sz="140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Serial Device 소유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JointState 반복 발행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최신 Topic 저장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Trigger Service 응답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jetson_bringup 실행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fld id="{F6DF2BE2-2DFA-1C03-677D-BDC2260D6D92}" type="slidenum">
              <a:rPr>
                <a:latin typeface="Pretendard"/>
                <a:ea typeface="Pretendard"/>
                <a:cs typeface="Pretendard"/>
              </a:rPr>
              <a:t>7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55026"/>
            <a:ext cx="7835900" cy="1029274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Jetson·WSL 역할</a:t>
            </a:r>
          </a:p>
        </p:txBody>
      </p:sp>
      <p:sp>
        <p:nvSpPr>
          <p:cNvPr id="2" name="Google Shape;534;p58">
            <a:extLst>
              <a:ext uri="{FF2B5EF4-FFF2-40B4-BE49-F238E27FC236}">
                <a16:creationId xmlns:a16="http://schemas.microsoft.com/office/drawing/2014/main" id="{A4A94F3C-B1B2-7289-7098-7C66C8A291D6}"/>
              </a:ext>
            </a:extLst>
          </p:cNvPr>
          <p:cNvSpPr>
            <a:spLocks noGrp="1"/>
          </p:cNvSpPr>
          <p:nvPr/>
        </p:nvSpPr>
        <p:spPr>
          <a:xfrm>
            <a:off x="5560261" y="208474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b="1">
                <a:latin typeface="Pretendard"/>
                <a:ea typeface="Pretendard"/>
                <a:cs typeface="Pretendard"/>
              </a:rPr>
              <a:t>PC·WSL2 — 원격 단</a:t>
            </a:r>
            <a:endParaRPr sz="2000" b="1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endParaRPr sz="140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/joint_states Monitor</a:t>
            </a:r>
            <a:endParaRPr sz="140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rad·deg 변환 출력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Python Client 1회 호출</a:t>
            </a:r>
            <a:endParaRPr sz="140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ROS 2 CLI 진단</a:t>
            </a:r>
            <a:endParaRPr sz="140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pc_topic_monitor 실행</a:t>
            </a:r>
            <a:endParaRPr sz="1400"/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FD46BF2A-8122-2E0A-E8CC-886653CF64DA}"/>
              </a:ext>
            </a:extLst>
          </p:cNvPr>
          <p:cNvSpPr>
            <a:spLocks noGrp="1"/>
          </p:cNvSpPr>
          <p:nvPr/>
        </p:nvSpPr>
        <p:spPr>
          <a:xfrm>
            <a:off x="393700" y="1310936"/>
            <a:ext cx="5537200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>
                <a:latin typeface="Pretendard"/>
                <a:ea typeface="Pretendard"/>
                <a:cs typeface="Pretendard"/>
              </a:rPr>
              <a:t>같은 Package를 양쪽에 배치하고 실행 Node만 구분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AD38C25-48AC-5A29-D53A-82080FAF926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fld id="{8C630A04-5A25-9E0C-9436-126091DB86B3}" type="slidenum">
              <a:rPr>
                <a:latin typeface="Pretendard"/>
                <a:ea typeface="Pretendard"/>
                <a:cs typeface="Pretendard"/>
              </a:rPr>
              <a:t>8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33E8FE18-95DE-C7EA-9E95-10B821893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DDS의 역할</a:t>
            </a:r>
          </a:p>
        </p:txBody>
      </p:sp>
      <p:sp>
        <p:nvSpPr>
          <p:cNvPr id="12" name="Google Shape;534;p58">
            <a:extLst>
              <a:ext uri="{FF2B5EF4-FFF2-40B4-BE49-F238E27FC236}">
                <a16:creationId xmlns:a16="http://schemas.microsoft.com/office/drawing/2014/main" id="{F393FB38-1005-6250-1642-93C1A76E0B77}"/>
              </a:ext>
            </a:extLst>
          </p:cNvPr>
          <p:cNvSpPr>
            <a:spLocks noGrp="1"/>
          </p:cNvSpPr>
          <p:nvPr/>
        </p:nvSpPr>
        <p:spPr>
          <a:xfrm>
            <a:off x="393700" y="1649094"/>
            <a:ext cx="11404600" cy="23133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</a:t>
            </a:r>
            <a:r>
              <a:rPr sz="1600" dirty="0" err="1">
                <a:latin typeface="Pretendard"/>
                <a:ea typeface="Pretendard"/>
                <a:cs typeface="Pretendard"/>
              </a:rPr>
              <a:t>중앙</a:t>
            </a:r>
            <a:r>
              <a:rPr sz="1600" dirty="0">
                <a:latin typeface="Pretendard"/>
                <a:ea typeface="Pretendard"/>
                <a:cs typeface="Pretendard"/>
              </a:rPr>
              <a:t> Master </a:t>
            </a:r>
            <a:r>
              <a:rPr sz="1600" dirty="0" err="1">
                <a:latin typeface="Pretendard"/>
                <a:ea typeface="Pretendard"/>
                <a:cs typeface="Pretendard"/>
              </a:rPr>
              <a:t>없이</a:t>
            </a:r>
            <a:r>
              <a:rPr sz="1600" dirty="0">
                <a:latin typeface="Pretendard"/>
                <a:ea typeface="Pretendard"/>
                <a:cs typeface="Pretendard"/>
              </a:rPr>
              <a:t> Node 간 </a:t>
            </a:r>
            <a:r>
              <a:rPr sz="1600" dirty="0" err="1">
                <a:latin typeface="Pretendard"/>
                <a:ea typeface="Pretendard"/>
                <a:cs typeface="Pretendard"/>
              </a:rPr>
              <a:t>직접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연결</a:t>
            </a:r>
            <a:endParaRPr sz="16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</a:t>
            </a:r>
            <a:r>
              <a:rPr sz="1600" dirty="0" err="1">
                <a:latin typeface="Pretendard"/>
                <a:ea typeface="Pretendard"/>
                <a:cs typeface="Pretendard"/>
              </a:rPr>
              <a:t>Participant와</a:t>
            </a:r>
            <a:r>
              <a:rPr sz="1600" dirty="0">
                <a:latin typeface="Pretendard"/>
                <a:ea typeface="Pretendard"/>
                <a:cs typeface="Pretendard"/>
              </a:rPr>
              <a:t> Endpoint </a:t>
            </a:r>
            <a:r>
              <a:rPr sz="1600" dirty="0" err="1">
                <a:latin typeface="Pretendard"/>
                <a:ea typeface="Pretendard"/>
                <a:cs typeface="Pretendard"/>
              </a:rPr>
              <a:t>정보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교환</a:t>
            </a:r>
            <a:endParaRPr sz="16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</a:t>
            </a:r>
            <a:r>
              <a:rPr sz="1600" dirty="0" err="1">
                <a:latin typeface="Pretendard"/>
                <a:ea typeface="Pretendard"/>
                <a:cs typeface="Pretendard"/>
              </a:rPr>
              <a:t>Discovery로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통신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상대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자동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탐색</a:t>
            </a:r>
            <a:endParaRPr sz="16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</a:t>
            </a:r>
            <a:r>
              <a:rPr sz="1600" dirty="0" err="1">
                <a:latin typeface="Pretendard"/>
                <a:ea typeface="Pretendard"/>
                <a:cs typeface="Pretendard"/>
              </a:rPr>
              <a:t>실습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환경에서</a:t>
            </a:r>
            <a:r>
              <a:rPr sz="1600" dirty="0">
                <a:latin typeface="Pretendard"/>
                <a:ea typeface="Pretendard"/>
                <a:cs typeface="Pretendard"/>
              </a:rPr>
              <a:t> UDP </a:t>
            </a:r>
            <a:r>
              <a:rPr sz="1600" dirty="0" err="1">
                <a:latin typeface="Pretendard"/>
                <a:ea typeface="Pretendard"/>
                <a:cs typeface="Pretendard"/>
              </a:rPr>
              <a:t>기반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데이터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전달</a:t>
            </a:r>
            <a:endParaRPr sz="16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</a:t>
            </a:r>
            <a:r>
              <a:rPr sz="1600" dirty="0" err="1">
                <a:latin typeface="Pretendard"/>
                <a:ea typeface="Pretendard"/>
                <a:cs typeface="Pretendard"/>
              </a:rPr>
              <a:t>애플케이션의</a:t>
            </a:r>
            <a:r>
              <a:rPr sz="1600" dirty="0">
                <a:latin typeface="Pretendard"/>
                <a:ea typeface="Pretendard"/>
                <a:cs typeface="Pretendard"/>
              </a:rPr>
              <a:t> DDS </a:t>
            </a:r>
            <a:r>
              <a:rPr sz="1600" dirty="0" err="1">
                <a:latin typeface="Pretendard"/>
                <a:ea typeface="Pretendard"/>
                <a:cs typeface="Pretendard"/>
              </a:rPr>
              <a:t>직접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호출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불필요</a:t>
            </a:r>
            <a:endParaRPr sz="1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Google Shape;534;p58">
            <a:extLst>
              <a:ext uri="{FF2B5EF4-FFF2-40B4-BE49-F238E27FC236}">
                <a16:creationId xmlns:a16="http://schemas.microsoft.com/office/drawing/2014/main" id="{A0F4C075-109A-7DDE-18C9-18F128552C24}"/>
              </a:ext>
            </a:extLst>
          </p:cNvPr>
          <p:cNvSpPr>
            <a:spLocks noGrp="1"/>
          </p:cNvSpPr>
          <p:nvPr/>
        </p:nvSpPr>
        <p:spPr>
          <a:xfrm>
            <a:off x="393699" y="1146566"/>
            <a:ext cx="11404599" cy="402442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dirty="0">
                <a:latin typeface="Pretendard"/>
                <a:ea typeface="Pretendard"/>
                <a:cs typeface="Pretendard"/>
              </a:rPr>
              <a:t>ROS 2 </a:t>
            </a:r>
            <a:r>
              <a:rPr sz="2000" dirty="0" err="1">
                <a:latin typeface="Pretendard"/>
                <a:ea typeface="Pretendard"/>
                <a:cs typeface="Pretendard"/>
              </a:rPr>
              <a:t>통신을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실제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Network로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전달하는</a:t>
            </a:r>
            <a:r>
              <a:rPr sz="2000" dirty="0">
                <a:latin typeface="Pretendard"/>
                <a:ea typeface="Pretendard"/>
                <a:cs typeface="Pretendard"/>
              </a:rPr>
              <a:t> Middleware</a:t>
            </a:r>
          </a:p>
        </p:txBody>
      </p:sp>
    </p:spTree>
    <p:extLst>
      <p:ext uri="{BB962C8B-B14F-4D97-AF65-F5344CB8AC3E}">
        <p14:creationId xmlns:p14="http://schemas.microsoft.com/office/powerpoint/2010/main" val="21795353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D6AD4425-62A5-20FE-DA81-DB0262F8E9D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fld id="{BA58DA2A-B818-18A9-29C1-B697728D5BCE}" type="slidenum">
              <a:rPr>
                <a:latin typeface="Pretendard"/>
                <a:ea typeface="Pretendard"/>
                <a:cs typeface="Pretendard"/>
              </a:rPr>
              <a:t>9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CCB3C549-3412-D9EC-FC96-8C0EA25A4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분산 통신 확인 단계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076E58D8-94E3-59EF-6F5D-94479531D945}"/>
              </a:ext>
            </a:extLst>
          </p:cNvPr>
          <p:cNvSpPr>
            <a:spLocks noGrp="1"/>
          </p:cNvSpPr>
          <p:nvPr/>
        </p:nvSpPr>
        <p:spPr>
          <a:xfrm>
            <a:off x="391970" y="1934870"/>
            <a:ext cx="5537200" cy="3619499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앞 </a:t>
            </a:r>
            <a:r>
              <a:rPr sz="1600" dirty="0" err="1">
                <a:latin typeface="Pretendard"/>
                <a:ea typeface="Pretendard"/>
                <a:cs typeface="Pretendard"/>
              </a:rPr>
              <a:t>단계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실패</a:t>
            </a:r>
            <a:r>
              <a:rPr sz="1600" dirty="0">
                <a:latin typeface="Pretendard"/>
                <a:ea typeface="Pretendard"/>
                <a:cs typeface="Pretendard"/>
              </a:rPr>
              <a:t> 시 </a:t>
            </a:r>
            <a:r>
              <a:rPr sz="1600" dirty="0" err="1">
                <a:latin typeface="Pretendard"/>
                <a:ea typeface="Pretendard"/>
                <a:cs typeface="Pretendard"/>
              </a:rPr>
              <a:t>다음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단계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성립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불가</a:t>
            </a:r>
            <a:endParaRPr sz="16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Ping </a:t>
            </a:r>
            <a:r>
              <a:rPr sz="1600" dirty="0" err="1">
                <a:latin typeface="Pretendard"/>
                <a:ea typeface="Pretendard"/>
                <a:cs typeface="Pretendard"/>
              </a:rPr>
              <a:t>성공은</a:t>
            </a:r>
            <a:r>
              <a:rPr sz="1600" dirty="0">
                <a:latin typeface="Pretendard"/>
                <a:ea typeface="Pretendard"/>
                <a:cs typeface="Pretendard"/>
              </a:rPr>
              <a:t> DDS </a:t>
            </a:r>
            <a:r>
              <a:rPr sz="1600" dirty="0" err="1">
                <a:latin typeface="Pretendard"/>
                <a:ea typeface="Pretendard"/>
                <a:cs typeface="Pretendard"/>
              </a:rPr>
              <a:t>연결의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필요조건</a:t>
            </a:r>
            <a:endParaRPr sz="16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ROS Graph </a:t>
            </a:r>
            <a:r>
              <a:rPr sz="1600" dirty="0" err="1">
                <a:latin typeface="Pretendard"/>
                <a:ea typeface="Pretendard"/>
                <a:cs typeface="Pretendard"/>
              </a:rPr>
              <a:t>확인</a:t>
            </a:r>
            <a:r>
              <a:rPr sz="1600" dirty="0">
                <a:latin typeface="Pretendard"/>
                <a:ea typeface="Pretendard"/>
                <a:cs typeface="Pretendard"/>
              </a:rPr>
              <a:t> 후 </a:t>
            </a:r>
            <a:r>
              <a:rPr sz="1600" dirty="0" err="1">
                <a:latin typeface="Pretendard"/>
                <a:ea typeface="Pretendard"/>
                <a:cs typeface="Pretendard"/>
              </a:rPr>
              <a:t>데이터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수신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점검</a:t>
            </a:r>
            <a:endParaRPr sz="16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</a:t>
            </a:r>
            <a:r>
              <a:rPr sz="1600" dirty="0" err="1">
                <a:latin typeface="Pretendard"/>
                <a:ea typeface="Pretendard"/>
                <a:cs typeface="Pretendard"/>
              </a:rPr>
              <a:t>장애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분석도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같은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순서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사용</a:t>
            </a:r>
            <a:endParaRPr lang="en-US" sz="16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endParaRPr lang="en-US" sz="1600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endParaRPr lang="en-US" sz="16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endParaRPr lang="en-US" sz="1600" dirty="0"/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>
                <a:latin typeface="Pretendard"/>
                <a:ea typeface="Pretendard"/>
                <a:cs typeface="Pretendard"/>
              </a:defRPr>
            </a:pPr>
            <a:r>
              <a:rPr lang="en-US" sz="1600" dirty="0"/>
              <a:t>PC(WSL 2)-Jetson </a:t>
            </a:r>
            <a:r>
              <a:rPr lang="ko-KR" altLang="en-US" sz="1600" dirty="0"/>
              <a:t>연결 방식은 추후 설명</a:t>
            </a:r>
            <a:endParaRPr sz="1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Google Shape;534;p58">
            <a:extLst>
              <a:ext uri="{FF2B5EF4-FFF2-40B4-BE49-F238E27FC236}">
                <a16:creationId xmlns:a16="http://schemas.microsoft.com/office/drawing/2014/main" id="{EC39CC4A-7702-F34C-BFC1-C34643FFFDEE}"/>
              </a:ext>
            </a:extLst>
          </p:cNvPr>
          <p:cNvSpPr>
            <a:spLocks noGrp="1"/>
          </p:cNvSpPr>
          <p:nvPr/>
        </p:nvSpPr>
        <p:spPr>
          <a:xfrm>
            <a:off x="393700" y="1436666"/>
            <a:ext cx="5871672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>
                <a:latin typeface="Pretendard"/>
                <a:ea typeface="Pretendard"/>
                <a:cs typeface="Pretendard"/>
              </a:rPr>
              <a:t>IP 연결부터 Endpoint 호환성까지 순서대로 확인</a:t>
            </a:r>
          </a:p>
        </p:txBody>
      </p:sp>
      <p:sp>
        <p:nvSpPr>
          <p:cNvPr id="27" name="Content Placeholder 10">
            <a:extLst>
              <a:ext uri="{FF2B5EF4-FFF2-40B4-BE49-F238E27FC236}">
                <a16:creationId xmlns:a16="http://schemas.microsoft.com/office/drawing/2014/main" id="{B4FA777D-1E43-2118-018B-D684DB7EFEF1}"/>
              </a:ext>
            </a:extLst>
          </p:cNvPr>
          <p:cNvSpPr>
            <a:spLocks noGrp="1"/>
          </p:cNvSpPr>
          <p:nvPr/>
        </p:nvSpPr>
        <p:spPr>
          <a:xfrm>
            <a:off x="6648104" y="2184252"/>
            <a:ext cx="501476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b="0" i="0" u="none" cap="none" spc="0" dirty="0">
                <a:ln>
                  <a:noFill/>
                </a:ln>
                <a:latin typeface="Pretendard"/>
                <a:ea typeface="Pretendard"/>
                <a:cs typeface="Pretendard"/>
              </a:rPr>
              <a:t>Ping </a:t>
            </a:r>
            <a:r>
              <a:rPr sz="1400" b="0" i="0" u="none" cap="none" spc="0" dirty="0" err="1">
                <a:ln>
                  <a:noFill/>
                </a:ln>
                <a:latin typeface="Pretendard"/>
                <a:ea typeface="Pretendard"/>
                <a:cs typeface="Pretendard"/>
              </a:rPr>
              <a:t>성공</a:t>
            </a:r>
            <a:endParaRPr sz="1400" b="0" i="0" u="none" cap="none" spc="0" dirty="0">
              <a:ln>
                <a:noFill/>
              </a:ln>
              <a:latin typeface="Pretendard"/>
              <a:ea typeface="Pretendard"/>
              <a:cs typeface="Pretendard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2F01BD9-1359-C69B-3F1A-A36534227FFE}"/>
              </a:ext>
            </a:extLst>
          </p:cNvPr>
          <p:cNvSpPr>
            <a:spLocks noGrp="1"/>
          </p:cNvSpPr>
          <p:nvPr/>
        </p:nvSpPr>
        <p:spPr>
          <a:xfrm>
            <a:off x="6644793" y="1813255"/>
            <a:ext cx="5014766" cy="2432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b="0" i="0" u="none" cap="none" spc="0" dirty="0">
                <a:ln>
                  <a:noFill/>
                </a:ln>
                <a:solidFill>
                  <a:srgbClr val="3357B8"/>
                </a:solidFill>
                <a:latin typeface="Pretendard"/>
                <a:ea typeface="Pretendard"/>
                <a:cs typeface="Pretendard"/>
              </a:rPr>
              <a:t>1·IP </a:t>
            </a:r>
            <a:r>
              <a:rPr sz="1400" b="0" i="0" u="none" cap="none" spc="0" dirty="0" err="1">
                <a:ln>
                  <a:noFill/>
                </a:ln>
                <a:solidFill>
                  <a:srgbClr val="3357B8"/>
                </a:solidFill>
                <a:latin typeface="Pretendard"/>
                <a:ea typeface="Pretendard"/>
                <a:cs typeface="Pretendard"/>
              </a:rPr>
              <a:t>연결</a:t>
            </a:r>
            <a:endParaRPr sz="1400" b="0" i="0" u="none" cap="none" spc="0" dirty="0">
              <a:ln>
                <a:noFill/>
              </a:ln>
              <a:solidFill>
                <a:srgbClr val="3357B8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32674159-B6E6-B9EF-D753-5EF1E687140B}"/>
              </a:ext>
            </a:extLst>
          </p:cNvPr>
          <p:cNvSpPr>
            <a:spLocks noGrp="1"/>
          </p:cNvSpPr>
          <p:nvPr/>
        </p:nvSpPr>
        <p:spPr>
          <a:xfrm>
            <a:off x="6648104" y="3693012"/>
            <a:ext cx="501476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b="0" i="0" u="none" cap="none" spc="0">
                <a:ln>
                  <a:noFill/>
                </a:ln>
                <a:latin typeface="Pretendard"/>
                <a:ea typeface="Pretendard"/>
                <a:cs typeface="Pretendard"/>
              </a:rPr>
              <a:t>Node·Topic·Service 발견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D84212-7716-6AFC-2CCA-1118E41834EC}"/>
              </a:ext>
            </a:extLst>
          </p:cNvPr>
          <p:cNvSpPr>
            <a:spLocks noGrp="1"/>
          </p:cNvSpPr>
          <p:nvPr/>
        </p:nvSpPr>
        <p:spPr>
          <a:xfrm>
            <a:off x="6644793" y="3322015"/>
            <a:ext cx="5014766" cy="2432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b="0" i="0" u="none" cap="none" spc="0">
                <a:ln>
                  <a:noFill/>
                </a:ln>
                <a:solidFill>
                  <a:srgbClr val="3357B8"/>
                </a:solidFill>
                <a:latin typeface="Pretendard"/>
                <a:ea typeface="Pretendard"/>
                <a:cs typeface="Pretendard"/>
              </a:rPr>
              <a:t>2·Discovery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58865802-6967-7210-3371-DEA6828B57A2}"/>
              </a:ext>
            </a:extLst>
          </p:cNvPr>
          <p:cNvSpPr>
            <a:spLocks noGrp="1"/>
          </p:cNvSpPr>
          <p:nvPr/>
        </p:nvSpPr>
        <p:spPr>
          <a:xfrm>
            <a:off x="6648105" y="5201772"/>
            <a:ext cx="501476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b="0" i="0" u="none" cap="none" spc="0">
                <a:ln>
                  <a:noFill/>
                </a:ln>
                <a:latin typeface="Pretendard"/>
                <a:ea typeface="Pretendard"/>
                <a:cs typeface="Pretendard"/>
              </a:rPr>
              <a:t>이름·타입·QoS 일치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2FEB2E-B2D7-376B-AFC1-B25E2E37C15B}"/>
              </a:ext>
            </a:extLst>
          </p:cNvPr>
          <p:cNvSpPr>
            <a:spLocks noGrp="1"/>
          </p:cNvSpPr>
          <p:nvPr/>
        </p:nvSpPr>
        <p:spPr>
          <a:xfrm>
            <a:off x="6644794" y="4830775"/>
            <a:ext cx="5014766" cy="2432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b="0" i="0" u="none" cap="none" spc="0">
                <a:ln>
                  <a:noFill/>
                </a:ln>
                <a:solidFill>
                  <a:srgbClr val="3357B8"/>
                </a:solidFill>
                <a:latin typeface="Pretendard"/>
                <a:ea typeface="Pretendard"/>
                <a:cs typeface="Pretendard"/>
              </a:rPr>
              <a:t>3·Endpoint</a:t>
            </a:r>
          </a:p>
        </p:txBody>
      </p:sp>
      <p:sp>
        <p:nvSpPr>
          <p:cNvPr id="7" name="Rounded Rectangle 1">
            <a:extLst>
              <a:ext uri="{FF2B5EF4-FFF2-40B4-BE49-F238E27FC236}">
                <a16:creationId xmlns:a16="http://schemas.microsoft.com/office/drawing/2014/main" id="{672731C3-3B3D-DFCA-5B87-6A9824F94DC9}"/>
              </a:ext>
            </a:extLst>
          </p:cNvPr>
          <p:cNvSpPr>
            <a:spLocks noGrp="1"/>
          </p:cNvSpPr>
          <p:nvPr/>
        </p:nvSpPr>
        <p:spPr>
          <a:xfrm>
            <a:off x="6405842" y="4542881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1" name="Rounded Rectangle 6">
            <a:extLst>
              <a:ext uri="{FF2B5EF4-FFF2-40B4-BE49-F238E27FC236}">
                <a16:creationId xmlns:a16="http://schemas.microsoft.com/office/drawing/2014/main" id="{975D7694-EF39-E4BA-A934-D6C495CCF4BC}"/>
              </a:ext>
            </a:extLst>
          </p:cNvPr>
          <p:cNvSpPr>
            <a:spLocks noGrp="1"/>
          </p:cNvSpPr>
          <p:nvPr/>
        </p:nvSpPr>
        <p:spPr>
          <a:xfrm>
            <a:off x="6405842" y="3030695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3" name="Rounded Rectangle 9">
            <a:extLst>
              <a:ext uri="{FF2B5EF4-FFF2-40B4-BE49-F238E27FC236}">
                <a16:creationId xmlns:a16="http://schemas.microsoft.com/office/drawing/2014/main" id="{84356975-E5D7-C04B-9BA6-EEC211598B5E}"/>
              </a:ext>
            </a:extLst>
          </p:cNvPr>
          <p:cNvSpPr>
            <a:spLocks noGrp="1"/>
          </p:cNvSpPr>
          <p:nvPr/>
        </p:nvSpPr>
        <p:spPr>
          <a:xfrm>
            <a:off x="6405843" y="1518509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endParaRPr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61403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AD38C25-48AC-5A29-D53A-82080FAF926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fld id="{4DB16885-0D3F-A391-B669-3211DB3B26E8}" type="slidenum">
              <a:rPr>
                <a:latin typeface="Pretendard"/>
                <a:ea typeface="Pretendard"/>
                <a:cs typeface="Pretendard"/>
              </a:rPr>
              <a:t>10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33E8FE18-95DE-C7EA-9E95-10B821893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ROS_DOMAIN_ID</a:t>
            </a:r>
          </a:p>
        </p:txBody>
      </p:sp>
      <p:sp>
        <p:nvSpPr>
          <p:cNvPr id="12" name="Google Shape;534;p58">
            <a:extLst>
              <a:ext uri="{FF2B5EF4-FFF2-40B4-BE49-F238E27FC236}">
                <a16:creationId xmlns:a16="http://schemas.microsoft.com/office/drawing/2014/main" id="{F393FB38-1005-6250-1642-93C1A76E0B77}"/>
              </a:ext>
            </a:extLst>
          </p:cNvPr>
          <p:cNvSpPr>
            <a:spLocks noGrp="1"/>
          </p:cNvSpPr>
          <p:nvPr/>
        </p:nvSpPr>
        <p:spPr>
          <a:xfrm>
            <a:off x="393700" y="1649094"/>
            <a:ext cx="11404600" cy="23133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값 </a:t>
            </a:r>
            <a:r>
              <a:rPr sz="1600" dirty="0" err="1">
                <a:latin typeface="Pretendard"/>
                <a:ea typeface="Pretendard"/>
                <a:cs typeface="Pretendard"/>
              </a:rPr>
              <a:t>범위</a:t>
            </a:r>
            <a:r>
              <a:rPr sz="1600" dirty="0">
                <a:latin typeface="Pretendard"/>
                <a:ea typeface="Pretendard"/>
                <a:cs typeface="Pretendard"/>
              </a:rPr>
              <a:t> 0~232·기본값 0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</a:t>
            </a:r>
            <a:r>
              <a:rPr sz="1600" dirty="0" err="1">
                <a:latin typeface="Pretendard"/>
                <a:ea typeface="Pretendard"/>
                <a:cs typeface="Pretendard"/>
              </a:rPr>
              <a:t>PC와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Jetson의</a:t>
            </a:r>
            <a:r>
              <a:rPr sz="1600" dirty="0">
                <a:latin typeface="Pretendard"/>
                <a:ea typeface="Pretendard"/>
                <a:cs typeface="Pretendard"/>
              </a:rPr>
              <a:t> 값 </a:t>
            </a:r>
            <a:r>
              <a:rPr sz="1600" dirty="0" err="1">
                <a:latin typeface="Pretendard"/>
                <a:ea typeface="Pretendard"/>
                <a:cs typeface="Pretendard"/>
              </a:rPr>
              <a:t>일치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필요</a:t>
            </a:r>
            <a:endParaRPr sz="16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</a:t>
            </a:r>
            <a:r>
              <a:rPr sz="1600" dirty="0" err="1">
                <a:latin typeface="Pretendard"/>
                <a:ea typeface="Pretendard"/>
                <a:cs typeface="Pretendard"/>
              </a:rPr>
              <a:t>실습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그룹</a:t>
            </a:r>
            <a:r>
              <a:rPr sz="1600" dirty="0">
                <a:latin typeface="Pretendard"/>
                <a:ea typeface="Pretendard"/>
                <a:cs typeface="Pretendard"/>
              </a:rPr>
              <a:t>: ROS_DOMAIN_ID=30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</a:t>
            </a:r>
            <a:r>
              <a:rPr sz="1600" dirty="0" err="1">
                <a:latin typeface="Pretendard"/>
                <a:ea typeface="Pretendard"/>
                <a:cs typeface="Pretendard"/>
              </a:rPr>
              <a:t>다른</a:t>
            </a:r>
            <a:r>
              <a:rPr sz="1600" dirty="0">
                <a:latin typeface="Pretendard"/>
                <a:ea typeface="Pretendard"/>
                <a:cs typeface="Pretendard"/>
              </a:rPr>
              <a:t> Domain</a:t>
            </a:r>
            <a:r>
              <a:rPr lang="ko-KR" altLang="en-US" sz="1600" dirty="0"/>
              <a:t>간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Node·Service</a:t>
            </a:r>
            <a:r>
              <a:rPr lang="ko-KR" altLang="en-US" sz="1600" dirty="0"/>
              <a:t> 확인 불가</a:t>
            </a:r>
            <a:endParaRPr sz="1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Google Shape;534;p58">
            <a:extLst>
              <a:ext uri="{FF2B5EF4-FFF2-40B4-BE49-F238E27FC236}">
                <a16:creationId xmlns:a16="http://schemas.microsoft.com/office/drawing/2014/main" id="{A0F4C075-109A-7DDE-18C9-18F128552C24}"/>
              </a:ext>
            </a:extLst>
          </p:cNvPr>
          <p:cNvSpPr>
            <a:spLocks noGrp="1"/>
          </p:cNvSpPr>
          <p:nvPr/>
        </p:nvSpPr>
        <p:spPr>
          <a:xfrm>
            <a:off x="393699" y="1146566"/>
            <a:ext cx="11404599" cy="402442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dirty="0" err="1">
                <a:latin typeface="Pretendard"/>
                <a:ea typeface="Pretendard"/>
                <a:cs typeface="Pretendard"/>
              </a:rPr>
              <a:t>같은</a:t>
            </a:r>
            <a:r>
              <a:rPr sz="2000" dirty="0">
                <a:latin typeface="Pretendard"/>
                <a:ea typeface="Pretendard"/>
                <a:cs typeface="Pretendard"/>
              </a:rPr>
              <a:t> Local Network </a:t>
            </a:r>
            <a:r>
              <a:rPr sz="2000" dirty="0" err="1">
                <a:latin typeface="Pretendard"/>
                <a:ea typeface="Pretendard"/>
                <a:cs typeface="Pretendard"/>
              </a:rPr>
              <a:t>안에서</a:t>
            </a:r>
            <a:r>
              <a:rPr sz="2000" dirty="0">
                <a:latin typeface="Pretendard"/>
                <a:ea typeface="Pretendard"/>
                <a:cs typeface="Pretendard"/>
              </a:rPr>
              <a:t> ROS 2 </a:t>
            </a:r>
            <a:r>
              <a:rPr sz="2000" dirty="0" err="1">
                <a:latin typeface="Pretendard"/>
                <a:ea typeface="Pretendard"/>
                <a:cs typeface="Pretendard"/>
              </a:rPr>
              <a:t>통신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그룹을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분리</a:t>
            </a:r>
            <a:endParaRPr sz="2000" dirty="0">
              <a:latin typeface="Pretendard"/>
              <a:ea typeface="Pretendard"/>
              <a:cs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21795353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208474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b="1">
                <a:latin typeface="Pretendard"/>
                <a:ea typeface="Pretendard"/>
                <a:cs typeface="Pretendard"/>
              </a:rPr>
              <a:t>ROS_LOCALHOST_ONLY=1</a:t>
            </a:r>
            <a:endParaRPr sz="2000" b="1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endParaRPr sz="140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127.0.0.1 내부 통신만 허용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자기 장비 Node만 발견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PC–Jetson 통신 차단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fld id="{2DD23107-4986-8758-3A93-3D74F35908CC}" type="slidenum">
              <a:rPr>
                <a:latin typeface="Pretendard"/>
                <a:ea typeface="Pretendard"/>
                <a:cs typeface="Pretendard"/>
              </a:rPr>
              <a:t>11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55026"/>
            <a:ext cx="7835900" cy="1029274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ROS_LOCALHOST_ONLY</a:t>
            </a:r>
          </a:p>
        </p:txBody>
      </p:sp>
      <p:sp>
        <p:nvSpPr>
          <p:cNvPr id="2" name="Google Shape;534;p58">
            <a:extLst>
              <a:ext uri="{FF2B5EF4-FFF2-40B4-BE49-F238E27FC236}">
                <a16:creationId xmlns:a16="http://schemas.microsoft.com/office/drawing/2014/main" id="{A4A94F3C-B1B2-7289-7098-7C66C8A291D6}"/>
              </a:ext>
            </a:extLst>
          </p:cNvPr>
          <p:cNvSpPr>
            <a:spLocks noGrp="1"/>
          </p:cNvSpPr>
          <p:nvPr/>
        </p:nvSpPr>
        <p:spPr>
          <a:xfrm>
            <a:off x="5560261" y="208474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b="1">
                <a:latin typeface="Pretendard"/>
                <a:ea typeface="Pretendard"/>
                <a:cs typeface="Pretendard"/>
              </a:rPr>
              <a:t>ROS_LOCALHOST_ONLY=0</a:t>
            </a:r>
            <a:endParaRPr sz="2000" b="1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endParaRPr sz="140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Ethernet·Wi-Fi Interface 허용</a:t>
            </a:r>
            <a:endParaRPr sz="140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외부 DDS Participant 탐색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PC·Jetson 양쪽에 설정</a:t>
            </a:r>
            <a:endParaRPr sz="1400"/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FD46BF2A-8122-2E0A-E8CC-886653CF64DA}"/>
              </a:ext>
            </a:extLst>
          </p:cNvPr>
          <p:cNvSpPr>
            <a:spLocks noGrp="1"/>
          </p:cNvSpPr>
          <p:nvPr/>
        </p:nvSpPr>
        <p:spPr>
          <a:xfrm>
            <a:off x="393700" y="1310936"/>
            <a:ext cx="5537200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>
                <a:latin typeface="Pretendard"/>
                <a:ea typeface="Pretendard"/>
                <a:cs typeface="Pretendard"/>
              </a:rPr>
              <a:t>외부 장비와 통신하려면 Loopback 제한 해제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AD38C25-48AC-5A29-D53A-82080FAF926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fld id="{327921A4-25C4-3DB4-06B1-32693CEE2241}" type="slidenum">
              <a:rPr>
                <a:latin typeface="Pretendard"/>
                <a:ea typeface="Pretendard"/>
                <a:cs typeface="Pretendard"/>
              </a:rPr>
              <a:t>12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33E8FE18-95DE-C7EA-9E95-10B821893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RMW_IMPLEMENTATION</a:t>
            </a:r>
          </a:p>
        </p:txBody>
      </p:sp>
      <p:sp>
        <p:nvSpPr>
          <p:cNvPr id="12" name="Google Shape;534;p58">
            <a:extLst>
              <a:ext uri="{FF2B5EF4-FFF2-40B4-BE49-F238E27FC236}">
                <a16:creationId xmlns:a16="http://schemas.microsoft.com/office/drawing/2014/main" id="{F393FB38-1005-6250-1642-93C1A76E0B77}"/>
              </a:ext>
            </a:extLst>
          </p:cNvPr>
          <p:cNvSpPr>
            <a:spLocks noGrp="1"/>
          </p:cNvSpPr>
          <p:nvPr/>
        </p:nvSpPr>
        <p:spPr>
          <a:xfrm>
            <a:off x="393700" y="1649094"/>
            <a:ext cx="11404600" cy="23133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</a:t>
            </a:r>
            <a:r>
              <a:rPr sz="1600" dirty="0" err="1">
                <a:latin typeface="Pretendard"/>
                <a:ea typeface="Pretendard"/>
                <a:cs typeface="Pretendard"/>
              </a:rPr>
              <a:t>rclpy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요청을</a:t>
            </a:r>
            <a:r>
              <a:rPr sz="1600" dirty="0">
                <a:latin typeface="Pretendard"/>
                <a:ea typeface="Pretendard"/>
                <a:cs typeface="Pretendard"/>
              </a:rPr>
              <a:t> DDS </a:t>
            </a:r>
            <a:r>
              <a:rPr sz="1600" dirty="0" err="1">
                <a:latin typeface="Pretendard"/>
                <a:ea typeface="Pretendard"/>
                <a:cs typeface="Pretendard"/>
              </a:rPr>
              <a:t>구현체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동작으로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변환</a:t>
            </a:r>
            <a:endParaRPr sz="16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Fast DDS </a:t>
            </a:r>
            <a:r>
              <a:rPr sz="1600" dirty="0" err="1">
                <a:latin typeface="Pretendard"/>
                <a:ea typeface="Pretendard"/>
                <a:cs typeface="Pretendard"/>
              </a:rPr>
              <a:t>구현</a:t>
            </a:r>
            <a:r>
              <a:rPr sz="1600" dirty="0">
                <a:latin typeface="Pretendard"/>
                <a:ea typeface="Pretendard"/>
                <a:cs typeface="Pretendard"/>
              </a:rPr>
              <a:t>: </a:t>
            </a:r>
            <a:r>
              <a:rPr sz="1600" dirty="0" err="1">
                <a:latin typeface="Pretendard"/>
                <a:ea typeface="Pretendard"/>
                <a:cs typeface="Pretendard"/>
              </a:rPr>
              <a:t>rmw_fastrtps_cpp</a:t>
            </a:r>
            <a:endParaRPr sz="16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</a:t>
            </a:r>
            <a:r>
              <a:rPr sz="1600" dirty="0" err="1">
                <a:latin typeface="Pretendard"/>
                <a:ea typeface="Pretendard"/>
                <a:cs typeface="Pretendard"/>
              </a:rPr>
              <a:t>실습에서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PC·Jetson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모두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같은</a:t>
            </a:r>
            <a:r>
              <a:rPr sz="1600" dirty="0">
                <a:latin typeface="Pretendard"/>
                <a:ea typeface="Pretendard"/>
                <a:cs typeface="Pretendard"/>
              </a:rPr>
              <a:t> 값 </a:t>
            </a:r>
            <a:r>
              <a:rPr sz="1600" dirty="0" err="1">
                <a:latin typeface="Pretendard"/>
                <a:ea typeface="Pretendard"/>
                <a:cs typeface="Pretendard"/>
              </a:rPr>
              <a:t>사용</a:t>
            </a:r>
            <a:endParaRPr sz="16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</a:t>
            </a:r>
            <a:r>
              <a:rPr sz="1600" dirty="0" err="1">
                <a:latin typeface="Pretendard"/>
                <a:ea typeface="Pretendard"/>
                <a:cs typeface="Pretendard"/>
              </a:rPr>
              <a:t>구현체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차이를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장애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변수에서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제외</a:t>
            </a:r>
            <a:endParaRPr sz="16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</a:t>
            </a:r>
            <a:r>
              <a:rPr sz="1600" dirty="0" err="1">
                <a:latin typeface="Pretendard"/>
                <a:ea typeface="Pretendard"/>
                <a:cs typeface="Pretendard"/>
              </a:rPr>
              <a:t>환경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변경</a:t>
            </a:r>
            <a:r>
              <a:rPr sz="1600" dirty="0">
                <a:latin typeface="Pretendard"/>
                <a:ea typeface="Pretendard"/>
                <a:cs typeface="Pretendard"/>
              </a:rPr>
              <a:t> 후 새 </a:t>
            </a:r>
            <a:r>
              <a:rPr sz="1600" dirty="0" err="1">
                <a:latin typeface="Pretendard"/>
                <a:ea typeface="Pretendard"/>
                <a:cs typeface="Pretendard"/>
              </a:rPr>
              <a:t>Process에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적용</a:t>
            </a:r>
            <a:endParaRPr sz="1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Google Shape;534;p58">
            <a:extLst>
              <a:ext uri="{FF2B5EF4-FFF2-40B4-BE49-F238E27FC236}">
                <a16:creationId xmlns:a16="http://schemas.microsoft.com/office/drawing/2014/main" id="{A0F4C075-109A-7DDE-18C9-18F128552C24}"/>
              </a:ext>
            </a:extLst>
          </p:cNvPr>
          <p:cNvSpPr>
            <a:spLocks noGrp="1"/>
          </p:cNvSpPr>
          <p:nvPr/>
        </p:nvSpPr>
        <p:spPr>
          <a:xfrm>
            <a:off x="393699" y="1146566"/>
            <a:ext cx="11404599" cy="402442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>
                <a:latin typeface="Pretendard"/>
                <a:ea typeface="Pretendard"/>
                <a:cs typeface="Pretendard"/>
              </a:rPr>
              <a:t>ROS 2 API와 실제 DDS 구현체를 연결하는 계층</a:t>
            </a:r>
          </a:p>
        </p:txBody>
      </p:sp>
    </p:spTree>
    <p:extLst>
      <p:ext uri="{BB962C8B-B14F-4D97-AF65-F5344CB8AC3E}">
        <p14:creationId xmlns:p14="http://schemas.microsoft.com/office/powerpoint/2010/main" val="21795353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19269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dirty="0">
                <a:latin typeface="Pretendard"/>
                <a:ea typeface="Pretendard"/>
                <a:cs typeface="Pretendard"/>
              </a:rPr>
              <a:t>PC·WSL2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endParaRPr sz="1400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dirty="0">
                <a:latin typeface="Pretendard"/>
                <a:ea typeface="Pretendard"/>
                <a:cs typeface="Pretendard"/>
              </a:rPr>
              <a:t>• source /opt/</a:t>
            </a:r>
            <a:r>
              <a:rPr sz="1400" dirty="0" err="1">
                <a:latin typeface="Pretendard"/>
                <a:ea typeface="Pretendard"/>
                <a:cs typeface="Pretendard"/>
              </a:rPr>
              <a:t>ros</a:t>
            </a:r>
            <a:r>
              <a:rPr sz="1400" dirty="0">
                <a:latin typeface="Pretendard"/>
                <a:ea typeface="Pretendard"/>
                <a:cs typeface="Pretendard"/>
              </a:rPr>
              <a:t>/humble/</a:t>
            </a:r>
            <a:r>
              <a:rPr sz="1400" dirty="0" err="1">
                <a:latin typeface="Pretendard"/>
                <a:ea typeface="Pretendard"/>
                <a:cs typeface="Pretendard"/>
              </a:rPr>
              <a:t>setup.bash</a:t>
            </a:r>
            <a:endParaRPr sz="14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dirty="0">
                <a:latin typeface="Pretendard"/>
                <a:ea typeface="Pretendard"/>
                <a:cs typeface="Pretendard"/>
              </a:rPr>
              <a:t>• source ~/week4/install/</a:t>
            </a:r>
            <a:r>
              <a:rPr sz="1400" dirty="0" err="1">
                <a:latin typeface="Pretendard"/>
                <a:ea typeface="Pretendard"/>
                <a:cs typeface="Pretendard"/>
              </a:rPr>
              <a:t>setup.bash</a:t>
            </a:r>
            <a:endParaRPr sz="14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dirty="0">
                <a:latin typeface="Pretendard"/>
                <a:ea typeface="Pretendard"/>
                <a:cs typeface="Pretendard"/>
              </a:rPr>
              <a:t>• ROS_DOMAIN_ID=30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dirty="0">
                <a:latin typeface="Pretendard"/>
                <a:ea typeface="Pretendard"/>
                <a:cs typeface="Pretendard"/>
              </a:rPr>
              <a:t>• ROS_LOCALHOST_ONLY=0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dirty="0">
                <a:latin typeface="Pretendard"/>
                <a:ea typeface="Pretendard"/>
                <a:cs typeface="Pretendard"/>
              </a:rPr>
              <a:t>• RMW_IMPLEMENTATION=</a:t>
            </a:r>
            <a:r>
              <a:rPr sz="1400" dirty="0" err="1">
                <a:latin typeface="Pretendard"/>
                <a:ea typeface="Pretendard"/>
                <a:cs typeface="Pretendard"/>
              </a:rPr>
              <a:t>rmw_fastrtps_cpp</a:t>
            </a:r>
            <a:endParaRPr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fld id="{EA83FA91-883A-0168-8075-96CEB9DCA3C2}" type="slidenum">
              <a:rPr>
                <a:latin typeface="Pretendard"/>
                <a:ea typeface="Pretendard"/>
                <a:cs typeface="Pretendard"/>
              </a:rPr>
              <a:t>13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55026"/>
            <a:ext cx="7835900" cy="1029274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양쪽 환경 통일</a:t>
            </a:r>
          </a:p>
        </p:txBody>
      </p:sp>
      <p:sp>
        <p:nvSpPr>
          <p:cNvPr id="2" name="Google Shape;534;p58">
            <a:extLst>
              <a:ext uri="{FF2B5EF4-FFF2-40B4-BE49-F238E27FC236}">
                <a16:creationId xmlns:a16="http://schemas.microsoft.com/office/drawing/2014/main" id="{A4A94F3C-B1B2-7289-7098-7C66C8A291D6}"/>
              </a:ext>
            </a:extLst>
          </p:cNvPr>
          <p:cNvSpPr>
            <a:spLocks noGrp="1"/>
          </p:cNvSpPr>
          <p:nvPr/>
        </p:nvSpPr>
        <p:spPr>
          <a:xfrm>
            <a:off x="6265111" y="219269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Jetson</a:t>
            </a:r>
            <a:endParaRPr sz="140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endParaRPr sz="140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source ~/ros2_base/install/setup.bash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source ~/week4/install/setup.bash</a:t>
            </a:r>
            <a:endParaRPr sz="140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ROS_DOMAIN_ID=30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ROS_LOCALHOST_ONLY=0</a:t>
            </a:r>
            <a:endParaRPr sz="140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RMW_IMPLEMENTATION=rmw_fastrtps_cpp</a:t>
            </a:r>
            <a:endParaRPr sz="1400"/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FD46BF2A-8122-2E0A-E8CC-886653CF64DA}"/>
              </a:ext>
            </a:extLst>
          </p:cNvPr>
          <p:cNvSpPr>
            <a:spLocks noGrp="1"/>
          </p:cNvSpPr>
          <p:nvPr/>
        </p:nvSpPr>
        <p:spPr>
          <a:xfrm>
            <a:off x="393700" y="1310936"/>
            <a:ext cx="5537200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b="1" dirty="0">
                <a:latin typeface="Pretendard"/>
                <a:ea typeface="Pretendard"/>
                <a:cs typeface="Pretendard"/>
              </a:rPr>
              <a:t>ROS </a:t>
            </a:r>
            <a:r>
              <a:rPr sz="2000" b="1" dirty="0" err="1">
                <a:latin typeface="Pretendard"/>
                <a:ea typeface="Pretendard"/>
                <a:cs typeface="Pretendard"/>
              </a:rPr>
              <a:t>설치</a:t>
            </a:r>
            <a:r>
              <a:rPr sz="2000" b="1" dirty="0"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latin typeface="Pretendard"/>
                <a:ea typeface="Pretendard"/>
                <a:cs typeface="Pretendard"/>
              </a:rPr>
              <a:t>경로는</a:t>
            </a:r>
            <a:r>
              <a:rPr sz="2000" b="1" dirty="0"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latin typeface="Pretendard"/>
                <a:ea typeface="Pretendard"/>
                <a:cs typeface="Pretendard"/>
              </a:rPr>
              <a:t>달라도</a:t>
            </a:r>
            <a:r>
              <a:rPr sz="2000" b="1" dirty="0">
                <a:latin typeface="Pretendard"/>
                <a:ea typeface="Pretendard"/>
                <a:cs typeface="Pretendard"/>
              </a:rPr>
              <a:t> DDS </a:t>
            </a:r>
            <a:r>
              <a:rPr sz="2000" b="1" dirty="0" err="1">
                <a:latin typeface="Pretendard"/>
                <a:ea typeface="Pretendard"/>
                <a:cs typeface="Pretendard"/>
              </a:rPr>
              <a:t>환경값은</a:t>
            </a:r>
            <a:r>
              <a:rPr sz="2000" b="1" dirty="0"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latin typeface="Pretendard"/>
                <a:ea typeface="Pretendard"/>
                <a:cs typeface="Pretendard"/>
              </a:rPr>
              <a:t>동일하게</a:t>
            </a:r>
            <a:r>
              <a:rPr sz="2000" b="1" dirty="0"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latin typeface="Pretendard"/>
                <a:ea typeface="Pretendard"/>
                <a:cs typeface="Pretendard"/>
              </a:rPr>
              <a:t>구성</a:t>
            </a:r>
            <a:endParaRPr sz="2000" b="1" dirty="0">
              <a:latin typeface="Pretendard"/>
              <a:ea typeface="Pretendard"/>
              <a:cs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4DAE3-4B7C-7F56-1C9F-8EB113402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F679C79-3772-47DD-A141-1BAB4651050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fld id="{202359C0-8A7A-196E-DD58-8E6569619F09}" type="slidenum">
              <a:rPr>
                <a:latin typeface="Pretendard"/>
                <a:ea typeface="Pretendard"/>
                <a:cs typeface="Pretendard"/>
              </a:rPr>
              <a:t>14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F87F09F8-F55F-02AB-29E8-B97A1DD1B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1170935"/>
            <a:ext cx="11404600" cy="1797958"/>
          </a:xfrm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lang="en-US" sz="4200" dirty="0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QoS </a:t>
            </a:r>
            <a:r>
              <a:rPr lang="ko-KR" altLang="en-US" sz="4200" dirty="0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기초</a:t>
            </a:r>
            <a:endParaRPr sz="4200" dirty="0">
              <a:solidFill>
                <a:schemeClr val="accent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21BDC594-E260-341C-30FC-762D1166F698}"/>
              </a:ext>
            </a:extLst>
          </p:cNvPr>
          <p:cNvSpPr>
            <a:spLocks noGrp="1"/>
          </p:cNvSpPr>
          <p:nvPr/>
        </p:nvSpPr>
        <p:spPr>
          <a:xfrm>
            <a:off x="2549677" y="3297710"/>
            <a:ext cx="7092645" cy="1865909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lang="ko-KR" altLang="en-US" sz="1600" dirty="0"/>
              <a:t>통신 환경에 맞춰 데이터 전달 정책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33644451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AD38C25-48AC-5A29-D53A-82080FAF926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fld id="{DC9C7607-4BA3-B4DC-A00F-2E67A9FCFF7E}" type="slidenum">
              <a:rPr>
                <a:latin typeface="Pretendard"/>
                <a:ea typeface="Pretendard"/>
                <a:cs typeface="Pretendard"/>
              </a:rPr>
              <a:t>15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33E8FE18-95DE-C7EA-9E95-10B821893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QoS 기초</a:t>
            </a:r>
          </a:p>
        </p:txBody>
      </p:sp>
      <p:sp>
        <p:nvSpPr>
          <p:cNvPr id="12" name="Google Shape;534;p58">
            <a:extLst>
              <a:ext uri="{FF2B5EF4-FFF2-40B4-BE49-F238E27FC236}">
                <a16:creationId xmlns:a16="http://schemas.microsoft.com/office/drawing/2014/main" id="{F393FB38-1005-6250-1642-93C1A76E0B77}"/>
              </a:ext>
            </a:extLst>
          </p:cNvPr>
          <p:cNvSpPr>
            <a:spLocks noGrp="1"/>
          </p:cNvSpPr>
          <p:nvPr/>
        </p:nvSpPr>
        <p:spPr>
          <a:xfrm>
            <a:off x="393700" y="1649094"/>
            <a:ext cx="11404600" cy="23133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History: </a:t>
            </a:r>
            <a:r>
              <a:rPr sz="1600" dirty="0" err="1">
                <a:latin typeface="Pretendard"/>
                <a:ea typeface="Pretendard"/>
                <a:cs typeface="Pretendard"/>
              </a:rPr>
              <a:t>보관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방식</a:t>
            </a:r>
            <a:endParaRPr sz="16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Depth: </a:t>
            </a:r>
            <a:r>
              <a:rPr sz="1600" dirty="0" err="1">
                <a:latin typeface="Pretendard"/>
                <a:ea typeface="Pretendard"/>
                <a:cs typeface="Pretendard"/>
              </a:rPr>
              <a:t>Queue에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유지할</a:t>
            </a:r>
            <a:r>
              <a:rPr sz="1600" dirty="0">
                <a:latin typeface="Pretendard"/>
                <a:ea typeface="Pretendard"/>
                <a:cs typeface="Pretendard"/>
              </a:rPr>
              <a:t> Message 수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Reliability: </a:t>
            </a:r>
            <a:r>
              <a:rPr sz="1600" dirty="0" err="1">
                <a:latin typeface="Pretendard"/>
                <a:ea typeface="Pretendard"/>
                <a:cs typeface="Pretendard"/>
              </a:rPr>
              <a:t>재전송과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전달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우선순위</a:t>
            </a:r>
            <a:endParaRPr sz="16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Durability: </a:t>
            </a:r>
            <a:r>
              <a:rPr sz="1600" dirty="0" err="1">
                <a:latin typeface="Pretendard"/>
                <a:ea typeface="Pretendard"/>
                <a:cs typeface="Pretendard"/>
              </a:rPr>
              <a:t>늦게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연결된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Subscriber의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과거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데이터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처리</a:t>
            </a:r>
            <a:endParaRPr sz="16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</a:t>
            </a:r>
            <a:r>
              <a:rPr sz="1600" dirty="0" err="1">
                <a:latin typeface="Pretendard"/>
                <a:ea typeface="Pretendard"/>
                <a:cs typeface="Pretendard"/>
              </a:rPr>
              <a:t>이번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실습은</a:t>
            </a:r>
            <a:r>
              <a:rPr sz="1600" dirty="0">
                <a:latin typeface="Pretendard"/>
                <a:ea typeface="Pretendard"/>
                <a:cs typeface="Pretendard"/>
              </a:rPr>
              <a:t> Reliability </a:t>
            </a:r>
            <a:r>
              <a:rPr sz="1600" dirty="0" err="1">
                <a:latin typeface="Pretendard"/>
                <a:ea typeface="Pretendard"/>
                <a:cs typeface="Pretendard"/>
              </a:rPr>
              <a:t>호환성에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집중</a:t>
            </a:r>
            <a:endParaRPr sz="1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Google Shape;534;p58">
            <a:extLst>
              <a:ext uri="{FF2B5EF4-FFF2-40B4-BE49-F238E27FC236}">
                <a16:creationId xmlns:a16="http://schemas.microsoft.com/office/drawing/2014/main" id="{A0F4C075-109A-7DDE-18C9-18F128552C24}"/>
              </a:ext>
            </a:extLst>
          </p:cNvPr>
          <p:cNvSpPr>
            <a:spLocks noGrp="1"/>
          </p:cNvSpPr>
          <p:nvPr/>
        </p:nvSpPr>
        <p:spPr>
          <a:xfrm>
            <a:off x="393699" y="1146566"/>
            <a:ext cx="11404599" cy="402442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dirty="0" err="1">
                <a:latin typeface="Pretendard"/>
                <a:ea typeface="Pretendard"/>
                <a:cs typeface="Pretendard"/>
              </a:rPr>
              <a:t>통신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환경에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맞춰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데이터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전달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정책을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지정하는</a:t>
            </a:r>
            <a:r>
              <a:rPr sz="2000" dirty="0">
                <a:latin typeface="Pretendard"/>
                <a:ea typeface="Pretendard"/>
                <a:cs typeface="Pretendard"/>
              </a:rPr>
              <a:t> Endpoint </a:t>
            </a:r>
            <a:r>
              <a:rPr sz="2000" dirty="0" err="1">
                <a:latin typeface="Pretendard"/>
                <a:ea typeface="Pretendard"/>
                <a:cs typeface="Pretendard"/>
              </a:rPr>
              <a:t>계약</a:t>
            </a:r>
            <a:endParaRPr sz="2000" dirty="0">
              <a:latin typeface="Pretendard"/>
              <a:ea typeface="Pretendard"/>
              <a:cs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21795353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2508D-E770-1AA6-C296-D6105C708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A6BAD15F-89E7-422D-7DAB-F2689FE79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208474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lang="en-US" sz="2000" b="1" dirty="0">
                <a:latin typeface="Pretendard"/>
                <a:ea typeface="Pretendard"/>
                <a:cs typeface="Pretendard"/>
              </a:rPr>
              <a:t>KEEP_LAST</a:t>
            </a:r>
            <a:endParaRPr lang="en-US" sz="2000" b="1" dirty="0"/>
          </a:p>
          <a:p>
            <a:pPr marL="0" indent="0" rtl="0" latinLnBrk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endParaRPr lang="en-US" sz="1400" dirty="0"/>
          </a:p>
          <a:p>
            <a:pPr marL="0" indent="0" rtl="0" latinLnBrk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lang="en-US" altLang="ko-KR" sz="1400" dirty="0"/>
              <a:t>• </a:t>
            </a:r>
            <a:r>
              <a:rPr lang="ko-KR" altLang="en-US" sz="1400" dirty="0"/>
              <a:t>최근 </a:t>
            </a:r>
            <a:r>
              <a:rPr lang="en-US" altLang="ko-KR" sz="1400" dirty="0"/>
              <a:t>N</a:t>
            </a:r>
            <a:r>
              <a:rPr lang="ko-KR" altLang="en-US" sz="1400" dirty="0"/>
              <a:t>개 </a:t>
            </a:r>
            <a:r>
              <a:rPr lang="en-US" altLang="ko-KR" sz="1400" dirty="0"/>
              <a:t>Message</a:t>
            </a:r>
            <a:r>
              <a:rPr lang="ko-KR" altLang="en-US" sz="1400" dirty="0"/>
              <a:t>만 보관</a:t>
            </a:r>
            <a:br>
              <a:rPr lang="en-US" altLang="ko-KR" sz="1400" dirty="0"/>
            </a:br>
            <a:r>
              <a:rPr lang="en-US" altLang="ko-KR" sz="1400" dirty="0"/>
              <a:t>• Depth</a:t>
            </a:r>
            <a:r>
              <a:rPr lang="ko-KR" altLang="en-US" sz="1400" dirty="0"/>
              <a:t>로 </a:t>
            </a:r>
            <a:r>
              <a:rPr lang="en-US" altLang="ko-KR" sz="1400" dirty="0"/>
              <a:t>Queue </a:t>
            </a:r>
            <a:r>
              <a:rPr lang="ko-KR" altLang="en-US" sz="1400" dirty="0"/>
              <a:t>크기 설정</a:t>
            </a:r>
            <a:br>
              <a:rPr lang="en-US" altLang="ko-KR" sz="1400" dirty="0"/>
            </a:br>
            <a:r>
              <a:rPr lang="en-US" altLang="ko-KR" sz="1400" dirty="0"/>
              <a:t>• </a:t>
            </a:r>
            <a:r>
              <a:rPr lang="ko-KR" altLang="en-US" sz="1400" dirty="0"/>
              <a:t>초과 시 오래된 </a:t>
            </a:r>
            <a:r>
              <a:rPr lang="en-US" altLang="ko-KR" sz="1400" dirty="0"/>
              <a:t>Message </a:t>
            </a:r>
            <a:r>
              <a:rPr lang="ko-KR" altLang="en-US" sz="1400" dirty="0"/>
              <a:t>제거</a:t>
            </a:r>
            <a:br>
              <a:rPr lang="en-US" altLang="ko-KR" sz="1400" dirty="0"/>
            </a:br>
            <a:r>
              <a:rPr lang="en-US" altLang="ko-KR" sz="1400" dirty="0"/>
              <a:t>• Sensor·</a:t>
            </a:r>
            <a:r>
              <a:rPr lang="ko-KR" altLang="en-US" sz="1400" dirty="0"/>
              <a:t>실시간 상태 데이터에 적합</a:t>
            </a:r>
            <a:br>
              <a:rPr lang="en-US" altLang="ko-KR" sz="1400" dirty="0"/>
            </a:br>
            <a:r>
              <a:rPr lang="en-US" altLang="ko-KR" sz="1400" dirty="0"/>
              <a:t>• </a:t>
            </a:r>
            <a:r>
              <a:rPr lang="ko-KR" altLang="en-US" sz="1400" dirty="0"/>
              <a:t>예</a:t>
            </a:r>
            <a:r>
              <a:rPr lang="en-US" altLang="ko-KR" sz="1400" dirty="0"/>
              <a:t>: Depth=3 → [3][4][5]</a:t>
            </a:r>
            <a:endParaRPr lang="ko-KR" altLang="en-US" sz="1400" dirty="0"/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4831DFD1-8F99-6097-AE22-1F01035CDF94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fld id="{90F7333B-44AC-F7E9-D49D-FE92F45E0477}" type="slidenum">
              <a:rPr>
                <a:latin typeface="Pretendard"/>
                <a:ea typeface="Pretendard"/>
                <a:cs typeface="Pretendard"/>
              </a:rPr>
              <a:t>16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779FC949-A4D5-970E-36BE-A5B014D48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55026"/>
            <a:ext cx="7835900" cy="1029274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lang="en-US" dirty="0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History</a:t>
            </a:r>
            <a:endParaRPr dirty="0">
              <a:solidFill>
                <a:schemeClr val="accent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" name="Google Shape;534;p58">
            <a:extLst>
              <a:ext uri="{FF2B5EF4-FFF2-40B4-BE49-F238E27FC236}">
                <a16:creationId xmlns:a16="http://schemas.microsoft.com/office/drawing/2014/main" id="{DD19A216-AC38-7E9D-5DFA-E7FAE47E4E7D}"/>
              </a:ext>
            </a:extLst>
          </p:cNvPr>
          <p:cNvSpPr>
            <a:spLocks noGrp="1"/>
          </p:cNvSpPr>
          <p:nvPr/>
        </p:nvSpPr>
        <p:spPr>
          <a:xfrm>
            <a:off x="5560261" y="208474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lang="en-US" sz="2000" b="1" dirty="0"/>
              <a:t>KEEP_ALL</a:t>
            </a:r>
            <a:endParaRPr sz="2000" b="1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endParaRPr sz="14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lang="en-US" altLang="ko-KR" sz="1400" dirty="0">
                <a:latin typeface="Pretendard"/>
                <a:ea typeface="Pretendard"/>
                <a:cs typeface="Pretendard"/>
              </a:rPr>
              <a:t>• </a:t>
            </a:r>
            <a:r>
              <a:rPr lang="ko-KR" altLang="en-US" sz="1400" dirty="0">
                <a:latin typeface="Pretendard"/>
                <a:ea typeface="Pretendard"/>
                <a:cs typeface="Pretendard"/>
              </a:rPr>
              <a:t>가능한 모든 </a:t>
            </a:r>
            <a:r>
              <a:rPr lang="en-US" altLang="ko-KR" sz="1400" dirty="0">
                <a:latin typeface="Pretendard"/>
                <a:ea typeface="Pretendard"/>
                <a:cs typeface="Pretendard"/>
              </a:rPr>
              <a:t>Message </a:t>
            </a:r>
            <a:r>
              <a:rPr lang="ko-KR" altLang="en-US" sz="1400" dirty="0">
                <a:latin typeface="Pretendard"/>
                <a:ea typeface="Pretendard"/>
                <a:cs typeface="Pretendard"/>
              </a:rPr>
              <a:t>보관</a:t>
            </a:r>
            <a:endParaRPr lang="en-US" altLang="ko-KR" sz="14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lang="en-US" altLang="ko-KR" sz="1400" dirty="0">
                <a:latin typeface="Pretendard"/>
                <a:ea typeface="Pretendard"/>
                <a:cs typeface="Pretendard"/>
              </a:rPr>
              <a:t>• Depth </a:t>
            </a:r>
            <a:r>
              <a:rPr lang="ko-KR" altLang="en-US" sz="1400" dirty="0">
                <a:latin typeface="Pretendard"/>
                <a:ea typeface="Pretendard"/>
                <a:cs typeface="Pretendard"/>
              </a:rPr>
              <a:t>설정은 적용되지 않음</a:t>
            </a:r>
            <a:endParaRPr lang="en-US" altLang="ko-KR" sz="14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lang="en-US" altLang="ko-KR" sz="1400" dirty="0">
                <a:latin typeface="Pretendard"/>
                <a:ea typeface="Pretendard"/>
                <a:cs typeface="Pretendard"/>
              </a:rPr>
              <a:t>• </a:t>
            </a:r>
            <a:r>
              <a:rPr lang="ko-KR" altLang="en-US" sz="1400" dirty="0">
                <a:latin typeface="Pretendard"/>
                <a:ea typeface="Pretendard"/>
                <a:cs typeface="Pretendard"/>
              </a:rPr>
              <a:t>실제 저장량은 </a:t>
            </a:r>
            <a:r>
              <a:rPr lang="en-US" altLang="ko-KR" sz="1400" dirty="0">
                <a:latin typeface="Pretendard"/>
                <a:ea typeface="Pretendard"/>
                <a:cs typeface="Pretendard"/>
              </a:rPr>
              <a:t>DDS Resource Limit</a:t>
            </a:r>
            <a:r>
              <a:rPr lang="ko-KR" altLang="en-US" sz="1400" dirty="0">
                <a:latin typeface="Pretendard"/>
                <a:ea typeface="Pretendard"/>
                <a:cs typeface="Pretendard"/>
              </a:rPr>
              <a:t>에 의해 제한</a:t>
            </a:r>
            <a:endParaRPr lang="en-US" altLang="ko-KR" sz="14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lang="en-US" altLang="ko-KR" sz="1400" dirty="0">
                <a:latin typeface="Pretendard"/>
                <a:ea typeface="Pretendard"/>
                <a:cs typeface="Pretendard"/>
              </a:rPr>
              <a:t>• </a:t>
            </a:r>
            <a:r>
              <a:rPr lang="ko-KR" altLang="en-US" sz="1400" dirty="0">
                <a:latin typeface="Pretendard"/>
                <a:ea typeface="Pretendard"/>
                <a:cs typeface="Pretendard"/>
              </a:rPr>
              <a:t>모든 데이터 보존이 중요한 경우에 적합</a:t>
            </a:r>
            <a:endParaRPr lang="en-US" altLang="ko-KR" sz="14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lang="en-US" altLang="ko-KR" sz="1400" dirty="0">
                <a:latin typeface="Pretendard"/>
                <a:ea typeface="Pretendard"/>
                <a:cs typeface="Pretendard"/>
              </a:rPr>
              <a:t>• </a:t>
            </a:r>
            <a:r>
              <a:rPr lang="ko-KR" altLang="en-US" sz="1400" dirty="0">
                <a:latin typeface="Pretendard"/>
                <a:ea typeface="Pretendard"/>
                <a:cs typeface="Pretendard"/>
              </a:rPr>
              <a:t>예</a:t>
            </a:r>
            <a:r>
              <a:rPr lang="en-US" altLang="ko-KR" sz="1400" dirty="0">
                <a:latin typeface="Pretendard"/>
                <a:ea typeface="Pretendard"/>
                <a:cs typeface="Pretendard"/>
              </a:rPr>
              <a:t>: [1][2][3][4][5] ... </a:t>
            </a:r>
            <a:r>
              <a:rPr lang="ko-KR" altLang="en-US" sz="1400" dirty="0">
                <a:latin typeface="Pretendard"/>
                <a:ea typeface="Pretendard"/>
                <a:cs typeface="Pretendard"/>
              </a:rPr>
              <a:t>계속 보관</a:t>
            </a:r>
            <a:endParaRPr sz="1400" dirty="0"/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BD742596-A4BC-0A7D-1F64-F435C770279D}"/>
              </a:ext>
            </a:extLst>
          </p:cNvPr>
          <p:cNvSpPr>
            <a:spLocks noGrp="1"/>
          </p:cNvSpPr>
          <p:nvPr/>
        </p:nvSpPr>
        <p:spPr>
          <a:xfrm>
            <a:off x="393700" y="1310936"/>
            <a:ext cx="5537200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lang="ko-KR" altLang="en-US" sz="2000" dirty="0">
                <a:latin typeface="Pretendard"/>
                <a:ea typeface="Pretendard"/>
                <a:cs typeface="Pretendard"/>
              </a:rPr>
              <a:t>보관 방식</a:t>
            </a:r>
            <a:endParaRPr sz="2000" dirty="0">
              <a:latin typeface="Pretendard"/>
              <a:ea typeface="Pretendard"/>
              <a:cs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36409850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306FE-9CCE-D81E-8871-9BFB0A0AA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8AFA1048-18F0-682E-0784-FCAF161708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208474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lang="ko-KR" altLang="en-US" sz="2000" b="1" dirty="0"/>
              <a:t>작은 </a:t>
            </a:r>
            <a:r>
              <a:rPr lang="en-US" altLang="ko-KR" sz="2000" b="1" dirty="0"/>
              <a:t>Depth</a:t>
            </a:r>
            <a:endParaRPr lang="en-US" sz="2000" b="1" dirty="0"/>
          </a:p>
          <a:p>
            <a:pPr marL="0" indent="0" rtl="0" latinLnBrk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endParaRPr lang="en-US" sz="1400" dirty="0"/>
          </a:p>
          <a:p>
            <a:pPr marL="0" indent="0" rtl="0" latinLnBrk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lang="en-US" altLang="ko-KR" sz="1400" dirty="0"/>
              <a:t>• Queue</a:t>
            </a:r>
            <a:r>
              <a:rPr lang="ko-KR" altLang="en-US" sz="1400" dirty="0"/>
              <a:t>에 적은 수의 </a:t>
            </a:r>
            <a:r>
              <a:rPr lang="en-US" altLang="ko-KR" sz="1400" dirty="0"/>
              <a:t>Message </a:t>
            </a:r>
            <a:r>
              <a:rPr lang="ko-KR" altLang="en-US" sz="1400" dirty="0"/>
              <a:t>보관</a:t>
            </a:r>
            <a:endParaRPr lang="en-US" altLang="ko-KR" sz="1400" dirty="0"/>
          </a:p>
          <a:p>
            <a:pPr marL="0" indent="0" rtl="0" latinLnBrk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lang="en-US" altLang="ko-KR" sz="1400" dirty="0"/>
              <a:t>• </a:t>
            </a:r>
            <a:r>
              <a:rPr lang="ko-KR" altLang="en-US" sz="1400" dirty="0"/>
              <a:t>오래된 </a:t>
            </a:r>
            <a:r>
              <a:rPr lang="en-US" altLang="ko-KR" sz="1400" dirty="0"/>
              <a:t>Message</a:t>
            </a:r>
            <a:r>
              <a:rPr lang="ko-KR" altLang="en-US" sz="1400" dirty="0"/>
              <a:t>가 빠르게 제거</a:t>
            </a:r>
            <a:endParaRPr lang="en-US" altLang="ko-KR" sz="1400" dirty="0"/>
          </a:p>
          <a:p>
            <a:pPr marL="0" indent="0" rtl="0" latinLnBrk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lang="en-US" altLang="ko-KR" sz="1400" dirty="0"/>
              <a:t>• Memory </a:t>
            </a:r>
            <a:r>
              <a:rPr lang="ko-KR" altLang="en-US" sz="1400" dirty="0"/>
              <a:t>사용량 감소</a:t>
            </a:r>
            <a:endParaRPr lang="en-US" altLang="ko-KR" sz="1400" dirty="0"/>
          </a:p>
          <a:p>
            <a:pPr marL="0" indent="0" rtl="0" latinLnBrk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lang="en-US" altLang="ko-KR" sz="1400" dirty="0"/>
              <a:t>• </a:t>
            </a:r>
            <a:r>
              <a:rPr lang="ko-KR" altLang="en-US" sz="1400" dirty="0"/>
              <a:t>최신 데이터 처리에 유리</a:t>
            </a:r>
            <a:endParaRPr lang="en-US" altLang="ko-KR" sz="1400" dirty="0"/>
          </a:p>
          <a:p>
            <a:pPr marL="0" indent="0" rtl="0" latinLnBrk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lang="en-US" altLang="ko-KR" sz="1400" dirty="0"/>
              <a:t>• </a:t>
            </a:r>
            <a:r>
              <a:rPr lang="ko-KR" altLang="en-US" sz="1400" dirty="0"/>
              <a:t>예</a:t>
            </a:r>
            <a:r>
              <a:rPr lang="en-US" altLang="ko-KR" sz="1400" dirty="0"/>
              <a:t>: Depth=1 → </a:t>
            </a:r>
            <a:r>
              <a:rPr lang="ko-KR" altLang="en-US" sz="1400" dirty="0"/>
              <a:t>최신 </a:t>
            </a:r>
            <a:r>
              <a:rPr lang="en-US" altLang="ko-KR" sz="1400" dirty="0"/>
              <a:t>Message 1</a:t>
            </a:r>
            <a:r>
              <a:rPr lang="ko-KR" altLang="en-US" sz="1400" dirty="0"/>
              <a:t>개만 유지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4698FE95-D87B-44AE-788E-B60364360637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fld id="{90F7333B-44AC-F7E9-D49D-FE92F45E0477}" type="slidenum">
              <a:rPr>
                <a:latin typeface="Pretendard"/>
                <a:ea typeface="Pretendard"/>
                <a:cs typeface="Pretendard"/>
              </a:rPr>
              <a:t>17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E99ED3A8-B989-A00B-D7CA-731903752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55026"/>
            <a:ext cx="7835900" cy="1029274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lang="en-US" dirty="0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Depth</a:t>
            </a:r>
            <a:endParaRPr dirty="0">
              <a:solidFill>
                <a:schemeClr val="accent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" name="Google Shape;534;p58">
            <a:extLst>
              <a:ext uri="{FF2B5EF4-FFF2-40B4-BE49-F238E27FC236}">
                <a16:creationId xmlns:a16="http://schemas.microsoft.com/office/drawing/2014/main" id="{8C5B7CA6-DA25-F2DE-2F6A-ED52B33DF807}"/>
              </a:ext>
            </a:extLst>
          </p:cNvPr>
          <p:cNvSpPr>
            <a:spLocks noGrp="1"/>
          </p:cNvSpPr>
          <p:nvPr/>
        </p:nvSpPr>
        <p:spPr>
          <a:xfrm>
            <a:off x="5560261" y="208474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lang="ko-KR" altLang="en-US" sz="2000" b="1" dirty="0"/>
              <a:t>큰 </a:t>
            </a:r>
            <a:r>
              <a:rPr lang="en-US" altLang="ko-KR" sz="2000" b="1" dirty="0"/>
              <a:t>Depth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endParaRPr sz="14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lang="en-US" altLang="ko-KR" sz="1400" dirty="0">
                <a:latin typeface="Pretendard"/>
                <a:ea typeface="Pretendard"/>
                <a:cs typeface="Pretendard"/>
              </a:rPr>
              <a:t>• Queue</a:t>
            </a:r>
            <a:r>
              <a:rPr lang="ko-KR" altLang="en-US" sz="1400" dirty="0">
                <a:latin typeface="Pretendard"/>
                <a:ea typeface="Pretendard"/>
                <a:cs typeface="Pretendard"/>
              </a:rPr>
              <a:t>에 많은 </a:t>
            </a:r>
            <a:r>
              <a:rPr lang="en-US" altLang="ko-KR" sz="1400" dirty="0">
                <a:latin typeface="Pretendard"/>
                <a:ea typeface="Pretendard"/>
                <a:cs typeface="Pretendard"/>
              </a:rPr>
              <a:t>Message </a:t>
            </a:r>
            <a:r>
              <a:rPr lang="ko-KR" altLang="en-US" sz="1400" dirty="0">
                <a:latin typeface="Pretendard"/>
                <a:ea typeface="Pretendard"/>
                <a:cs typeface="Pretendard"/>
              </a:rPr>
              <a:t>보관</a:t>
            </a:r>
            <a:endParaRPr lang="en-US" altLang="ko-KR" sz="14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lang="en-US" altLang="ko-KR" sz="1400" dirty="0">
                <a:latin typeface="Pretendard"/>
                <a:ea typeface="Pretendard"/>
                <a:cs typeface="Pretendard"/>
              </a:rPr>
              <a:t>• Subscriber </a:t>
            </a:r>
            <a:r>
              <a:rPr lang="ko-KR" altLang="en-US" sz="1400" dirty="0">
                <a:latin typeface="Pretendard"/>
                <a:ea typeface="Pretendard"/>
                <a:cs typeface="Pretendard"/>
              </a:rPr>
              <a:t>처리 지연에 대응 가능</a:t>
            </a:r>
            <a:endParaRPr lang="en-US" altLang="ko-KR" sz="14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lang="en-US" altLang="ko-KR" sz="1400" dirty="0">
                <a:latin typeface="Pretendard"/>
                <a:ea typeface="Pretendard"/>
                <a:cs typeface="Pretendard"/>
              </a:rPr>
              <a:t>• Message </a:t>
            </a:r>
            <a:r>
              <a:rPr lang="ko-KR" altLang="en-US" sz="1400" dirty="0">
                <a:latin typeface="Pretendard"/>
                <a:ea typeface="Pretendard"/>
                <a:cs typeface="Pretendard"/>
              </a:rPr>
              <a:t>유실 가능성 감소</a:t>
            </a:r>
            <a:endParaRPr lang="en-US" altLang="ko-KR" sz="14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lang="en-US" altLang="ko-KR" sz="1400" dirty="0">
                <a:latin typeface="Pretendard"/>
                <a:ea typeface="Pretendard"/>
                <a:cs typeface="Pretendard"/>
              </a:rPr>
              <a:t>• Memory </a:t>
            </a:r>
            <a:r>
              <a:rPr lang="ko-KR" altLang="en-US" sz="1400" dirty="0">
                <a:latin typeface="Pretendard"/>
                <a:ea typeface="Pretendard"/>
                <a:cs typeface="Pretendard"/>
              </a:rPr>
              <a:t>사용량</a:t>
            </a:r>
            <a:r>
              <a:rPr lang="en-US" altLang="ko-KR" sz="1400" dirty="0">
                <a:latin typeface="Pretendard"/>
                <a:ea typeface="Pretendard"/>
                <a:cs typeface="Pretendard"/>
              </a:rPr>
              <a:t>·</a:t>
            </a:r>
            <a:r>
              <a:rPr lang="ko-KR" altLang="en-US" sz="1400" dirty="0">
                <a:latin typeface="Pretendard"/>
                <a:ea typeface="Pretendard"/>
                <a:cs typeface="Pretendard"/>
              </a:rPr>
              <a:t>처리 지연 증가 가능</a:t>
            </a:r>
            <a:endParaRPr lang="en-US" altLang="ko-KR" sz="14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lang="en-US" altLang="ko-KR" sz="1400" dirty="0">
                <a:latin typeface="Pretendard"/>
                <a:ea typeface="Pretendard"/>
                <a:cs typeface="Pretendard"/>
              </a:rPr>
              <a:t>• </a:t>
            </a:r>
            <a:r>
              <a:rPr lang="ko-KR" altLang="en-US" sz="1400" dirty="0">
                <a:latin typeface="Pretendard"/>
                <a:ea typeface="Pretendard"/>
                <a:cs typeface="Pretendard"/>
              </a:rPr>
              <a:t>예</a:t>
            </a:r>
            <a:r>
              <a:rPr lang="en-US" altLang="ko-KR" sz="1400" dirty="0">
                <a:latin typeface="Pretendard"/>
                <a:ea typeface="Pretendard"/>
                <a:cs typeface="Pretendard"/>
              </a:rPr>
              <a:t>: Depth=10 → </a:t>
            </a:r>
            <a:r>
              <a:rPr lang="ko-KR" altLang="en-US" sz="1400" dirty="0">
                <a:latin typeface="Pretendard"/>
                <a:ea typeface="Pretendard"/>
                <a:cs typeface="Pretendard"/>
              </a:rPr>
              <a:t>최근 </a:t>
            </a:r>
            <a:r>
              <a:rPr lang="en-US" altLang="ko-KR" sz="1400" dirty="0">
                <a:latin typeface="Pretendard"/>
                <a:ea typeface="Pretendard"/>
                <a:cs typeface="Pretendard"/>
              </a:rPr>
              <a:t>Message 10</a:t>
            </a:r>
            <a:r>
              <a:rPr lang="ko-KR" altLang="en-US" sz="1400" dirty="0">
                <a:latin typeface="Pretendard"/>
                <a:ea typeface="Pretendard"/>
                <a:cs typeface="Pretendard"/>
              </a:rPr>
              <a:t>개 유지</a:t>
            </a:r>
            <a:endParaRPr sz="1400" dirty="0"/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25604840-5278-4826-20DB-3DF8EABD1EAD}"/>
              </a:ext>
            </a:extLst>
          </p:cNvPr>
          <p:cNvSpPr>
            <a:spLocks noGrp="1"/>
          </p:cNvSpPr>
          <p:nvPr/>
        </p:nvSpPr>
        <p:spPr>
          <a:xfrm>
            <a:off x="393700" y="1310936"/>
            <a:ext cx="5537200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lang="ko-KR" altLang="en-US" sz="2000" dirty="0">
                <a:latin typeface="Pretendard"/>
                <a:ea typeface="Pretendard"/>
                <a:cs typeface="Pretendard"/>
              </a:rPr>
              <a:t>얼마나 많은 양의 데이터를 보관할 것인가</a:t>
            </a:r>
            <a:endParaRPr sz="2000" dirty="0">
              <a:latin typeface="Pretendard"/>
              <a:ea typeface="Pretendard"/>
              <a:cs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7274304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B4FCE-C794-7729-6D0B-01850D03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D9269267-35CA-33D0-DD18-EB5A26BC42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208474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lang="en-US" altLang="ko-KR" sz="2000" b="1" dirty="0"/>
              <a:t>VOLATILE</a:t>
            </a:r>
            <a:endParaRPr lang="en-US" sz="1400" dirty="0"/>
          </a:p>
          <a:p>
            <a:pPr marL="0" indent="0" rtl="0" latinLnBrk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lang="en-US" altLang="ko-KR" sz="1400" dirty="0"/>
              <a:t>• Subscriber </a:t>
            </a:r>
            <a:r>
              <a:rPr lang="ko-KR" altLang="en-US" sz="1400" dirty="0"/>
              <a:t>연결 이후 </a:t>
            </a:r>
            <a:r>
              <a:rPr lang="en-US" altLang="ko-KR" sz="1400" dirty="0"/>
              <a:t>Message</a:t>
            </a:r>
            <a:r>
              <a:rPr lang="ko-KR" altLang="en-US" sz="1400" dirty="0"/>
              <a:t>만 수신</a:t>
            </a:r>
            <a:endParaRPr lang="en-US" altLang="ko-KR" sz="1400" dirty="0"/>
          </a:p>
          <a:p>
            <a:pPr marL="0" indent="0" rtl="0" latinLnBrk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lang="en-US" altLang="ko-KR" sz="1400" dirty="0"/>
              <a:t>• </a:t>
            </a:r>
            <a:r>
              <a:rPr lang="ko-KR" altLang="en-US" sz="1400" dirty="0"/>
              <a:t>이전에 발행된 </a:t>
            </a:r>
            <a:r>
              <a:rPr lang="en-US" altLang="ko-KR" sz="1400" dirty="0"/>
              <a:t>Message</a:t>
            </a:r>
            <a:r>
              <a:rPr lang="ko-KR" altLang="en-US" sz="1400" dirty="0"/>
              <a:t>는 전달하지 않음</a:t>
            </a:r>
            <a:endParaRPr lang="en-US" altLang="ko-KR" sz="1400" dirty="0"/>
          </a:p>
          <a:p>
            <a:pPr marL="0" indent="0" rtl="0" latinLnBrk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lang="en-US" altLang="ko-KR" sz="1400" dirty="0"/>
              <a:t>• </a:t>
            </a:r>
            <a:r>
              <a:rPr lang="ko-KR" altLang="en-US" sz="1400" dirty="0"/>
              <a:t>과거 데이터 보존 불필요</a:t>
            </a:r>
            <a:endParaRPr lang="en-US" altLang="ko-KR" sz="1400" dirty="0"/>
          </a:p>
          <a:p>
            <a:pPr marL="0" indent="0" rtl="0" latinLnBrk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lang="en-US" altLang="ko-KR" sz="1400" dirty="0"/>
              <a:t>• </a:t>
            </a:r>
            <a:r>
              <a:rPr lang="ko-KR" altLang="en-US" sz="1400" dirty="0"/>
              <a:t>실시간 </a:t>
            </a:r>
            <a:r>
              <a:rPr lang="en-US" altLang="ko-KR" sz="1400" dirty="0" err="1"/>
              <a:t>Sensor·Stream</a:t>
            </a:r>
            <a:r>
              <a:rPr lang="en-US" altLang="ko-KR" sz="1400" dirty="0"/>
              <a:t> </a:t>
            </a:r>
            <a:r>
              <a:rPr lang="ko-KR" altLang="en-US" sz="1400" dirty="0"/>
              <a:t>데이터에 적합</a:t>
            </a:r>
            <a:endParaRPr lang="en-US" altLang="ko-KR" sz="1400" dirty="0"/>
          </a:p>
          <a:p>
            <a:pPr marL="0" indent="0" rtl="0" latinLnBrk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lang="en-US" altLang="ko-KR" sz="1400" dirty="0"/>
              <a:t>• </a:t>
            </a:r>
            <a:r>
              <a:rPr lang="ko-KR" altLang="en-US" sz="1400" dirty="0"/>
              <a:t>예</a:t>
            </a:r>
            <a:r>
              <a:rPr lang="en-US" altLang="ko-KR" sz="1400" dirty="0"/>
              <a:t>: </a:t>
            </a:r>
            <a:r>
              <a:rPr lang="ko-KR" altLang="en-US" sz="1400" dirty="0"/>
              <a:t>늦게 연결하면 이후 </a:t>
            </a:r>
            <a:r>
              <a:rPr lang="en-US" altLang="ko-KR" sz="1400" dirty="0"/>
              <a:t>Message</a:t>
            </a:r>
            <a:r>
              <a:rPr lang="ko-KR" altLang="en-US" sz="1400" dirty="0"/>
              <a:t>부터 수신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0F676A6F-9029-B06F-4ECC-49E07A1DCB0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fld id="{90F7333B-44AC-F7E9-D49D-FE92F45E0477}" type="slidenum">
              <a:rPr>
                <a:latin typeface="Pretendard"/>
                <a:ea typeface="Pretendard"/>
                <a:cs typeface="Pretendard"/>
              </a:rPr>
              <a:t>18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4C821B42-9156-E854-69A8-A8BF45CAC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55026"/>
            <a:ext cx="7835900" cy="1029274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lang="en-US" dirty="0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Durability</a:t>
            </a:r>
            <a:endParaRPr dirty="0">
              <a:solidFill>
                <a:schemeClr val="accent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" name="Google Shape;534;p58">
            <a:extLst>
              <a:ext uri="{FF2B5EF4-FFF2-40B4-BE49-F238E27FC236}">
                <a16:creationId xmlns:a16="http://schemas.microsoft.com/office/drawing/2014/main" id="{4CA563FA-96B2-8E14-F6E3-B75FB80A8D51}"/>
              </a:ext>
            </a:extLst>
          </p:cNvPr>
          <p:cNvSpPr>
            <a:spLocks noGrp="1"/>
          </p:cNvSpPr>
          <p:nvPr/>
        </p:nvSpPr>
        <p:spPr>
          <a:xfrm>
            <a:off x="5560261" y="208474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lang="en-US" altLang="ko-KR" sz="2000" b="1" dirty="0"/>
              <a:t>TRANSIENT_LOCAL</a:t>
            </a:r>
            <a:endParaRPr sz="14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lang="en-US" altLang="ko-KR" sz="1400" dirty="0">
                <a:latin typeface="Pretendard"/>
                <a:ea typeface="Pretendard"/>
                <a:cs typeface="Pretendard"/>
              </a:rPr>
              <a:t>• Publisher</a:t>
            </a:r>
            <a:r>
              <a:rPr lang="ko-KR" altLang="en-US" sz="1400" dirty="0">
                <a:latin typeface="Pretendard"/>
                <a:ea typeface="Pretendard"/>
                <a:cs typeface="Pretendard"/>
              </a:rPr>
              <a:t>가 최근 </a:t>
            </a:r>
            <a:r>
              <a:rPr lang="en-US" altLang="ko-KR" sz="1400" dirty="0">
                <a:latin typeface="Pretendard"/>
                <a:ea typeface="Pretendard"/>
                <a:cs typeface="Pretendard"/>
              </a:rPr>
              <a:t>Message</a:t>
            </a:r>
            <a:r>
              <a:rPr lang="ko-KR" altLang="en-US" sz="1400" dirty="0">
                <a:latin typeface="Pretendard"/>
                <a:ea typeface="Pretendard"/>
                <a:cs typeface="Pretendard"/>
              </a:rPr>
              <a:t>를 보관</a:t>
            </a:r>
            <a:endParaRPr lang="en-US" altLang="ko-KR" sz="14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lang="en-US" altLang="ko-KR" sz="1400" dirty="0">
                <a:latin typeface="Pretendard"/>
                <a:ea typeface="Pretendard"/>
                <a:cs typeface="Pretendard"/>
              </a:rPr>
              <a:t>• </a:t>
            </a:r>
            <a:r>
              <a:rPr lang="ko-KR" altLang="en-US" sz="1400" dirty="0">
                <a:latin typeface="Pretendard"/>
                <a:ea typeface="Pretendard"/>
                <a:cs typeface="Pretendard"/>
              </a:rPr>
              <a:t>늦게 연결된 </a:t>
            </a:r>
            <a:r>
              <a:rPr lang="en-US" altLang="ko-KR" sz="1400" dirty="0">
                <a:latin typeface="Pretendard"/>
                <a:ea typeface="Pretendard"/>
                <a:cs typeface="Pretendard"/>
              </a:rPr>
              <a:t>Subscriber</a:t>
            </a:r>
            <a:r>
              <a:rPr lang="ko-KR" altLang="en-US" sz="1400" dirty="0">
                <a:latin typeface="Pretendard"/>
                <a:ea typeface="Pretendard"/>
                <a:cs typeface="Pretendard"/>
              </a:rPr>
              <a:t>도 과거 데이터 수신 가능</a:t>
            </a:r>
            <a:endParaRPr lang="en-US" altLang="ko-KR" sz="14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lang="en-US" altLang="ko-KR" sz="1400" dirty="0">
                <a:latin typeface="Pretendard"/>
                <a:ea typeface="Pretendard"/>
                <a:cs typeface="Pretendard"/>
              </a:rPr>
              <a:t>• </a:t>
            </a:r>
            <a:r>
              <a:rPr lang="en-US" altLang="ko-KR" sz="1400" dirty="0" err="1">
                <a:latin typeface="Pretendard"/>
                <a:ea typeface="Pretendard"/>
                <a:cs typeface="Pretendard"/>
              </a:rPr>
              <a:t>History·Depth</a:t>
            </a:r>
            <a:r>
              <a:rPr lang="en-US" altLang="ko-KR" sz="1400" dirty="0"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400" dirty="0">
                <a:latin typeface="Pretendard"/>
                <a:ea typeface="Pretendard"/>
                <a:cs typeface="Pretendard"/>
              </a:rPr>
              <a:t>설정에 따라 보관 범위 결정</a:t>
            </a:r>
            <a:endParaRPr lang="en-US" altLang="ko-KR" sz="14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lang="en-US" altLang="ko-KR" sz="1400" dirty="0">
                <a:latin typeface="Pretendard"/>
                <a:ea typeface="Pretendard"/>
                <a:cs typeface="Pretendard"/>
              </a:rPr>
              <a:t>• </a:t>
            </a:r>
            <a:r>
              <a:rPr lang="ko-KR" altLang="en-US" sz="1400" dirty="0" err="1">
                <a:latin typeface="Pretendard"/>
                <a:ea typeface="Pretendard"/>
                <a:cs typeface="Pretendard"/>
              </a:rPr>
              <a:t>설정값</a:t>
            </a:r>
            <a:r>
              <a:rPr lang="en-US" altLang="ko-KR" sz="1400" dirty="0">
                <a:latin typeface="Pretendard"/>
                <a:ea typeface="Pretendard"/>
                <a:cs typeface="Pretendard"/>
              </a:rPr>
              <a:t>·</a:t>
            </a:r>
            <a:r>
              <a:rPr lang="ko-KR" altLang="en-US" sz="1400" dirty="0" err="1">
                <a:latin typeface="Pretendard"/>
                <a:ea typeface="Pretendard"/>
                <a:cs typeface="Pretendard"/>
              </a:rPr>
              <a:t>상태값</a:t>
            </a:r>
            <a:r>
              <a:rPr lang="ko-KR" altLang="en-US" sz="1400" dirty="0">
                <a:latin typeface="Pretendard"/>
                <a:ea typeface="Pretendard"/>
                <a:cs typeface="Pretendard"/>
              </a:rPr>
              <a:t> 전달에 적합</a:t>
            </a:r>
            <a:endParaRPr lang="en-US" altLang="ko-KR" sz="14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lang="en-US" altLang="ko-KR" sz="1400" dirty="0">
                <a:latin typeface="Pretendard"/>
                <a:ea typeface="Pretendard"/>
                <a:cs typeface="Pretendard"/>
              </a:rPr>
              <a:t>• </a:t>
            </a:r>
            <a:r>
              <a:rPr lang="ko-KR" altLang="en-US" sz="1400" dirty="0">
                <a:latin typeface="Pretendard"/>
                <a:ea typeface="Pretendard"/>
                <a:cs typeface="Pretendard"/>
              </a:rPr>
              <a:t>예</a:t>
            </a:r>
            <a:r>
              <a:rPr lang="en-US" altLang="ko-KR" sz="1400" dirty="0">
                <a:latin typeface="Pretendard"/>
                <a:ea typeface="Pretendard"/>
                <a:cs typeface="Pretendard"/>
              </a:rPr>
              <a:t>: Depth=1 → </a:t>
            </a:r>
            <a:r>
              <a:rPr lang="ko-KR" altLang="en-US" sz="1400" dirty="0">
                <a:latin typeface="Pretendard"/>
                <a:ea typeface="Pretendard"/>
                <a:cs typeface="Pretendard"/>
              </a:rPr>
              <a:t>마지막 </a:t>
            </a:r>
            <a:r>
              <a:rPr lang="en-US" altLang="ko-KR" sz="1400" dirty="0">
                <a:latin typeface="Pretendard"/>
                <a:ea typeface="Pretendard"/>
                <a:cs typeface="Pretendard"/>
              </a:rPr>
              <a:t>Message 1</a:t>
            </a:r>
            <a:r>
              <a:rPr lang="ko-KR" altLang="en-US" sz="1400" dirty="0">
                <a:latin typeface="Pretendard"/>
                <a:ea typeface="Pretendard"/>
                <a:cs typeface="Pretendard"/>
              </a:rPr>
              <a:t>개 전달</a:t>
            </a:r>
            <a:endParaRPr sz="1400" dirty="0"/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67AD0862-CCCA-CCB8-B8C2-3A8DEF7A73B3}"/>
              </a:ext>
            </a:extLst>
          </p:cNvPr>
          <p:cNvSpPr>
            <a:spLocks noGrp="1"/>
          </p:cNvSpPr>
          <p:nvPr/>
        </p:nvSpPr>
        <p:spPr>
          <a:xfrm>
            <a:off x="393699" y="1310936"/>
            <a:ext cx="9531057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lang="ko-KR" altLang="en-US" sz="2000" dirty="0">
                <a:latin typeface="Pretendard"/>
                <a:ea typeface="Pretendard"/>
                <a:cs typeface="Pretendard"/>
              </a:rPr>
              <a:t>지금 보관하고 있는 과거 데이터를 늦게 온 </a:t>
            </a:r>
            <a:r>
              <a:rPr lang="en-US" altLang="ko-KR" sz="2000" dirty="0">
                <a:latin typeface="Pretendard"/>
                <a:ea typeface="Pretendard"/>
                <a:cs typeface="Pretendard"/>
              </a:rPr>
              <a:t>Subscriber</a:t>
            </a:r>
            <a:r>
              <a:rPr lang="ko-KR" altLang="en-US" sz="2000" dirty="0">
                <a:latin typeface="Pretendard"/>
                <a:ea typeface="Pretendard"/>
                <a:cs typeface="Pretendard"/>
              </a:rPr>
              <a:t>에게 전달할 것인가</a:t>
            </a:r>
            <a:endParaRPr sz="2000" dirty="0">
              <a:latin typeface="Pretendard"/>
              <a:ea typeface="Pretendard"/>
              <a:cs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8452799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208474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b="1">
                <a:latin typeface="Pretendard"/>
                <a:ea typeface="Pretendard"/>
                <a:cs typeface="Pretendard"/>
              </a:rPr>
              <a:t>RELIABLE</a:t>
            </a:r>
            <a:endParaRPr sz="2000" b="1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endParaRPr sz="140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손실 시 재전송 시도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전달 누락 최소화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지연·Network 부하 증가 가능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제어 명령·상태 변경에 적합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fld id="{90F7333B-44AC-F7E9-D49D-FE92F45E0477}" type="slidenum">
              <a:rPr>
                <a:latin typeface="Pretendard"/>
                <a:ea typeface="Pretendard"/>
                <a:cs typeface="Pretendard"/>
              </a:rPr>
              <a:t>19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55026"/>
            <a:ext cx="7835900" cy="1029274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RELIABLE·BEST_EFFORT</a:t>
            </a:r>
          </a:p>
        </p:txBody>
      </p:sp>
      <p:sp>
        <p:nvSpPr>
          <p:cNvPr id="2" name="Google Shape;534;p58">
            <a:extLst>
              <a:ext uri="{FF2B5EF4-FFF2-40B4-BE49-F238E27FC236}">
                <a16:creationId xmlns:a16="http://schemas.microsoft.com/office/drawing/2014/main" id="{A4A94F3C-B1B2-7289-7098-7C66C8A291D6}"/>
              </a:ext>
            </a:extLst>
          </p:cNvPr>
          <p:cNvSpPr>
            <a:spLocks noGrp="1"/>
          </p:cNvSpPr>
          <p:nvPr/>
        </p:nvSpPr>
        <p:spPr>
          <a:xfrm>
            <a:off x="5560261" y="208474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b="1">
                <a:latin typeface="Pretendard"/>
                <a:ea typeface="Pretendard"/>
                <a:cs typeface="Pretendard"/>
              </a:rPr>
              <a:t>BEST_EFFORT</a:t>
            </a:r>
            <a:endParaRPr sz="2000" b="1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endParaRPr sz="140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손실 Message 재전송 없음</a:t>
            </a:r>
            <a:endParaRPr sz="140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최신 데이터 처리 우선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낮은 지연·고주파 Stream</a:t>
            </a:r>
            <a:endParaRPr sz="140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Sensor·Camera 데이터에 적합</a:t>
            </a:r>
            <a:endParaRPr sz="1400"/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FD46BF2A-8122-2E0A-E8CC-886653CF64DA}"/>
              </a:ext>
            </a:extLst>
          </p:cNvPr>
          <p:cNvSpPr>
            <a:spLocks noGrp="1"/>
          </p:cNvSpPr>
          <p:nvPr/>
        </p:nvSpPr>
        <p:spPr>
          <a:xfrm>
            <a:off x="393700" y="1310936"/>
            <a:ext cx="5537200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>
                <a:latin typeface="Pretendard"/>
                <a:ea typeface="Pretendard"/>
                <a:cs typeface="Pretendard"/>
              </a:rPr>
              <a:t>전달 보장과 최신 데이터 우선 사이의 선택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AD38C25-48AC-5A29-D53A-82080FAF926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fld id="{B1C6C81E-38B9-7560-621D-5A151A79DF9B}" type="slidenum">
              <a:rPr>
                <a:latin typeface="Pretendard"/>
                <a:ea typeface="Pretendard"/>
                <a:cs typeface="Pretendard"/>
              </a:rPr>
              <a:t>20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33E8FE18-95DE-C7EA-9E95-10B821893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QoS 호환성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B54A841D-1EA0-6181-C778-7C851CA6E64E}"/>
              </a:ext>
            </a:extLst>
          </p:cNvPr>
          <p:cNvSpPr>
            <a:spLocks noGrp="1"/>
          </p:cNvSpPr>
          <p:nvPr/>
        </p:nvSpPr>
        <p:spPr>
          <a:xfrm>
            <a:off x="706278" y="325089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b="0" i="0" u="none" cap="none" spc="0">
                <a:ln>
                  <a:noFill/>
                </a:ln>
                <a:latin typeface="Pretendard"/>
                <a:ea typeface="Pretendard"/>
                <a:cs typeface="Pretendard"/>
              </a:rPr>
              <a:t>호환·재전송 사용</a:t>
            </a:r>
          </a:p>
        </p:txBody>
      </p:sp>
      <p:sp>
        <p:nvSpPr>
          <p:cNvPr id="12" name="Google Shape;534;p58">
            <a:extLst>
              <a:ext uri="{FF2B5EF4-FFF2-40B4-BE49-F238E27FC236}">
                <a16:creationId xmlns:a16="http://schemas.microsoft.com/office/drawing/2014/main" id="{F393FB38-1005-6250-1642-93C1A76E0B77}"/>
              </a:ext>
            </a:extLst>
          </p:cNvPr>
          <p:cNvSpPr>
            <a:spLocks noGrp="1"/>
          </p:cNvSpPr>
          <p:nvPr/>
        </p:nvSpPr>
        <p:spPr>
          <a:xfrm>
            <a:off x="393700" y="1649094"/>
            <a:ext cx="11404600" cy="634044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이번 실습 기본값: Publisher·Listener 모두 BEST_EFFORT</a:t>
            </a:r>
          </a:p>
        </p:txBody>
      </p:sp>
      <p:sp>
        <p:nvSpPr>
          <p:cNvPr id="13" name="Google Shape;534;p58">
            <a:extLst>
              <a:ext uri="{FF2B5EF4-FFF2-40B4-BE49-F238E27FC236}">
                <a16:creationId xmlns:a16="http://schemas.microsoft.com/office/drawing/2014/main" id="{A0F4C075-109A-7DDE-18C9-18F128552C24}"/>
              </a:ext>
            </a:extLst>
          </p:cNvPr>
          <p:cNvSpPr>
            <a:spLocks noGrp="1"/>
          </p:cNvSpPr>
          <p:nvPr/>
        </p:nvSpPr>
        <p:spPr>
          <a:xfrm>
            <a:off x="393699" y="1146566"/>
            <a:ext cx="11404599" cy="402442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>
                <a:latin typeface="Pretendard"/>
                <a:ea typeface="Pretendard"/>
                <a:cs typeface="Pretendard"/>
              </a:rPr>
              <a:t>Publisher 제공 수준이 Subscriber 요구 수준을 만족해야 연결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DCE927-F1A4-A9ED-C839-844BB688547F}"/>
              </a:ext>
            </a:extLst>
          </p:cNvPr>
          <p:cNvSpPr>
            <a:spLocks noGrp="1"/>
          </p:cNvSpPr>
          <p:nvPr/>
        </p:nvSpPr>
        <p:spPr>
          <a:xfrm>
            <a:off x="702967" y="2793808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Pretendard"/>
                <a:ea typeface="Pretendard"/>
                <a:cs typeface="Pretendard"/>
              </a:rPr>
              <a:t>RELIABLE → RELIABLE</a:t>
            </a:r>
          </a:p>
        </p:txBody>
      </p:sp>
      <p:sp>
        <p:nvSpPr>
          <p:cNvPr id="16" name="Content Placeholder 10">
            <a:extLst>
              <a:ext uri="{FF2B5EF4-FFF2-40B4-BE49-F238E27FC236}">
                <a16:creationId xmlns:a16="http://schemas.microsoft.com/office/drawing/2014/main" id="{B71DDDF3-A6F6-A2D9-7F68-A246AE82F73A}"/>
              </a:ext>
            </a:extLst>
          </p:cNvPr>
          <p:cNvSpPr>
            <a:spLocks noGrp="1"/>
          </p:cNvSpPr>
          <p:nvPr/>
        </p:nvSpPr>
        <p:spPr>
          <a:xfrm>
            <a:off x="6558438" y="325089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b="0" i="0" u="none" cap="none" spc="0">
                <a:ln>
                  <a:noFill/>
                </a:ln>
                <a:latin typeface="Pretendard"/>
                <a:ea typeface="Pretendard"/>
                <a:cs typeface="Pretendard"/>
              </a:rPr>
              <a:t>호환·수신 측 요구 충족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D06467-8163-39A0-0B9A-1A98533B6978}"/>
              </a:ext>
            </a:extLst>
          </p:cNvPr>
          <p:cNvSpPr>
            <a:spLocks noGrp="1"/>
          </p:cNvSpPr>
          <p:nvPr/>
        </p:nvSpPr>
        <p:spPr>
          <a:xfrm>
            <a:off x="6555127" y="2793808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Pretendard"/>
                <a:ea typeface="Pretendard"/>
                <a:cs typeface="Pretendard"/>
              </a:rPr>
              <a:t>RELIABLE → BEST_EFFORT</a:t>
            </a:r>
          </a:p>
        </p:txBody>
      </p:sp>
      <p:sp>
        <p:nvSpPr>
          <p:cNvPr id="18" name="Content Placeholder 10">
            <a:extLst>
              <a:ext uri="{FF2B5EF4-FFF2-40B4-BE49-F238E27FC236}">
                <a16:creationId xmlns:a16="http://schemas.microsoft.com/office/drawing/2014/main" id="{E61F5831-A6CA-0036-3E5C-283D4EBAFE55}"/>
              </a:ext>
            </a:extLst>
          </p:cNvPr>
          <p:cNvSpPr>
            <a:spLocks noGrp="1"/>
          </p:cNvSpPr>
          <p:nvPr/>
        </p:nvSpPr>
        <p:spPr>
          <a:xfrm>
            <a:off x="706278" y="509493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b="0" i="0" u="none" cap="none" spc="0">
                <a:ln>
                  <a:noFill/>
                </a:ln>
                <a:latin typeface="Pretendard"/>
                <a:ea typeface="Pretendard"/>
                <a:cs typeface="Pretendard"/>
              </a:rPr>
              <a:t>호환·최신값 우선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83300B-2E76-54E3-B3E8-C4CE0DA323BE}"/>
              </a:ext>
            </a:extLst>
          </p:cNvPr>
          <p:cNvSpPr>
            <a:spLocks noGrp="1"/>
          </p:cNvSpPr>
          <p:nvPr/>
        </p:nvSpPr>
        <p:spPr>
          <a:xfrm>
            <a:off x="702967" y="4637848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Pretendard"/>
                <a:ea typeface="Pretendard"/>
                <a:cs typeface="Pretendard"/>
              </a:rPr>
              <a:t>BEST_EFFORT → BEST_EFFORT</a:t>
            </a:r>
          </a:p>
        </p:txBody>
      </p:sp>
      <p:sp>
        <p:nvSpPr>
          <p:cNvPr id="20" name="Content Placeholder 10">
            <a:extLst>
              <a:ext uri="{FF2B5EF4-FFF2-40B4-BE49-F238E27FC236}">
                <a16:creationId xmlns:a16="http://schemas.microsoft.com/office/drawing/2014/main" id="{91E87E4E-34C4-73A3-D9B4-5528035E3F32}"/>
              </a:ext>
            </a:extLst>
          </p:cNvPr>
          <p:cNvSpPr>
            <a:spLocks noGrp="1"/>
          </p:cNvSpPr>
          <p:nvPr/>
        </p:nvSpPr>
        <p:spPr>
          <a:xfrm>
            <a:off x="6558438" y="509493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b="0" i="0" u="none" cap="none" spc="0">
                <a:ln>
                  <a:noFill/>
                </a:ln>
                <a:latin typeface="Pretendard"/>
                <a:ea typeface="Pretendard"/>
                <a:cs typeface="Pretendard"/>
              </a:rPr>
              <a:t>불일치·Topic 데이터 미수신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BBD727-79F1-2502-A083-A18F5A754163}"/>
              </a:ext>
            </a:extLst>
          </p:cNvPr>
          <p:cNvSpPr>
            <a:spLocks noGrp="1"/>
          </p:cNvSpPr>
          <p:nvPr/>
        </p:nvSpPr>
        <p:spPr>
          <a:xfrm>
            <a:off x="6555127" y="4637848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Pretendard"/>
                <a:ea typeface="Pretendard"/>
                <a:cs typeface="Pretendard"/>
              </a:rPr>
              <a:t>BEST_EFFORT → RELIABLE</a:t>
            </a:r>
          </a:p>
        </p:txBody>
      </p:sp>
      <p:sp>
        <p:nvSpPr>
          <p:cNvPr id="3" name="Rounded Rectangle 9">
            <a:extLst>
              <a:ext uri="{FF2B5EF4-FFF2-40B4-BE49-F238E27FC236}">
                <a16:creationId xmlns:a16="http://schemas.microsoft.com/office/drawing/2014/main" id="{50060C77-52B1-F6FC-B1A4-C961670FE2AD}"/>
              </a:ext>
            </a:extLst>
          </p:cNvPr>
          <p:cNvSpPr>
            <a:spLocks noGrp="1"/>
          </p:cNvSpPr>
          <p:nvPr/>
        </p:nvSpPr>
        <p:spPr>
          <a:xfrm>
            <a:off x="499316" y="2553962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4" name="Rounded Rectangle 9">
            <a:extLst>
              <a:ext uri="{FF2B5EF4-FFF2-40B4-BE49-F238E27FC236}">
                <a16:creationId xmlns:a16="http://schemas.microsoft.com/office/drawing/2014/main" id="{1159D27A-1461-523D-7DD5-673A60B66AD8}"/>
              </a:ext>
            </a:extLst>
          </p:cNvPr>
          <p:cNvSpPr>
            <a:spLocks noGrp="1"/>
          </p:cNvSpPr>
          <p:nvPr/>
        </p:nvSpPr>
        <p:spPr>
          <a:xfrm>
            <a:off x="6298499" y="2553962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5" name="Rounded Rectangle 9">
            <a:extLst>
              <a:ext uri="{FF2B5EF4-FFF2-40B4-BE49-F238E27FC236}">
                <a16:creationId xmlns:a16="http://schemas.microsoft.com/office/drawing/2014/main" id="{8D6E1CF7-05C7-0A24-2B00-908E4780C230}"/>
              </a:ext>
            </a:extLst>
          </p:cNvPr>
          <p:cNvSpPr>
            <a:spLocks noGrp="1"/>
          </p:cNvSpPr>
          <p:nvPr/>
        </p:nvSpPr>
        <p:spPr>
          <a:xfrm>
            <a:off x="499316" y="4298613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6" name="Rounded Rectangle 9">
            <a:extLst>
              <a:ext uri="{FF2B5EF4-FFF2-40B4-BE49-F238E27FC236}">
                <a16:creationId xmlns:a16="http://schemas.microsoft.com/office/drawing/2014/main" id="{E8DB49BA-56EA-3432-AE06-A384DAAD1E28}"/>
              </a:ext>
            </a:extLst>
          </p:cNvPr>
          <p:cNvSpPr>
            <a:spLocks noGrp="1"/>
          </p:cNvSpPr>
          <p:nvPr/>
        </p:nvSpPr>
        <p:spPr>
          <a:xfrm>
            <a:off x="6298499" y="4298613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endParaRPr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95353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D6AD4425-62A5-20FE-DA81-DB0262F8E9D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fld id="{CCF91274-D221-1BB4-3BF9-836E3AD31EBE}" type="slidenum">
              <a:rPr>
                <a:latin typeface="Pretendard"/>
                <a:ea typeface="Pretendard"/>
                <a:cs typeface="Pretendard"/>
              </a:rPr>
              <a:t>21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CCB3C549-3412-D9EC-FC96-8C0EA25A4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QoS 불일치·복구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076E58D8-94E3-59EF-6F5D-94479531D945}"/>
              </a:ext>
            </a:extLst>
          </p:cNvPr>
          <p:cNvSpPr>
            <a:spLocks noGrp="1"/>
          </p:cNvSpPr>
          <p:nvPr/>
        </p:nvSpPr>
        <p:spPr>
          <a:xfrm>
            <a:off x="391970" y="1934870"/>
            <a:ext cx="5537200" cy="3619499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Jetson Publisher 기본값 BEST_EFFORT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PC Listener를 RELIABLE로 실행해 불일치 생성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topic info --verbose로 Endpoint QoS 확인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Listener를 BEST_EFFORT로 복구</a:t>
            </a:r>
          </a:p>
        </p:txBody>
      </p:sp>
      <p:sp>
        <p:nvSpPr>
          <p:cNvPr id="5" name="Google Shape;534;p58">
            <a:extLst>
              <a:ext uri="{FF2B5EF4-FFF2-40B4-BE49-F238E27FC236}">
                <a16:creationId xmlns:a16="http://schemas.microsoft.com/office/drawing/2014/main" id="{EC39CC4A-7702-F34C-BFC1-C34643FFFDEE}"/>
              </a:ext>
            </a:extLst>
          </p:cNvPr>
          <p:cNvSpPr>
            <a:spLocks noGrp="1"/>
          </p:cNvSpPr>
          <p:nvPr/>
        </p:nvSpPr>
        <p:spPr>
          <a:xfrm>
            <a:off x="393700" y="1436666"/>
            <a:ext cx="5871672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>
                <a:latin typeface="Pretendard"/>
                <a:ea typeface="Pretendard"/>
                <a:cs typeface="Pretendard"/>
              </a:rPr>
              <a:t>Reliability 불일치 시 Topic 데이터 미수신</a:t>
            </a:r>
          </a:p>
        </p:txBody>
      </p:sp>
      <p:sp>
        <p:nvSpPr>
          <p:cNvPr id="27" name="Content Placeholder 10">
            <a:extLst>
              <a:ext uri="{FF2B5EF4-FFF2-40B4-BE49-F238E27FC236}">
                <a16:creationId xmlns:a16="http://schemas.microsoft.com/office/drawing/2014/main" id="{B4FA777D-1E43-2118-018B-D684DB7EFEF1}"/>
              </a:ext>
            </a:extLst>
          </p:cNvPr>
          <p:cNvSpPr>
            <a:spLocks noGrp="1"/>
          </p:cNvSpPr>
          <p:nvPr/>
        </p:nvSpPr>
        <p:spPr>
          <a:xfrm>
            <a:off x="6648104" y="2184252"/>
            <a:ext cx="501476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b="0" i="0" u="none" cap="none" spc="0">
                <a:ln>
                  <a:noFill/>
                </a:ln>
                <a:latin typeface="Pretendard"/>
                <a:ea typeface="Pretendard"/>
                <a:cs typeface="Pretendard"/>
              </a:rPr>
              <a:t>관절값 출력 없음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2F01BD9-1359-C69B-3F1A-A36534227FFE}"/>
              </a:ext>
            </a:extLst>
          </p:cNvPr>
          <p:cNvSpPr>
            <a:spLocks noGrp="1"/>
          </p:cNvSpPr>
          <p:nvPr/>
        </p:nvSpPr>
        <p:spPr>
          <a:xfrm>
            <a:off x="6644793" y="1813255"/>
            <a:ext cx="5014766" cy="2432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b="0" i="0" u="none" cap="none" spc="0">
                <a:ln>
                  <a:noFill/>
                </a:ln>
                <a:solidFill>
                  <a:srgbClr val="3357B8"/>
                </a:solidFill>
                <a:latin typeface="Pretendard"/>
                <a:ea typeface="Pretendard"/>
                <a:cs typeface="Pretendard"/>
              </a:rPr>
              <a:t>증상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32674159-B6E6-B9EF-D753-5EF1E687140B}"/>
              </a:ext>
            </a:extLst>
          </p:cNvPr>
          <p:cNvSpPr>
            <a:spLocks noGrp="1"/>
          </p:cNvSpPr>
          <p:nvPr/>
        </p:nvSpPr>
        <p:spPr>
          <a:xfrm>
            <a:off x="6648104" y="3693012"/>
            <a:ext cx="501476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b="0" i="0" u="none" cap="none" spc="0">
                <a:ln>
                  <a:noFill/>
                </a:ln>
                <a:latin typeface="Pretendard"/>
                <a:ea typeface="Pretendard"/>
                <a:cs typeface="Pretendard"/>
              </a:rPr>
              <a:t>Reliability 불일치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D84212-7716-6AFC-2CCA-1118E41834EC}"/>
              </a:ext>
            </a:extLst>
          </p:cNvPr>
          <p:cNvSpPr>
            <a:spLocks noGrp="1"/>
          </p:cNvSpPr>
          <p:nvPr/>
        </p:nvSpPr>
        <p:spPr>
          <a:xfrm>
            <a:off x="6644793" y="3322015"/>
            <a:ext cx="5014766" cy="2432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b="0" i="0" u="none" cap="none" spc="0">
                <a:ln>
                  <a:noFill/>
                </a:ln>
                <a:solidFill>
                  <a:srgbClr val="3357B8"/>
                </a:solidFill>
                <a:latin typeface="Pretendard"/>
                <a:ea typeface="Pretendard"/>
                <a:cs typeface="Pretendard"/>
              </a:rPr>
              <a:t>확인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58865802-6967-7210-3371-DEA6828B57A2}"/>
              </a:ext>
            </a:extLst>
          </p:cNvPr>
          <p:cNvSpPr>
            <a:spLocks noGrp="1"/>
          </p:cNvSpPr>
          <p:nvPr/>
        </p:nvSpPr>
        <p:spPr>
          <a:xfrm>
            <a:off x="6648105" y="5201772"/>
            <a:ext cx="501476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b="0" i="0" u="none" cap="none" spc="0">
                <a:ln>
                  <a:noFill/>
                </a:ln>
                <a:latin typeface="Pretendard"/>
                <a:ea typeface="Pretendard"/>
                <a:cs typeface="Pretendard"/>
              </a:rPr>
              <a:t>best_effort 재실행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2FEB2E-B2D7-376B-AFC1-B25E2E37C15B}"/>
              </a:ext>
            </a:extLst>
          </p:cNvPr>
          <p:cNvSpPr>
            <a:spLocks noGrp="1"/>
          </p:cNvSpPr>
          <p:nvPr/>
        </p:nvSpPr>
        <p:spPr>
          <a:xfrm>
            <a:off x="6644794" y="4830775"/>
            <a:ext cx="5014766" cy="2432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b="0" i="0" u="none" cap="none" spc="0">
                <a:ln>
                  <a:noFill/>
                </a:ln>
                <a:solidFill>
                  <a:srgbClr val="3357B8"/>
                </a:solidFill>
                <a:latin typeface="Pretendard"/>
                <a:ea typeface="Pretendard"/>
                <a:cs typeface="Pretendard"/>
              </a:rPr>
              <a:t>복구</a:t>
            </a:r>
          </a:p>
        </p:txBody>
      </p:sp>
      <p:sp>
        <p:nvSpPr>
          <p:cNvPr id="7" name="Rounded Rectangle 1">
            <a:extLst>
              <a:ext uri="{FF2B5EF4-FFF2-40B4-BE49-F238E27FC236}">
                <a16:creationId xmlns:a16="http://schemas.microsoft.com/office/drawing/2014/main" id="{672731C3-3B3D-DFCA-5B87-6A9824F94DC9}"/>
              </a:ext>
            </a:extLst>
          </p:cNvPr>
          <p:cNvSpPr>
            <a:spLocks noGrp="1"/>
          </p:cNvSpPr>
          <p:nvPr/>
        </p:nvSpPr>
        <p:spPr>
          <a:xfrm>
            <a:off x="6405842" y="4542881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1" name="Rounded Rectangle 6">
            <a:extLst>
              <a:ext uri="{FF2B5EF4-FFF2-40B4-BE49-F238E27FC236}">
                <a16:creationId xmlns:a16="http://schemas.microsoft.com/office/drawing/2014/main" id="{975D7694-EF39-E4BA-A934-D6C495CCF4BC}"/>
              </a:ext>
            </a:extLst>
          </p:cNvPr>
          <p:cNvSpPr>
            <a:spLocks noGrp="1"/>
          </p:cNvSpPr>
          <p:nvPr/>
        </p:nvSpPr>
        <p:spPr>
          <a:xfrm>
            <a:off x="6405842" y="3030695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3" name="Rounded Rectangle 9">
            <a:extLst>
              <a:ext uri="{FF2B5EF4-FFF2-40B4-BE49-F238E27FC236}">
                <a16:creationId xmlns:a16="http://schemas.microsoft.com/office/drawing/2014/main" id="{84356975-E5D7-C04B-9BA6-EEC211598B5E}"/>
              </a:ext>
            </a:extLst>
          </p:cNvPr>
          <p:cNvSpPr>
            <a:spLocks noGrp="1"/>
          </p:cNvSpPr>
          <p:nvPr/>
        </p:nvSpPr>
        <p:spPr>
          <a:xfrm>
            <a:off x="6405843" y="1518509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endParaRPr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61403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20853-F43D-C99E-C6AC-5AA441760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3E763C2A-3FF6-1D70-77DC-179FB2D67C7B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fld id="{202359C0-8A7A-196E-DD58-8E6569619F09}" type="slidenum">
              <a:rPr>
                <a:latin typeface="Pretendard"/>
                <a:ea typeface="Pretendard"/>
                <a:cs typeface="Pretendard"/>
              </a:rPr>
              <a:t>22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027C9E49-2D6F-560E-722D-ED2FD4914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1170935"/>
            <a:ext cx="11404600" cy="1797958"/>
          </a:xfrm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lang="en-US" sz="4200" dirty="0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PC</a:t>
            </a:r>
            <a:r>
              <a:rPr lang="ko-KR" altLang="en-US" sz="4200" dirty="0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4200" dirty="0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–</a:t>
            </a:r>
            <a:r>
              <a:rPr lang="ko-KR" altLang="en-US" sz="4200" dirty="0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4200" dirty="0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Jetson</a:t>
            </a:r>
            <a:r>
              <a:rPr lang="ko-KR" altLang="en-US" sz="4200" dirty="0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 통신 연결</a:t>
            </a:r>
            <a:endParaRPr sz="4200" dirty="0">
              <a:solidFill>
                <a:schemeClr val="accent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7B05516B-AA0A-74DC-2087-0C522CFB70AE}"/>
              </a:ext>
            </a:extLst>
          </p:cNvPr>
          <p:cNvSpPr>
            <a:spLocks noGrp="1"/>
          </p:cNvSpPr>
          <p:nvPr/>
        </p:nvSpPr>
        <p:spPr>
          <a:xfrm>
            <a:off x="2549677" y="3297710"/>
            <a:ext cx="7092645" cy="1865909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lang="ko-KR" altLang="en-US" sz="1600" dirty="0"/>
              <a:t>유선 </a:t>
            </a:r>
            <a:r>
              <a:rPr lang="en-US" altLang="ko-KR" sz="1600" dirty="0"/>
              <a:t>Ethernet</a:t>
            </a:r>
            <a:r>
              <a:rPr lang="ko-KR" altLang="en-US" sz="1600" dirty="0"/>
              <a:t>을 통한 </a:t>
            </a:r>
            <a:r>
              <a:rPr lang="en-US" altLang="ko-KR" sz="1600" dirty="0"/>
              <a:t>PC – Jetson </a:t>
            </a:r>
            <a:r>
              <a:rPr lang="ko-KR" altLang="en-US" sz="1600" dirty="0"/>
              <a:t>연결</a:t>
            </a:r>
            <a:endParaRPr sz="1600" dirty="0">
              <a:latin typeface="Pretendard SemiBold"/>
              <a:ea typeface="Pretendard SemiBold"/>
              <a:cs typeface="Pretendard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24648125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D6AD4425-62A5-20FE-DA81-DB0262F8E9D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fld id="{388657AE-30A1-5A7A-6A7F-315D84436430}" type="slidenum">
              <a:rPr>
                <a:latin typeface="Pretendard"/>
                <a:ea typeface="Pretendard"/>
                <a:cs typeface="Pretendard"/>
              </a:rPr>
              <a:t>23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CCB3C549-3412-D9EC-FC96-8C0EA25A4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실습 장비·연결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076E58D8-94E3-59EF-6F5D-94479531D945}"/>
              </a:ext>
            </a:extLst>
          </p:cNvPr>
          <p:cNvSpPr>
            <a:spLocks noGrp="1"/>
          </p:cNvSpPr>
          <p:nvPr/>
        </p:nvSpPr>
        <p:spPr>
          <a:xfrm>
            <a:off x="392429" y="1799797"/>
            <a:ext cx="5537200" cy="3619499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Arm–Jetson: USB Serial /dev/ttyACM0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Jetson–PC: </a:t>
            </a:r>
            <a:r>
              <a:rPr sz="1600" dirty="0" err="1">
                <a:latin typeface="Pretendard"/>
                <a:ea typeface="Pretendard"/>
                <a:cs typeface="Pretendard"/>
              </a:rPr>
              <a:t>유선</a:t>
            </a:r>
            <a:r>
              <a:rPr sz="1600" dirty="0">
                <a:latin typeface="Pretendard"/>
                <a:ea typeface="Pretendard"/>
                <a:cs typeface="Pretendard"/>
              </a:rPr>
              <a:t> Local Network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Windows–WSL2: Mirrored Networking</a:t>
            </a:r>
          </a:p>
        </p:txBody>
      </p:sp>
      <p:sp>
        <p:nvSpPr>
          <p:cNvPr id="5" name="Google Shape;534;p58">
            <a:extLst>
              <a:ext uri="{FF2B5EF4-FFF2-40B4-BE49-F238E27FC236}">
                <a16:creationId xmlns:a16="http://schemas.microsoft.com/office/drawing/2014/main" id="{EC39CC4A-7702-F34C-BFC1-C34643FFFDEE}"/>
              </a:ext>
            </a:extLst>
          </p:cNvPr>
          <p:cNvSpPr>
            <a:spLocks noGrp="1"/>
          </p:cNvSpPr>
          <p:nvPr/>
        </p:nvSpPr>
        <p:spPr>
          <a:xfrm>
            <a:off x="392429" y="938521"/>
            <a:ext cx="6343984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lang="en-US" sz="2000" dirty="0">
                <a:latin typeface="Pretendard"/>
                <a:ea typeface="Pretendard"/>
                <a:cs typeface="Pretendard"/>
              </a:rPr>
              <a:t>Ethernet </a:t>
            </a:r>
            <a:r>
              <a:rPr lang="ko-KR" altLang="en-US" sz="2000" dirty="0">
                <a:latin typeface="Pretendard"/>
                <a:ea typeface="Pretendard"/>
                <a:cs typeface="Pretendard"/>
              </a:rPr>
              <a:t>케이블과</a:t>
            </a:r>
            <a:r>
              <a:rPr lang="en-US" altLang="ko-KR" sz="2000" dirty="0">
                <a:latin typeface="Pretendard"/>
                <a:ea typeface="Pretendard"/>
                <a:cs typeface="Pretendard"/>
              </a:rPr>
              <a:t>, USB-Ethernet adapter</a:t>
            </a:r>
            <a:r>
              <a:rPr lang="ko-KR" altLang="en-US" sz="2000" dirty="0">
                <a:latin typeface="Pretendard"/>
                <a:ea typeface="Pretendard"/>
                <a:cs typeface="Pretendard"/>
              </a:rPr>
              <a:t>를 통한 유선 연결</a:t>
            </a:r>
            <a:endParaRPr sz="2000" dirty="0">
              <a:latin typeface="Pretendard"/>
              <a:ea typeface="Pretendard"/>
              <a:cs typeface="Pretendard"/>
            </a:endParaRPr>
          </a:p>
        </p:txBody>
      </p:sp>
      <p:pic>
        <p:nvPicPr>
          <p:cNvPr id="540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5115" y="3609546"/>
            <a:ext cx="2793248" cy="2645141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3653FE60-4054-2CE0-F0BC-678CC29858A0}"/>
              </a:ext>
            </a:extLst>
          </p:cNvPr>
          <p:cNvGrpSpPr/>
          <p:nvPr/>
        </p:nvGrpSpPr>
        <p:grpSpPr>
          <a:xfrm>
            <a:off x="4733629" y="5163777"/>
            <a:ext cx="3146653" cy="794954"/>
            <a:chOff x="3451224" y="5086970"/>
            <a:chExt cx="3146653" cy="794954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FC6B4DAB-ADBC-392D-7CF9-2704F1A9698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5128" r="39840"/>
            <a:stretch>
              <a:fillRect/>
            </a:stretch>
          </p:blipFill>
          <p:spPr>
            <a:xfrm rot="5400000">
              <a:off x="4907303" y="4191350"/>
              <a:ext cx="794954" cy="2586194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01A06FE0-3AC0-0EA4-7C3B-A0F1257C26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5400000">
              <a:off x="3447631" y="5248022"/>
              <a:ext cx="567644" cy="560458"/>
            </a:xfrm>
            <a:prstGeom prst="rect">
              <a:avLst/>
            </a:prstGeom>
          </p:spPr>
        </p:pic>
      </p:grpSp>
      <p:pic>
        <p:nvPicPr>
          <p:cNvPr id="9" name="그림 8" descr="Pc - Free icons">
            <a:extLst>
              <a:ext uri="{FF2B5EF4-FFF2-40B4-BE49-F238E27FC236}">
                <a16:creationId xmlns:a16="http://schemas.microsoft.com/office/drawing/2014/main" id="{651218B8-7642-298C-5D2F-9381F4D1BF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6007" y="3860716"/>
            <a:ext cx="2393971" cy="2393971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8F8F5F04-9BE6-ACDE-28C2-8A06C184783F}"/>
              </a:ext>
            </a:extLst>
          </p:cNvPr>
          <p:cNvSpPr/>
          <p:nvPr/>
        </p:nvSpPr>
        <p:spPr>
          <a:xfrm>
            <a:off x="3958081" y="5919479"/>
            <a:ext cx="2345546" cy="398435"/>
          </a:xfrm>
          <a:prstGeom prst="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Ethernet </a:t>
            </a:r>
            <a:r>
              <a:rPr lang="ko-KR" altLang="en-US" dirty="0">
                <a:solidFill>
                  <a:srgbClr val="FF0000"/>
                </a:solidFill>
              </a:rPr>
              <a:t>쪽을 </a:t>
            </a:r>
            <a:r>
              <a:rPr lang="en-US" altLang="ko-KR" dirty="0">
                <a:solidFill>
                  <a:srgbClr val="FF0000"/>
                </a:solidFill>
              </a:rPr>
              <a:t>Jetson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A976A5E-8BAD-0368-1F67-8E31CFCF821A}"/>
              </a:ext>
            </a:extLst>
          </p:cNvPr>
          <p:cNvSpPr/>
          <p:nvPr/>
        </p:nvSpPr>
        <p:spPr>
          <a:xfrm>
            <a:off x="6611049" y="4922801"/>
            <a:ext cx="1700910" cy="398435"/>
          </a:xfrm>
          <a:prstGeom prst="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USB </a:t>
            </a:r>
            <a:r>
              <a:rPr lang="ko-KR" altLang="en-US" dirty="0">
                <a:solidFill>
                  <a:srgbClr val="FF0000"/>
                </a:solidFill>
              </a:rPr>
              <a:t>쪽을 </a:t>
            </a:r>
            <a:r>
              <a:rPr lang="en-US" altLang="ko-KR" dirty="0">
                <a:solidFill>
                  <a:srgbClr val="FF0000"/>
                </a:solidFill>
              </a:rPr>
              <a:t>PC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61403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579B8-B406-408A-5324-D79AE3D9B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92A5C686-8D37-08EB-2737-6C4B393C1864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fld id="{DB7BEEEC-A170-5376-2B6E-CB54687B0CB1}" type="slidenum">
              <a:rPr>
                <a:latin typeface="Pretendard"/>
                <a:ea typeface="Pretendard"/>
                <a:cs typeface="Pretendard"/>
              </a:rPr>
              <a:t>24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C1D44E1F-88DA-E891-1572-A7FBBEE57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lang="en-US" dirty="0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Jetson</a:t>
            </a:r>
            <a:endParaRPr dirty="0">
              <a:solidFill>
                <a:schemeClr val="accent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6DDEB358-AB0F-B444-C766-85C30C3384D0}"/>
              </a:ext>
            </a:extLst>
          </p:cNvPr>
          <p:cNvSpPr txBox="1">
            <a:spLocks/>
          </p:cNvSpPr>
          <p:nvPr/>
        </p:nvSpPr>
        <p:spPr>
          <a:xfrm>
            <a:off x="391970" y="1159020"/>
            <a:ext cx="7766785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342900" indent="-3429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defRPr>
                <a:latin typeface="Pretendard"/>
                <a:ea typeface="Pretendard"/>
                <a:cs typeface="Pretendard"/>
              </a:defRPr>
            </a:pPr>
            <a:r>
              <a:rPr lang="ko-KR" altLang="en-US" sz="2000" dirty="0"/>
              <a:t>설정</a:t>
            </a:r>
            <a:r>
              <a:rPr lang="en-US" altLang="ko-KR" sz="2000" dirty="0"/>
              <a:t>(</a:t>
            </a:r>
            <a:r>
              <a:rPr lang="ko-KR" altLang="en-US" sz="2000" dirty="0"/>
              <a:t>키보드의 </a:t>
            </a:r>
            <a:r>
              <a:rPr lang="en-US" altLang="ko-KR" sz="2000" dirty="0"/>
              <a:t>window </a:t>
            </a:r>
            <a:r>
              <a:rPr lang="ko-KR" altLang="en-US" sz="2000" dirty="0"/>
              <a:t>키 </a:t>
            </a:r>
            <a:r>
              <a:rPr lang="en-US" altLang="ko-KR" sz="2000" dirty="0"/>
              <a:t>-&gt; “setting” </a:t>
            </a:r>
            <a:r>
              <a:rPr lang="ko-KR" altLang="en-US" sz="2000" dirty="0"/>
              <a:t>검색</a:t>
            </a:r>
            <a:r>
              <a:rPr lang="en-US" altLang="ko-KR" sz="2000" dirty="0"/>
              <a:t>)</a:t>
            </a:r>
          </a:p>
          <a:p>
            <a:pPr marL="342900" indent="-3429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defRPr>
                <a:latin typeface="Pretendard"/>
                <a:ea typeface="Pretendard"/>
                <a:cs typeface="Pretendard"/>
              </a:defRPr>
            </a:pPr>
            <a:r>
              <a:rPr lang="en-US" altLang="ko-KR" sz="2000" dirty="0"/>
              <a:t>Network</a:t>
            </a:r>
            <a:r>
              <a:rPr lang="ko-KR" altLang="en-US" sz="2000" dirty="0"/>
              <a:t> </a:t>
            </a:r>
            <a:r>
              <a:rPr lang="en-US" altLang="ko-KR" sz="2000" dirty="0"/>
              <a:t>-&gt; Wired -&gt; </a:t>
            </a:r>
            <a:r>
              <a:rPr lang="ko-KR" altLang="en-US" sz="2000" dirty="0"/>
              <a:t>설정 버튼</a:t>
            </a:r>
            <a:endParaRPr lang="en-US" altLang="ko-KR" sz="2000" dirty="0"/>
          </a:p>
          <a:p>
            <a:pPr marL="342900" indent="-3429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defRPr>
                <a:latin typeface="Pretendard"/>
                <a:ea typeface="Pretendard"/>
                <a:cs typeface="Pretendard"/>
              </a:defRPr>
            </a:pPr>
            <a:r>
              <a:rPr lang="en-US" altLang="ko-KR" sz="2000" dirty="0"/>
              <a:t>IPv4 -&gt; Manual </a:t>
            </a:r>
            <a:r>
              <a:rPr lang="ko-KR" altLang="en-US" sz="2000" dirty="0"/>
              <a:t>선택</a:t>
            </a:r>
            <a:endParaRPr lang="en-US" altLang="ko-KR" sz="2000" dirty="0"/>
          </a:p>
          <a:p>
            <a:pPr marL="971550" lvl="1" indent="-514350" latinLnBrk="0">
              <a:buFont typeface="+mj-lt"/>
              <a:buAutoNum type="arabicPeriod"/>
            </a:pPr>
            <a:r>
              <a:rPr lang="en-US" altLang="ko-KR" sz="1600" dirty="0"/>
              <a:t>Address</a:t>
            </a:r>
            <a:r>
              <a:rPr lang="ko-KR" altLang="en-US" sz="1600" dirty="0"/>
              <a:t>에 임의의 주소 입력</a:t>
            </a:r>
            <a:endParaRPr lang="en-US" altLang="ko-KR" sz="1600" dirty="0"/>
          </a:p>
          <a:p>
            <a:pPr marL="971550" lvl="1" indent="-514350" latinLnBrk="0">
              <a:buFont typeface="+mj-lt"/>
              <a:buAutoNum type="arabicPeriod"/>
            </a:pPr>
            <a:r>
              <a:rPr lang="en-US" altLang="ko-KR" sz="1600" dirty="0"/>
              <a:t>Netmask</a:t>
            </a:r>
            <a:r>
              <a:rPr lang="ko-KR" altLang="en-US" sz="1600" dirty="0"/>
              <a:t>에  </a:t>
            </a:r>
            <a:r>
              <a:rPr lang="en-US" altLang="ko-KR" sz="1600" dirty="0"/>
              <a:t>255.255.255.0 </a:t>
            </a:r>
            <a:r>
              <a:rPr lang="ko-KR" altLang="en-US" sz="1600" dirty="0"/>
              <a:t>입력</a:t>
            </a:r>
            <a:endParaRPr lang="en-US" altLang="ko-KR" sz="1600" dirty="0"/>
          </a:p>
          <a:p>
            <a:pPr marL="971550" lvl="1" indent="-514350" latinLnBrk="0">
              <a:buFont typeface="+mj-lt"/>
              <a:buAutoNum type="arabicPeriod"/>
            </a:pPr>
            <a:r>
              <a:rPr lang="en-US" altLang="ko-KR" sz="1600" dirty="0"/>
              <a:t>Gateway, DNS</a:t>
            </a:r>
            <a:r>
              <a:rPr lang="ko-KR" altLang="en-US" sz="1600" dirty="0"/>
              <a:t> 는 공란으로</a:t>
            </a:r>
            <a:endParaRPr lang="en-US" altLang="ko-KR" sz="1600" dirty="0"/>
          </a:p>
          <a:p>
            <a:pPr marL="971550" lvl="1" indent="-514350" latinLnBrk="0">
              <a:buFont typeface="+mj-lt"/>
              <a:buAutoNum type="arabicPeriod"/>
            </a:pPr>
            <a:r>
              <a:rPr lang="en-US" altLang="ko-KR" sz="1600" dirty="0"/>
              <a:t>Apply</a:t>
            </a:r>
          </a:p>
          <a:p>
            <a:pPr marL="514350" indent="-514350" latinLnBrk="0">
              <a:buFont typeface="+mj-lt"/>
              <a:buAutoNum type="arabicPeriod"/>
            </a:pPr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347DDC4-2982-BE86-668F-21CE983C05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286" y="856791"/>
            <a:ext cx="5526446" cy="4653567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E6644C4B-4E42-185F-F19A-223006B2F2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8056" y="3135949"/>
            <a:ext cx="4799637" cy="3561755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3D4247B2-D138-EFFE-F49A-3756B1DE8A2F}"/>
              </a:ext>
            </a:extLst>
          </p:cNvPr>
          <p:cNvSpPr/>
          <p:nvPr/>
        </p:nvSpPr>
        <p:spPr>
          <a:xfrm>
            <a:off x="10006191" y="1613961"/>
            <a:ext cx="346509" cy="308009"/>
          </a:xfrm>
          <a:prstGeom prst="rect">
            <a:avLst/>
          </a:prstGeom>
          <a:noFill/>
          <a:ln w="57150">
            <a:solidFill>
              <a:srgbClr val="4767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5A8973D-0809-4E37-B59D-DC4C785543C6}"/>
              </a:ext>
            </a:extLst>
          </p:cNvPr>
          <p:cNvSpPr/>
          <p:nvPr/>
        </p:nvSpPr>
        <p:spPr>
          <a:xfrm>
            <a:off x="8692883" y="4324350"/>
            <a:ext cx="679718" cy="229806"/>
          </a:xfrm>
          <a:prstGeom prst="rect">
            <a:avLst/>
          </a:prstGeom>
          <a:noFill/>
          <a:ln w="57150">
            <a:solidFill>
              <a:srgbClr val="4767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28BEED7-192B-E333-0C52-66D4CDB47353}"/>
              </a:ext>
            </a:extLst>
          </p:cNvPr>
          <p:cNvSpPr/>
          <p:nvPr/>
        </p:nvSpPr>
        <p:spPr>
          <a:xfrm>
            <a:off x="7715250" y="5073779"/>
            <a:ext cx="4083048" cy="517395"/>
          </a:xfrm>
          <a:prstGeom prst="rect">
            <a:avLst/>
          </a:prstGeom>
          <a:noFill/>
          <a:ln w="57150">
            <a:solidFill>
              <a:srgbClr val="4767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EE3DE04-6CF0-A447-EB88-817679936121}"/>
              </a:ext>
            </a:extLst>
          </p:cNvPr>
          <p:cNvSpPr/>
          <p:nvPr/>
        </p:nvSpPr>
        <p:spPr>
          <a:xfrm>
            <a:off x="11197957" y="3295650"/>
            <a:ext cx="794018" cy="372414"/>
          </a:xfrm>
          <a:prstGeom prst="rect">
            <a:avLst/>
          </a:prstGeom>
          <a:noFill/>
          <a:ln w="57150">
            <a:solidFill>
              <a:srgbClr val="4767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85371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44B124-6799-F2AF-581F-1751EC77E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accent1"/>
                </a:solidFill>
              </a:rPr>
              <a:t>Window</a:t>
            </a:r>
            <a:endParaRPr lang="ko-KR" altLang="en-US" dirty="0">
              <a:solidFill>
                <a:schemeClr val="accent1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2EA511-45D4-5DE4-746A-6988F45112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211176"/>
            <a:ext cx="11404600" cy="39624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ko-KR" sz="2000" dirty="0"/>
              <a:t>Window</a:t>
            </a:r>
            <a:r>
              <a:rPr lang="ko-KR" altLang="en-US" sz="2000" dirty="0"/>
              <a:t> </a:t>
            </a:r>
            <a:r>
              <a:rPr lang="en-US" altLang="ko-KR" sz="2000" dirty="0"/>
              <a:t>+ R  -&gt; “</a:t>
            </a:r>
            <a:r>
              <a:rPr lang="en-US" altLang="ko-KR" sz="2000" dirty="0" err="1"/>
              <a:t>ncpa.cpl</a:t>
            </a:r>
            <a:r>
              <a:rPr lang="en-US" altLang="ko-KR" sz="2000" dirty="0"/>
              <a:t>”</a:t>
            </a:r>
            <a:r>
              <a:rPr lang="ko-KR" altLang="en-US" sz="2000" dirty="0"/>
              <a:t> 검색</a:t>
            </a:r>
            <a:endParaRPr lang="en-US" altLang="ko-KR" sz="2000" dirty="0"/>
          </a:p>
          <a:p>
            <a:pPr marL="514350" indent="-514350">
              <a:buFont typeface="+mj-lt"/>
              <a:buAutoNum type="arabicPeriod"/>
            </a:pPr>
            <a:r>
              <a:rPr lang="en-US" altLang="ko-KR" sz="2000" dirty="0">
                <a:solidFill>
                  <a:srgbClr val="FF0000"/>
                </a:solidFill>
              </a:rPr>
              <a:t>“USB”</a:t>
            </a:r>
            <a:r>
              <a:rPr lang="ko-KR" altLang="en-US" sz="2000" dirty="0">
                <a:solidFill>
                  <a:srgbClr val="FF0000"/>
                </a:solidFill>
              </a:rPr>
              <a:t>가 포함된 </a:t>
            </a:r>
            <a:r>
              <a:rPr lang="en-US" altLang="ko-KR" sz="2000" dirty="0">
                <a:solidFill>
                  <a:srgbClr val="FF0000"/>
                </a:solidFill>
              </a:rPr>
              <a:t>“</a:t>
            </a:r>
            <a:r>
              <a:rPr lang="ko-KR" altLang="en-US" sz="2000" dirty="0">
                <a:solidFill>
                  <a:srgbClr val="FF0000"/>
                </a:solidFill>
              </a:rPr>
              <a:t>이더넷 선택</a:t>
            </a:r>
            <a:endParaRPr lang="en-US" altLang="ko-KR" sz="2000" dirty="0">
              <a:solidFill>
                <a:srgbClr val="FF0000"/>
              </a:solidFill>
            </a:endParaRPr>
          </a:p>
          <a:p>
            <a:pPr lvl="1"/>
            <a:r>
              <a:rPr lang="ko-KR" altLang="en-US" sz="1600" dirty="0" err="1"/>
              <a:t>우클릭</a:t>
            </a:r>
            <a:r>
              <a:rPr lang="ko-KR" altLang="en-US" sz="1600" dirty="0"/>
              <a:t> </a:t>
            </a:r>
            <a:r>
              <a:rPr lang="en-US" altLang="ko-KR" sz="1600" dirty="0"/>
              <a:t>-&gt; </a:t>
            </a:r>
            <a:r>
              <a:rPr lang="ko-KR" altLang="en-US" sz="1600" dirty="0"/>
              <a:t>속성</a:t>
            </a:r>
            <a:endParaRPr lang="en-US" altLang="ko-KR" sz="16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A769A044-9EDD-51E0-E218-446D78D71B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960" b="67174"/>
          <a:stretch>
            <a:fillRect/>
          </a:stretch>
        </p:blipFill>
        <p:spPr>
          <a:xfrm>
            <a:off x="3124080" y="2827533"/>
            <a:ext cx="9057588" cy="2498332"/>
          </a:xfrm>
          <a:prstGeom prst="rect">
            <a:avLst/>
          </a:prstGeom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A9E742F7-173E-F181-B626-17C0720340E4}"/>
              </a:ext>
            </a:extLst>
          </p:cNvPr>
          <p:cNvSpPr/>
          <p:nvPr/>
        </p:nvSpPr>
        <p:spPr>
          <a:xfrm>
            <a:off x="9965410" y="4633993"/>
            <a:ext cx="1999282" cy="371960"/>
          </a:xfrm>
          <a:prstGeom prst="rect">
            <a:avLst/>
          </a:prstGeom>
          <a:noFill/>
          <a:ln w="57150">
            <a:solidFill>
              <a:srgbClr val="4767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4355AD78-24F8-73EA-4BAE-56831AEF18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183" y="3189351"/>
            <a:ext cx="4691697" cy="2769005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F823466D-8965-BE3C-CD9D-602FEEAFFF7C}"/>
              </a:ext>
            </a:extLst>
          </p:cNvPr>
          <p:cNvSpPr/>
          <p:nvPr/>
        </p:nvSpPr>
        <p:spPr>
          <a:xfrm>
            <a:off x="1638502" y="4499029"/>
            <a:ext cx="903220" cy="398435"/>
          </a:xfrm>
          <a:prstGeom prst="rect">
            <a:avLst/>
          </a:prstGeom>
          <a:noFill/>
          <a:ln w="57150">
            <a:solidFill>
              <a:srgbClr val="4767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10665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2092E-1E91-C606-DD5C-A43DAE3E6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B88531-515E-CB16-C55A-716A7AFB14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391499"/>
            <a:ext cx="6429375" cy="4351338"/>
          </a:xfrm>
        </p:spPr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en-US" altLang="ko-KR" sz="2000" dirty="0"/>
              <a:t>“</a:t>
            </a:r>
            <a:r>
              <a:rPr lang="ko-KR" altLang="en-US" sz="2000" dirty="0"/>
              <a:t>인터넷 프로토콜 버전 </a:t>
            </a:r>
            <a:r>
              <a:rPr lang="en-US" altLang="ko-KR" sz="2000" dirty="0"/>
              <a:t>4(TCP/IPv4)” </a:t>
            </a:r>
            <a:r>
              <a:rPr lang="ko-KR" altLang="en-US" sz="2000" dirty="0"/>
              <a:t>선택 및 속성</a:t>
            </a:r>
            <a:endParaRPr lang="en-US" altLang="ko-KR" sz="2000" dirty="0"/>
          </a:p>
          <a:p>
            <a:pPr marL="514350" indent="-514350">
              <a:buFont typeface="+mj-lt"/>
              <a:buAutoNum type="arabicPeriod" startAt="3"/>
            </a:pPr>
            <a:r>
              <a:rPr lang="en-US" altLang="ko-KR" sz="2000" dirty="0"/>
              <a:t>“</a:t>
            </a:r>
            <a:r>
              <a:rPr lang="ko-KR" altLang="en-US" sz="2000" dirty="0"/>
              <a:t>다음으로 </a:t>
            </a:r>
            <a:r>
              <a:rPr lang="en-US" altLang="ko-KR" sz="2000" dirty="0"/>
              <a:t>IP </a:t>
            </a:r>
            <a:r>
              <a:rPr lang="ko-KR" altLang="en-US" sz="2000" dirty="0"/>
              <a:t>주소 사용</a:t>
            </a:r>
            <a:r>
              <a:rPr lang="en-US" altLang="ko-KR" sz="2000" dirty="0"/>
              <a:t>” </a:t>
            </a:r>
            <a:r>
              <a:rPr lang="ko-KR" altLang="en-US" sz="2000" dirty="0"/>
              <a:t>선택</a:t>
            </a:r>
            <a:endParaRPr lang="en-US" altLang="ko-KR" sz="2000" dirty="0"/>
          </a:p>
          <a:p>
            <a:pPr marL="971550" lvl="1" indent="-514350">
              <a:buFont typeface="+mj-lt"/>
              <a:buAutoNum type="arabicPeriod"/>
            </a:pPr>
            <a:r>
              <a:rPr lang="en-US" altLang="ko-KR" sz="1600" dirty="0"/>
              <a:t>Jetson</a:t>
            </a:r>
            <a:r>
              <a:rPr lang="ko-KR" altLang="en-US" sz="1600" dirty="0"/>
              <a:t>에서 설정한 </a:t>
            </a:r>
            <a:r>
              <a:rPr lang="en-US" altLang="ko-KR" sz="1600" dirty="0"/>
              <a:t>IP</a:t>
            </a:r>
            <a:r>
              <a:rPr lang="ko-KR" altLang="en-US" sz="1600" dirty="0"/>
              <a:t>와 </a:t>
            </a:r>
            <a:r>
              <a:rPr lang="ko-KR" altLang="en-US" sz="1600" b="1" dirty="0">
                <a:solidFill>
                  <a:srgbClr val="FF0000"/>
                </a:solidFill>
              </a:rPr>
              <a:t>마지막 한자리만 다르게 </a:t>
            </a:r>
            <a:r>
              <a:rPr lang="en-US" altLang="ko-KR" sz="1600" b="1" dirty="0">
                <a:solidFill>
                  <a:srgbClr val="FF0000"/>
                </a:solidFill>
              </a:rPr>
              <a:t>IP</a:t>
            </a:r>
            <a:r>
              <a:rPr lang="ko-KR" altLang="en-US" sz="1600" b="1" dirty="0">
                <a:solidFill>
                  <a:srgbClr val="FF0000"/>
                </a:solidFill>
              </a:rPr>
              <a:t>주소 설정</a:t>
            </a:r>
            <a:endParaRPr lang="en-US" altLang="ko-KR" sz="1600" b="1" dirty="0">
              <a:solidFill>
                <a:srgbClr val="FF0000"/>
              </a:solidFill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ko-KR" altLang="en-US" sz="1600" dirty="0" err="1"/>
              <a:t>서브넷</a:t>
            </a:r>
            <a:r>
              <a:rPr lang="ko-KR" altLang="en-US" sz="1600" dirty="0"/>
              <a:t> 마스크 </a:t>
            </a:r>
            <a:r>
              <a:rPr lang="en-US" altLang="ko-KR" sz="1600" dirty="0"/>
              <a:t>255.255.255.0 </a:t>
            </a:r>
            <a:r>
              <a:rPr lang="ko-KR" altLang="en-US" sz="1600" dirty="0"/>
              <a:t>입력</a:t>
            </a:r>
            <a:endParaRPr lang="en-US" altLang="ko-KR" sz="1600" dirty="0"/>
          </a:p>
          <a:p>
            <a:pPr marL="971550" lvl="1" indent="-514350">
              <a:buFont typeface="+mj-lt"/>
              <a:buAutoNum type="arabicPeriod"/>
            </a:pPr>
            <a:r>
              <a:rPr lang="ko-KR" altLang="en-US" sz="1600" dirty="0"/>
              <a:t>게이트웨이</a:t>
            </a:r>
            <a:r>
              <a:rPr lang="en-US" altLang="ko-KR" sz="1600" dirty="0"/>
              <a:t>, DNS </a:t>
            </a:r>
            <a:r>
              <a:rPr lang="ko-KR" altLang="en-US" sz="1600" dirty="0"/>
              <a:t>비워놓기</a:t>
            </a:r>
            <a:endParaRPr lang="en-US" altLang="ko-KR" sz="1600" dirty="0"/>
          </a:p>
          <a:p>
            <a:pPr marL="971550" lvl="1" indent="-514350">
              <a:buFont typeface="+mj-lt"/>
              <a:buAutoNum type="arabicPeriod"/>
            </a:pPr>
            <a:r>
              <a:rPr lang="ko-KR" altLang="en-US" sz="1600" dirty="0"/>
              <a:t>확인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41D5D4B5-CC7E-0308-840C-02416EA4E3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0642" y="2516329"/>
            <a:ext cx="3087058" cy="3908968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34F65D63-72A8-4260-398E-23005EEDC9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1027" y="2516329"/>
            <a:ext cx="3409950" cy="3801336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ED7B5710-83AC-8879-B5A7-0896A779DA96}"/>
              </a:ext>
            </a:extLst>
          </p:cNvPr>
          <p:cNvSpPr/>
          <p:nvPr/>
        </p:nvSpPr>
        <p:spPr>
          <a:xfrm>
            <a:off x="5323969" y="4522188"/>
            <a:ext cx="1888907" cy="318893"/>
          </a:xfrm>
          <a:prstGeom prst="rect">
            <a:avLst/>
          </a:prstGeom>
          <a:noFill/>
          <a:ln w="57150">
            <a:solidFill>
              <a:srgbClr val="4767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08498BB-E744-AAC8-C2EA-7E808AB1CE91}"/>
              </a:ext>
            </a:extLst>
          </p:cNvPr>
          <p:cNvSpPr/>
          <p:nvPr/>
        </p:nvSpPr>
        <p:spPr>
          <a:xfrm>
            <a:off x="7212876" y="5055056"/>
            <a:ext cx="923925" cy="318894"/>
          </a:xfrm>
          <a:prstGeom prst="rect">
            <a:avLst/>
          </a:prstGeom>
          <a:noFill/>
          <a:ln w="57150">
            <a:solidFill>
              <a:srgbClr val="4767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24E4F53-F3FD-34BF-E596-538FA46AEAB0}"/>
              </a:ext>
            </a:extLst>
          </p:cNvPr>
          <p:cNvSpPr/>
          <p:nvPr/>
        </p:nvSpPr>
        <p:spPr>
          <a:xfrm>
            <a:off x="8480153" y="3658032"/>
            <a:ext cx="2838450" cy="708950"/>
          </a:xfrm>
          <a:prstGeom prst="rect">
            <a:avLst/>
          </a:prstGeom>
          <a:noFill/>
          <a:ln w="57150">
            <a:solidFill>
              <a:srgbClr val="4767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76BEF359-D89E-0F36-79C3-EA7EC43B3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/>
          <a:lstStyle/>
          <a:p>
            <a:r>
              <a:rPr lang="en-US" altLang="ko-KR" dirty="0">
                <a:solidFill>
                  <a:schemeClr val="accent1"/>
                </a:solidFill>
              </a:rPr>
              <a:t>Window</a:t>
            </a:r>
            <a:endParaRPr lang="ko-KR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25175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D6AD4425-62A5-20FE-DA81-DB0262F8E9D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fld id="{DB7BEEEC-A170-5376-2B6E-CB54687B0CB1}" type="slidenum">
              <a:rPr>
                <a:latin typeface="Pretendard"/>
                <a:ea typeface="Pretendard"/>
                <a:cs typeface="Pretendard"/>
              </a:rPr>
              <a:t>27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CCB3C549-3412-D9EC-FC96-8C0EA25A4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WSL2 Mirrored Networking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076E58D8-94E3-59EF-6F5D-94479531D945}"/>
              </a:ext>
            </a:extLst>
          </p:cNvPr>
          <p:cNvSpPr>
            <a:spLocks noGrp="1"/>
          </p:cNvSpPr>
          <p:nvPr/>
        </p:nvSpPr>
        <p:spPr>
          <a:xfrm>
            <a:off x="391970" y="1934870"/>
            <a:ext cx="11404598" cy="3619499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342900" indent="-3429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AutoNum type="arabicPeriod"/>
              <a:defRPr>
                <a:latin typeface="Pretendard"/>
                <a:ea typeface="Pretendard"/>
                <a:cs typeface="Pretendard"/>
              </a:defRPr>
            </a:pPr>
            <a:r>
              <a:rPr lang="en-US" altLang="ko-KR" sz="1600" dirty="0" err="1"/>
              <a:t>Powershell</a:t>
            </a:r>
            <a:r>
              <a:rPr lang="en-US" altLang="ko-KR" sz="1600" dirty="0"/>
              <a:t> </a:t>
            </a:r>
            <a:r>
              <a:rPr lang="ko-KR" altLang="en-US" sz="1600" dirty="0"/>
              <a:t>에서   </a:t>
            </a:r>
            <a:r>
              <a:rPr lang="en-US" altLang="ko-KR" sz="1600" dirty="0"/>
              <a:t>`</a:t>
            </a:r>
            <a:r>
              <a:rPr lang="ko-KR" altLang="ko-KR" sz="1600" dirty="0"/>
              <a:t> </a:t>
            </a:r>
            <a:r>
              <a:rPr lang="ko-KR" altLang="ko-KR" sz="1600" dirty="0" err="1"/>
              <a:t>notepad</a:t>
            </a:r>
            <a:r>
              <a:rPr lang="ko-KR" altLang="ko-KR" sz="1600" dirty="0"/>
              <a:t> $</a:t>
            </a:r>
            <a:r>
              <a:rPr lang="ko-KR" altLang="ko-KR" sz="1600" dirty="0" err="1"/>
              <a:t>env:USERPROFILE</a:t>
            </a:r>
            <a:r>
              <a:rPr lang="ko-KR" altLang="ko-KR" sz="1600" dirty="0"/>
              <a:t>\.</a:t>
            </a:r>
            <a:r>
              <a:rPr lang="ko-KR" altLang="ko-KR" sz="1600" dirty="0" err="1"/>
              <a:t>wslconfig</a:t>
            </a:r>
            <a:r>
              <a:rPr lang="en-US" altLang="ko-KR" sz="1600" dirty="0"/>
              <a:t>` </a:t>
            </a:r>
            <a:r>
              <a:rPr lang="ko-KR" altLang="en-US" sz="1600" dirty="0"/>
              <a:t>실행</a:t>
            </a:r>
            <a:endParaRPr lang="en-US" altLang="ko-KR" sz="1600" dirty="0"/>
          </a:p>
          <a:p>
            <a:pPr lvl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>
                <a:latin typeface="Pretendard"/>
                <a:ea typeface="Pretendard"/>
                <a:cs typeface="Pretendard"/>
              </a:defRPr>
            </a:pPr>
            <a:r>
              <a:rPr lang="ko-KR" altLang="en-US" sz="1200" dirty="0"/>
              <a:t>그림과 같이</a:t>
            </a:r>
            <a:r>
              <a:rPr lang="en-US" altLang="ko-KR" sz="1200" dirty="0"/>
              <a:t>, </a:t>
            </a:r>
            <a:r>
              <a:rPr lang="ko-KR" altLang="ko-KR" sz="1200" dirty="0"/>
              <a:t>[wsl2]</a:t>
            </a:r>
            <a:r>
              <a:rPr lang="en-US" altLang="ko-KR" sz="1200" dirty="0"/>
              <a:t> </a:t>
            </a:r>
            <a:r>
              <a:rPr lang="ko-KR" altLang="ko-KR" sz="1200" dirty="0" err="1"/>
              <a:t>networkingMode</a:t>
            </a:r>
            <a:r>
              <a:rPr lang="ko-KR" altLang="ko-KR" sz="1200" dirty="0"/>
              <a:t>=</a:t>
            </a:r>
            <a:r>
              <a:rPr lang="ko-KR" altLang="ko-KR" sz="1200" dirty="0" err="1"/>
              <a:t>mirrored</a:t>
            </a:r>
            <a:r>
              <a:rPr lang="en-US" altLang="ko-KR" sz="1200" dirty="0"/>
              <a:t> </a:t>
            </a:r>
            <a:r>
              <a:rPr lang="ko-KR" altLang="en-US" sz="1200" dirty="0"/>
              <a:t>를 입력 및 저장</a:t>
            </a:r>
            <a:endParaRPr lang="en-US" altLang="ko-KR" sz="1200" dirty="0"/>
          </a:p>
          <a:p>
            <a:pPr marL="342900" indent="-3429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defRPr>
                <a:latin typeface="Pretendard"/>
                <a:ea typeface="Pretendard"/>
                <a:cs typeface="Pretendard"/>
              </a:defRPr>
            </a:pPr>
            <a:r>
              <a:rPr lang="en-US" altLang="ko-KR" sz="1600" dirty="0" err="1"/>
              <a:t>wsl</a:t>
            </a:r>
            <a:r>
              <a:rPr lang="en-US" altLang="ko-KR" sz="1600" dirty="0"/>
              <a:t> --shutdown   </a:t>
            </a:r>
            <a:r>
              <a:rPr lang="ko-KR" altLang="en-US" sz="1600" dirty="0"/>
              <a:t>을 통해 </a:t>
            </a:r>
            <a:r>
              <a:rPr lang="en-US" altLang="ko-KR" sz="1600" dirty="0" err="1"/>
              <a:t>wsl</a:t>
            </a:r>
            <a:r>
              <a:rPr lang="ko-KR" altLang="en-US" sz="1600" dirty="0"/>
              <a:t> 재시작</a:t>
            </a:r>
            <a:endParaRPr lang="en-US" altLang="ko-KR" sz="1600" dirty="0"/>
          </a:p>
          <a:p>
            <a:pPr marL="342900" indent="-3429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defRPr>
                <a:latin typeface="Pretendard"/>
                <a:ea typeface="Pretendard"/>
                <a:cs typeface="Pretendard"/>
              </a:defRPr>
            </a:pPr>
            <a:r>
              <a:rPr lang="ko-KR" altLang="ko-KR" sz="1600" dirty="0" err="1">
                <a:solidFill>
                  <a:srgbClr val="FF0000"/>
                </a:solidFill>
              </a:rPr>
              <a:t>powershell</a:t>
            </a:r>
            <a:r>
              <a:rPr lang="ko-KR" altLang="ko-KR" sz="1600" dirty="0">
                <a:solidFill>
                  <a:srgbClr val="FF0000"/>
                </a:solidFill>
              </a:rPr>
              <a:t> 관리자 모드에서</a:t>
            </a:r>
            <a:r>
              <a:rPr lang="en-US" altLang="ko-KR" sz="1600" dirty="0">
                <a:solidFill>
                  <a:srgbClr val="FF0000"/>
                </a:solidFill>
              </a:rPr>
              <a:t> </a:t>
            </a:r>
            <a:r>
              <a:rPr lang="ko-KR" altLang="en-US" sz="1600" dirty="0">
                <a:solidFill>
                  <a:srgbClr val="FF0000"/>
                </a:solidFill>
              </a:rPr>
              <a:t>다음 명령어 실행</a:t>
            </a:r>
            <a:endParaRPr lang="en-US" altLang="ko-KR" sz="1600" dirty="0">
              <a:solidFill>
                <a:srgbClr val="FF0000"/>
              </a:solidFill>
            </a:endParaRPr>
          </a:p>
          <a:p>
            <a:pPr lvl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>
                <a:latin typeface="Pretendard"/>
                <a:ea typeface="Pretendard"/>
                <a:cs typeface="Pretendard"/>
              </a:defRPr>
            </a:pPr>
            <a:r>
              <a:rPr lang="ko-KR" altLang="ko-KR" sz="1200" dirty="0" err="1"/>
              <a:t>Set-NetFirewallHyperVVMSetting</a:t>
            </a:r>
            <a:r>
              <a:rPr lang="ko-KR" altLang="ko-KR" sz="1200" dirty="0"/>
              <a:t> -</a:t>
            </a:r>
            <a:r>
              <a:rPr lang="ko-KR" altLang="ko-KR" sz="1200" dirty="0" err="1"/>
              <a:t>Name</a:t>
            </a:r>
            <a:r>
              <a:rPr lang="ko-KR" altLang="ko-KR" sz="1200" dirty="0"/>
              <a:t> '{40E0AC32-46A5-438A-A0B2-2B479E8F2E90}' -</a:t>
            </a:r>
            <a:r>
              <a:rPr lang="ko-KR" altLang="ko-KR" sz="1200" dirty="0" err="1"/>
              <a:t>DefaultInboundAction</a:t>
            </a:r>
            <a:r>
              <a:rPr lang="ko-KR" altLang="ko-KR" sz="1200" dirty="0"/>
              <a:t> </a:t>
            </a:r>
            <a:r>
              <a:rPr lang="ko-KR" altLang="ko-KR" sz="1200" dirty="0" err="1"/>
              <a:t>Allow</a:t>
            </a:r>
            <a:endParaRPr lang="en-US" altLang="ko-KR" sz="1200" dirty="0"/>
          </a:p>
          <a:p>
            <a:pPr lvl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>
                <a:latin typeface="Pretendard"/>
                <a:ea typeface="Pretendard"/>
                <a:cs typeface="Pretendard"/>
              </a:defRPr>
            </a:pPr>
            <a:r>
              <a:rPr lang="ko-KR" altLang="ko-KR" sz="1200" dirty="0"/>
              <a:t> </a:t>
            </a:r>
            <a:r>
              <a:rPr lang="ko-KR" altLang="ko-KR" sz="1200" dirty="0" err="1"/>
              <a:t>WSL의</a:t>
            </a:r>
            <a:r>
              <a:rPr lang="ko-KR" altLang="ko-KR" sz="1200" dirty="0"/>
              <a:t> </a:t>
            </a:r>
            <a:r>
              <a:rPr lang="ko-KR" altLang="ko-KR" sz="1200" dirty="0" err="1"/>
              <a:t>inbound</a:t>
            </a:r>
            <a:r>
              <a:rPr lang="ko-KR" altLang="ko-KR" sz="1200" dirty="0"/>
              <a:t> 방화벽을 허용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endParaRPr sz="1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Google Shape;534;p58">
            <a:extLst>
              <a:ext uri="{FF2B5EF4-FFF2-40B4-BE49-F238E27FC236}">
                <a16:creationId xmlns:a16="http://schemas.microsoft.com/office/drawing/2014/main" id="{EC39CC4A-7702-F34C-BFC1-C34643FFFDEE}"/>
              </a:ext>
            </a:extLst>
          </p:cNvPr>
          <p:cNvSpPr>
            <a:spLocks noGrp="1"/>
          </p:cNvSpPr>
          <p:nvPr/>
        </p:nvSpPr>
        <p:spPr>
          <a:xfrm>
            <a:off x="393700" y="1436666"/>
            <a:ext cx="5871672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dirty="0" err="1">
                <a:latin typeface="Pretendard"/>
                <a:ea typeface="Pretendard"/>
                <a:cs typeface="Pretendard"/>
              </a:rPr>
              <a:t>Windows와</a:t>
            </a:r>
            <a:r>
              <a:rPr sz="2000" dirty="0">
                <a:latin typeface="Pretendard"/>
                <a:ea typeface="Pretendard"/>
                <a:cs typeface="Pretendard"/>
              </a:rPr>
              <a:t> WSL2의 Network Interface </a:t>
            </a:r>
            <a:r>
              <a:rPr sz="2000" dirty="0" err="1">
                <a:latin typeface="Pretendard"/>
                <a:ea typeface="Pretendard"/>
                <a:cs typeface="Pretendard"/>
              </a:rPr>
              <a:t>공유</a:t>
            </a:r>
            <a:endParaRPr sz="2000" dirty="0">
              <a:latin typeface="Pretendard"/>
              <a:ea typeface="Pretendard"/>
              <a:cs typeface="Pretendard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7DE8F9EA-AE6E-39C3-8F84-FD18E0FEBE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6855" b="72762"/>
          <a:stretch>
            <a:fillRect/>
          </a:stretch>
        </p:blipFill>
        <p:spPr>
          <a:xfrm>
            <a:off x="7742603" y="4289894"/>
            <a:ext cx="3422703" cy="1626937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F6B4FDBB-00F9-D2E2-0FC8-A289715CD21E}"/>
              </a:ext>
            </a:extLst>
          </p:cNvPr>
          <p:cNvSpPr/>
          <p:nvPr/>
        </p:nvSpPr>
        <p:spPr>
          <a:xfrm>
            <a:off x="7715250" y="5113421"/>
            <a:ext cx="2499561" cy="477753"/>
          </a:xfrm>
          <a:prstGeom prst="rect">
            <a:avLst/>
          </a:prstGeom>
          <a:noFill/>
          <a:ln w="57150">
            <a:solidFill>
              <a:srgbClr val="4767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61403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9991AF-2E29-88BD-B4FA-4F1C73D7A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accent1"/>
                </a:solidFill>
              </a:rPr>
              <a:t>PC-Jetson </a:t>
            </a:r>
            <a:r>
              <a:rPr lang="ko-KR" altLang="en-US" dirty="0">
                <a:solidFill>
                  <a:schemeClr val="accent1"/>
                </a:solidFill>
              </a:rPr>
              <a:t>연결 확인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A585C0-EC48-7EFA-02DE-FB2208F69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391499"/>
            <a:ext cx="11404600" cy="39624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altLang="ko-KR" sz="2000" dirty="0"/>
              <a:t>Window</a:t>
            </a:r>
            <a:r>
              <a:rPr lang="ko-KR" altLang="en-US" sz="2000" dirty="0"/>
              <a:t>에서 </a:t>
            </a:r>
            <a:r>
              <a:rPr lang="en-US" altLang="ko-KR" sz="2000" dirty="0" err="1"/>
              <a:t>powershell</a:t>
            </a:r>
            <a:endParaRPr lang="en-US" altLang="ko-KR" sz="2000" dirty="0"/>
          </a:p>
          <a:p>
            <a:pPr marL="457200" indent="-457200">
              <a:buFont typeface="+mj-lt"/>
              <a:buAutoNum type="arabicPeriod"/>
            </a:pPr>
            <a:r>
              <a:rPr lang="en-US" altLang="ko-KR" sz="2000" dirty="0"/>
              <a:t>“ping &lt;</a:t>
            </a:r>
            <a:r>
              <a:rPr lang="ko-KR" altLang="en-US" sz="2000" dirty="0"/>
              <a:t>설정한 </a:t>
            </a:r>
            <a:r>
              <a:rPr lang="en-US" altLang="ko-KR" sz="2000" dirty="0"/>
              <a:t>jetson</a:t>
            </a:r>
            <a:r>
              <a:rPr lang="ko-KR" altLang="en-US" sz="2000" dirty="0"/>
              <a:t>의 </a:t>
            </a:r>
            <a:r>
              <a:rPr lang="en-US" altLang="ko-KR" sz="2000" dirty="0" err="1"/>
              <a:t>ip</a:t>
            </a:r>
            <a:r>
              <a:rPr lang="en-US" altLang="ko-KR" sz="2000" dirty="0"/>
              <a:t>&gt;” </a:t>
            </a:r>
            <a:r>
              <a:rPr lang="ko-KR" altLang="en-US" sz="2000" dirty="0"/>
              <a:t>입력</a:t>
            </a:r>
            <a:endParaRPr lang="en-US" altLang="ko-KR" sz="2000" dirty="0"/>
          </a:p>
          <a:p>
            <a:pPr lvl="1"/>
            <a:r>
              <a:rPr lang="ko-KR" altLang="en-US" sz="1600" dirty="0"/>
              <a:t>다음 그림처럼 응답이 오면 정상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DB506D2-7295-41D1-02B0-4211244B8E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208" b="42557"/>
          <a:stretch>
            <a:fillRect/>
          </a:stretch>
        </p:blipFill>
        <p:spPr>
          <a:xfrm>
            <a:off x="4568003" y="2665926"/>
            <a:ext cx="7134508" cy="3381527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0773970E-8EFC-F18B-F377-62461CD259EB}"/>
              </a:ext>
            </a:extLst>
          </p:cNvPr>
          <p:cNvSpPr/>
          <p:nvPr/>
        </p:nvSpPr>
        <p:spPr>
          <a:xfrm>
            <a:off x="4568003" y="4003564"/>
            <a:ext cx="4572283" cy="1850062"/>
          </a:xfrm>
          <a:prstGeom prst="rect">
            <a:avLst/>
          </a:prstGeom>
          <a:noFill/>
          <a:ln w="57150">
            <a:solidFill>
              <a:srgbClr val="4767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557F609-56A5-4BE1-280D-B3F0171160ED}"/>
              </a:ext>
            </a:extLst>
          </p:cNvPr>
          <p:cNvSpPr/>
          <p:nvPr/>
        </p:nvSpPr>
        <p:spPr>
          <a:xfrm>
            <a:off x="6770466" y="3643190"/>
            <a:ext cx="1127760" cy="220981"/>
          </a:xfrm>
          <a:prstGeom prst="rect">
            <a:avLst/>
          </a:prstGeom>
          <a:solidFill>
            <a:schemeClr val="tx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11243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1BCA0-ABBD-1462-EF43-96841DA26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4E907467-0112-1BC5-2220-A29ECAF981A2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fld id="{202359C0-8A7A-196E-DD58-8E6569619F09}" type="slidenum">
              <a:rPr>
                <a:latin typeface="Pretendard"/>
                <a:ea typeface="Pretendard"/>
                <a:cs typeface="Pretendard"/>
              </a:rPr>
              <a:t>29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41AB520D-BBDC-3066-AFB9-271981EFE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1170935"/>
            <a:ext cx="11404600" cy="1797958"/>
          </a:xfrm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lang="ko-KR" altLang="en-US" sz="4200" dirty="0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기타 참고사항</a:t>
            </a:r>
            <a:endParaRPr sz="4200" dirty="0">
              <a:solidFill>
                <a:schemeClr val="accent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A5514051-5595-F9F1-8A8E-AE54C1A804FE}"/>
              </a:ext>
            </a:extLst>
          </p:cNvPr>
          <p:cNvSpPr>
            <a:spLocks noGrp="1"/>
          </p:cNvSpPr>
          <p:nvPr/>
        </p:nvSpPr>
        <p:spPr>
          <a:xfrm>
            <a:off x="2549677" y="3297710"/>
            <a:ext cx="7092645" cy="1865909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lang="en-US" sz="1600" dirty="0">
                <a:latin typeface="Pretendard SemiBold"/>
                <a:ea typeface="Pretendard SemiBold"/>
                <a:cs typeface="Pretendard SemiBold"/>
              </a:rPr>
              <a:t>ROS2 commands</a:t>
            </a:r>
            <a:endParaRPr sz="1600" dirty="0">
              <a:latin typeface="Pretendard SemiBold"/>
              <a:ea typeface="Pretendard SemiBold"/>
              <a:cs typeface="Pretendard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24517047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6876E-85B4-8514-5964-9840EEBE6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93D5B9D5-FFF1-A621-CB6F-525EEC6887A8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fld id="{DB7BEEEC-A170-5376-2B6E-CB54687B0CB1}" type="slidenum">
              <a:rPr>
                <a:latin typeface="Pretendard"/>
                <a:ea typeface="Pretendard"/>
                <a:cs typeface="Pretendard"/>
              </a:rPr>
              <a:t>30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6ED08779-FD35-B641-B1B5-8FCB71B35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lang="en-US" altLang="ko-KR" dirty="0">
                <a:solidFill>
                  <a:schemeClr val="accent1"/>
                </a:solidFill>
              </a:rPr>
              <a:t>PC,</a:t>
            </a:r>
            <a:r>
              <a:rPr lang="ko-KR" altLang="en-US" dirty="0">
                <a:solidFill>
                  <a:schemeClr val="accent1"/>
                </a:solidFill>
              </a:rPr>
              <a:t> </a:t>
            </a:r>
            <a:r>
              <a:rPr lang="en-US" altLang="ko-KR" dirty="0">
                <a:solidFill>
                  <a:schemeClr val="accent1"/>
                </a:solidFill>
              </a:rPr>
              <a:t>Jetson </a:t>
            </a:r>
            <a:r>
              <a:rPr lang="ko-KR" altLang="en-US" dirty="0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테이블 배치 가이드</a:t>
            </a:r>
            <a:endParaRPr dirty="0">
              <a:solidFill>
                <a:schemeClr val="accent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CEED4061-4489-19A7-6588-592741689C0A}"/>
              </a:ext>
            </a:extLst>
          </p:cNvPr>
          <p:cNvSpPr>
            <a:spLocks noGrp="1"/>
          </p:cNvSpPr>
          <p:nvPr/>
        </p:nvSpPr>
        <p:spPr>
          <a:xfrm>
            <a:off x="391970" y="1934870"/>
            <a:ext cx="11404598" cy="3619499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>
                <a:latin typeface="Pretendard"/>
                <a:ea typeface="Pretendard"/>
                <a:cs typeface="Pretendard"/>
              </a:defRPr>
            </a:pPr>
            <a:r>
              <a:rPr lang="ko-KR" altLang="en-US" sz="1600" dirty="0">
                <a:latin typeface="Pretendard"/>
                <a:ea typeface="Pretendard"/>
                <a:cs typeface="Pretendard"/>
              </a:rPr>
              <a:t>사진에 보이는 대로 배치 부탁드립니다</a:t>
            </a:r>
            <a:r>
              <a:rPr lang="en-US" altLang="ko-KR" sz="1600" dirty="0">
                <a:latin typeface="Pretendard"/>
                <a:ea typeface="Pretendard"/>
                <a:cs typeface="Pretendard"/>
              </a:rPr>
              <a:t>. (PC</a:t>
            </a:r>
            <a:r>
              <a:rPr lang="ko-KR" altLang="en-US" sz="1600" dirty="0">
                <a:latin typeface="Pretendard"/>
                <a:ea typeface="Pretendard"/>
                <a:cs typeface="Pretendard"/>
              </a:rPr>
              <a:t>는 하단에</a:t>
            </a:r>
            <a:r>
              <a:rPr lang="en-US" altLang="ko-KR" sz="1600" dirty="0">
                <a:latin typeface="Pretendard"/>
                <a:ea typeface="Pretendard"/>
                <a:cs typeface="Pretendard"/>
              </a:rPr>
              <a:t>)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>
                <a:latin typeface="Pretendard"/>
                <a:ea typeface="Pretendard"/>
                <a:cs typeface="Pretendard"/>
              </a:defRPr>
            </a:pPr>
            <a:r>
              <a:rPr lang="ko-KR" altLang="en-US" sz="1600" dirty="0">
                <a:latin typeface="Pretendard"/>
                <a:ea typeface="Pretendard"/>
                <a:cs typeface="Pretendard"/>
              </a:rPr>
              <a:t>조별로 </a:t>
            </a:r>
            <a:r>
              <a:rPr lang="en-US" altLang="ko-KR" sz="1600" dirty="0">
                <a:latin typeface="Pretendard"/>
                <a:ea typeface="Pretendard"/>
                <a:cs typeface="Pretendard"/>
              </a:rPr>
              <a:t>3</a:t>
            </a:r>
            <a:r>
              <a:rPr lang="ko-KR" altLang="en-US" sz="1600" dirty="0">
                <a:latin typeface="Pretendard"/>
                <a:ea typeface="Pretendard"/>
                <a:cs typeface="Pretendard"/>
              </a:rPr>
              <a:t>개의 전원선이 필요</a:t>
            </a:r>
            <a:r>
              <a:rPr lang="en-US" altLang="ko-KR" sz="1600" dirty="0">
                <a:latin typeface="Pretendard"/>
                <a:ea typeface="Pretendard"/>
                <a:cs typeface="Pretendard"/>
              </a:rPr>
              <a:t>(</a:t>
            </a:r>
            <a:r>
              <a:rPr lang="ko-KR" altLang="en-US" sz="1600" dirty="0">
                <a:latin typeface="Pretendard"/>
                <a:ea typeface="Pretendard"/>
                <a:cs typeface="Pretendard"/>
              </a:rPr>
              <a:t>모니터 파워케이블</a:t>
            </a:r>
            <a:r>
              <a:rPr lang="en-US" altLang="ko-KR" sz="1600" dirty="0"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sz="1600" dirty="0">
                <a:latin typeface="Pretendard"/>
                <a:ea typeface="Pretendard"/>
                <a:cs typeface="Pretendard"/>
              </a:rPr>
              <a:t>파워케이블</a:t>
            </a:r>
            <a:r>
              <a:rPr lang="en-US" altLang="ko-KR" sz="1600" dirty="0">
                <a:latin typeface="Pretendard"/>
                <a:ea typeface="Pretendard"/>
                <a:cs typeface="Pretendard"/>
              </a:rPr>
              <a:t>*2) -&gt; </a:t>
            </a:r>
            <a:r>
              <a:rPr lang="ko-KR" altLang="en-US" sz="1600" dirty="0">
                <a:latin typeface="Pretendard"/>
                <a:ea typeface="Pretendard"/>
                <a:cs typeface="Pretendard"/>
              </a:rPr>
              <a:t>모니터 및 로봇암</a:t>
            </a:r>
            <a:r>
              <a:rPr lang="ko-KR" altLang="en-US" sz="1600" dirty="0"/>
              <a:t>을 책상에 올리기 전에 미리 꽂아두면 편합니다</a:t>
            </a:r>
            <a:r>
              <a:rPr lang="en-US" altLang="ko-KR" sz="1600" dirty="0"/>
              <a:t>.</a:t>
            </a:r>
            <a:endParaRPr lang="ko-KR" altLang="en-US" sz="1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Google Shape;534;p58">
            <a:extLst>
              <a:ext uri="{FF2B5EF4-FFF2-40B4-BE49-F238E27FC236}">
                <a16:creationId xmlns:a16="http://schemas.microsoft.com/office/drawing/2014/main" id="{C3E83F5C-2DFB-0A6F-06DC-56E82A0E1AAB}"/>
              </a:ext>
            </a:extLst>
          </p:cNvPr>
          <p:cNvSpPr>
            <a:spLocks noGrp="1"/>
          </p:cNvSpPr>
          <p:nvPr/>
        </p:nvSpPr>
        <p:spPr>
          <a:xfrm>
            <a:off x="393700" y="1436666"/>
            <a:ext cx="7582682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lang="ko-KR" altLang="en-US" sz="2000" b="1" dirty="0">
                <a:latin typeface="Pretendard"/>
                <a:ea typeface="Pretendard"/>
                <a:cs typeface="Pretendard"/>
              </a:rPr>
              <a:t>한 테이블 위에 두 조의 </a:t>
            </a:r>
            <a:r>
              <a:rPr lang="en-US" altLang="ko-KR" sz="2000" b="1" dirty="0">
                <a:latin typeface="Pretendard"/>
                <a:ea typeface="Pretendard"/>
                <a:cs typeface="Pretendard"/>
              </a:rPr>
              <a:t>PC </a:t>
            </a:r>
            <a:r>
              <a:rPr lang="ko-KR" altLang="en-US" sz="2000" b="1" dirty="0">
                <a:latin typeface="Pretendard"/>
                <a:ea typeface="Pretendard"/>
                <a:cs typeface="Pretendard"/>
              </a:rPr>
              <a:t>및 </a:t>
            </a:r>
            <a:r>
              <a:rPr lang="ko-KR" altLang="en-US" sz="2000" b="1" dirty="0"/>
              <a:t>로봇암을 올리기에 공간이 조금 협소 합니다</a:t>
            </a:r>
            <a:r>
              <a:rPr lang="en-US" altLang="ko-KR" sz="2000" b="1" dirty="0"/>
              <a:t>.</a:t>
            </a:r>
            <a:endParaRPr sz="2000" b="1" dirty="0">
              <a:latin typeface="Pretendard"/>
              <a:ea typeface="Pretendard"/>
              <a:cs typeface="Pretendard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EF8A7F62-D9D6-8F3D-A7DF-66E30E85671A}"/>
              </a:ext>
            </a:extLst>
          </p:cNvPr>
          <p:cNvGrpSpPr/>
          <p:nvPr/>
        </p:nvGrpSpPr>
        <p:grpSpPr>
          <a:xfrm>
            <a:off x="1175642" y="2780412"/>
            <a:ext cx="9096264" cy="3619500"/>
            <a:chOff x="1449962" y="2780413"/>
            <a:chExt cx="9096264" cy="3619500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9DA540F8-1FE6-7F0F-9C52-CF4E574237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5657" t="12358"/>
            <a:stretch>
              <a:fillRect/>
            </a:stretch>
          </p:blipFill>
          <p:spPr>
            <a:xfrm>
              <a:off x="1449962" y="2780413"/>
              <a:ext cx="4644307" cy="3619499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0FEEB653-DDEA-7E1F-9B6B-2708AF4A941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9819" t="2359"/>
            <a:stretch>
              <a:fillRect/>
            </a:stretch>
          </p:blipFill>
          <p:spPr>
            <a:xfrm>
              <a:off x="6088966" y="2780414"/>
              <a:ext cx="4457260" cy="36194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549487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CCB27A2-1D9F-6514-0821-C7CC3F67552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fld id="{F3AE1AE4-D79E-94D6-E825-3FC6C21A77D2}" type="slidenum">
              <a:rPr>
                <a:latin typeface="Pretendard"/>
                <a:ea typeface="Pretendard"/>
                <a:cs typeface="Pretendard"/>
              </a:rPr>
              <a:t>31</a:t>
            </a:fld>
            <a:endParaRPr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F7C895E-DE9C-ED5D-5936-715D047B6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755665"/>
          </a:xfrm>
        </p:spPr>
        <p:txBody>
          <a:bodyPr/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dirty="0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ROS 2 CLI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7" name="Google Shape;534;p58">
            <a:extLst>
              <a:ext uri="{FF2B5EF4-FFF2-40B4-BE49-F238E27FC236}">
                <a16:creationId xmlns:a16="http://schemas.microsoft.com/office/drawing/2014/main" id="{208EF3D1-5C57-8D4F-49C8-21BD74420786}"/>
              </a:ext>
            </a:extLst>
          </p:cNvPr>
          <p:cNvSpPr>
            <a:spLocks noGrp="1"/>
          </p:cNvSpPr>
          <p:nvPr/>
        </p:nvSpPr>
        <p:spPr>
          <a:xfrm>
            <a:off x="393700" y="1820543"/>
            <a:ext cx="11404600" cy="2491107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</a:t>
            </a:r>
            <a:r>
              <a:rPr sz="1600" dirty="0" err="1">
                <a:latin typeface="Pretendard"/>
                <a:ea typeface="Pretendard"/>
                <a:cs typeface="Pretendard"/>
              </a:rPr>
              <a:t>환경</a:t>
            </a:r>
            <a:r>
              <a:rPr sz="1600" dirty="0">
                <a:latin typeface="Pretendard"/>
                <a:ea typeface="Pretendard"/>
                <a:cs typeface="Pretendard"/>
              </a:rPr>
              <a:t> — </a:t>
            </a:r>
            <a:r>
              <a:rPr sz="1600" dirty="0" err="1">
                <a:latin typeface="Pretendard"/>
                <a:ea typeface="Pretendard"/>
                <a:cs typeface="Pretendard"/>
              </a:rPr>
              <a:t>printenv·echo</a:t>
            </a:r>
            <a:r>
              <a:rPr sz="1600" dirty="0">
                <a:latin typeface="Pretendard"/>
                <a:ea typeface="Pretendard"/>
                <a:cs typeface="Pretendard"/>
              </a:rPr>
              <a:t> $ROS_DOMAIN_ID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Graph — ros2 node list</a:t>
            </a:r>
            <a:r>
              <a:rPr lang="en-US" sz="1600" dirty="0">
                <a:latin typeface="Pretendard"/>
                <a:ea typeface="Pretendard"/>
                <a:cs typeface="Pretendard"/>
              </a:rPr>
              <a:t> / </a:t>
            </a:r>
            <a:r>
              <a:rPr sz="1600" dirty="0">
                <a:latin typeface="Pretendard"/>
                <a:ea typeface="Pretendard"/>
                <a:cs typeface="Pretendard"/>
              </a:rPr>
              <a:t>ros2 topic list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Topic — ros2 topic info --verbose·ros2 topic </a:t>
            </a:r>
            <a:r>
              <a:rPr sz="1600" dirty="0" err="1">
                <a:latin typeface="Pretendard"/>
                <a:ea typeface="Pretendard"/>
                <a:cs typeface="Pretendard"/>
              </a:rPr>
              <a:t>hz</a:t>
            </a:r>
            <a:endParaRPr sz="16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Service — ros2 service list·ros2 service type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</a:t>
            </a:r>
            <a:r>
              <a:rPr sz="1600" dirty="0" err="1">
                <a:latin typeface="Pretendard"/>
                <a:ea typeface="Pretendard"/>
                <a:cs typeface="Pretendard"/>
              </a:rPr>
              <a:t>호출</a:t>
            </a:r>
            <a:r>
              <a:rPr sz="1600" dirty="0">
                <a:latin typeface="Pretendard"/>
                <a:ea typeface="Pretendard"/>
                <a:cs typeface="Pretendard"/>
              </a:rPr>
              <a:t> — ros2 service call /</a:t>
            </a:r>
            <a:r>
              <a:rPr sz="1600" dirty="0" err="1">
                <a:latin typeface="Pretendard"/>
                <a:ea typeface="Pretendard"/>
                <a:cs typeface="Pretendard"/>
              </a:rPr>
              <a:t>get_joint_state</a:t>
            </a:r>
            <a:r>
              <a:rPr sz="1600" dirty="0">
                <a:latin typeface="Pretendard"/>
                <a:ea typeface="Pretendard"/>
                <a:cs typeface="Pretendard"/>
              </a:rPr>
              <a:t> …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</a:t>
            </a:r>
            <a:r>
              <a:rPr sz="1600" dirty="0" err="1">
                <a:latin typeface="Pretendard"/>
                <a:ea typeface="Pretendard"/>
                <a:cs typeface="Pretendard"/>
              </a:rPr>
              <a:t>탐색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초기화</a:t>
            </a:r>
            <a:r>
              <a:rPr sz="1600" dirty="0">
                <a:latin typeface="Pretendard"/>
                <a:ea typeface="Pretendard"/>
                <a:cs typeface="Pretendard"/>
              </a:rPr>
              <a:t> — ros2 daemon </a:t>
            </a:r>
            <a:r>
              <a:rPr sz="1600" dirty="0" err="1">
                <a:latin typeface="Pretendard"/>
                <a:ea typeface="Pretendard"/>
                <a:cs typeface="Pretendard"/>
              </a:rPr>
              <a:t>stop·start</a:t>
            </a:r>
            <a:endParaRPr sz="1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Google Shape;534;p58">
            <a:extLst>
              <a:ext uri="{FF2B5EF4-FFF2-40B4-BE49-F238E27FC236}">
                <a16:creationId xmlns:a16="http://schemas.microsoft.com/office/drawing/2014/main" id="{93CCF932-231F-7EA0-6520-FFB192B4EFA5}"/>
              </a:ext>
            </a:extLst>
          </p:cNvPr>
          <p:cNvSpPr>
            <a:spLocks noGrp="1"/>
          </p:cNvSpPr>
          <p:nvPr/>
        </p:nvSpPr>
        <p:spPr>
          <a:xfrm>
            <a:off x="393699" y="1318016"/>
            <a:ext cx="11404599" cy="402442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dirty="0" err="1">
                <a:latin typeface="Pretendard"/>
                <a:ea typeface="Pretendard"/>
                <a:cs typeface="Pretendard"/>
              </a:rPr>
              <a:t>질문에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맞는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CLI로</a:t>
            </a:r>
            <a:r>
              <a:rPr sz="2000" dirty="0">
                <a:latin typeface="Pretendard"/>
                <a:ea typeface="Pretendard"/>
                <a:cs typeface="Pretendard"/>
              </a:rPr>
              <a:t> Network </a:t>
            </a:r>
            <a:r>
              <a:rPr sz="2000" dirty="0" err="1">
                <a:latin typeface="Pretendard"/>
                <a:ea typeface="Pretendard"/>
                <a:cs typeface="Pretendard"/>
              </a:rPr>
              <a:t>Graph와</a:t>
            </a:r>
            <a:r>
              <a:rPr sz="2000" dirty="0">
                <a:latin typeface="Pretendard"/>
                <a:ea typeface="Pretendard"/>
                <a:cs typeface="Pretendard"/>
              </a:rPr>
              <a:t> Endpoint </a:t>
            </a:r>
            <a:r>
              <a:rPr sz="2000" dirty="0" err="1">
                <a:latin typeface="Pretendard"/>
                <a:ea typeface="Pretendard"/>
                <a:cs typeface="Pretendard"/>
              </a:rPr>
              <a:t>상태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확인</a:t>
            </a:r>
            <a:endParaRPr sz="2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" name="Google Shape;534;p58">
            <a:extLst>
              <a:ext uri="{FF2B5EF4-FFF2-40B4-BE49-F238E27FC236}">
                <a16:creationId xmlns:a16="http://schemas.microsoft.com/office/drawing/2014/main" id="{37F05175-EA8C-972E-4B39-B1363617A24D}"/>
              </a:ext>
            </a:extLst>
          </p:cNvPr>
          <p:cNvSpPr>
            <a:spLocks noGrp="1"/>
          </p:cNvSpPr>
          <p:nvPr/>
        </p:nvSpPr>
        <p:spPr>
          <a:xfrm>
            <a:off x="393699" y="5338762"/>
            <a:ext cx="11404599" cy="1097207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>
                <a:latin typeface="Pretendard"/>
                <a:ea typeface="Pretendard"/>
                <a:cs typeface="Pretendard"/>
              </a:defRPr>
            </a:pPr>
            <a:r>
              <a:rPr lang="en-US" sz="2000" dirty="0">
                <a:latin typeface="Pretendard"/>
                <a:ea typeface="Pretendard"/>
                <a:cs typeface="Pretendard"/>
              </a:rPr>
              <a:t>WSL 2 + R</a:t>
            </a:r>
            <a:r>
              <a:rPr lang="en-US" sz="2000" dirty="0"/>
              <a:t>OS2 Humble </a:t>
            </a:r>
            <a:r>
              <a:rPr lang="ko-KR" altLang="en-US" sz="2000" dirty="0"/>
              <a:t>조합에서  </a:t>
            </a:r>
            <a:r>
              <a:rPr lang="en-US" altLang="ko-KR" sz="2000" dirty="0" err="1"/>
              <a:t>ros</a:t>
            </a:r>
            <a:r>
              <a:rPr lang="en-US" altLang="ko-KR" sz="2000" dirty="0"/>
              <a:t> </a:t>
            </a:r>
            <a:r>
              <a:rPr lang="ko-KR" altLang="en-US" sz="2000" dirty="0"/>
              <a:t>관련 환경변수를 변경하면</a:t>
            </a:r>
            <a:r>
              <a:rPr lang="en-US" altLang="ko-KR" sz="2000" dirty="0"/>
              <a:t>, </a:t>
            </a:r>
            <a:r>
              <a:rPr lang="en-US" altLang="ko-KR" sz="2000" dirty="0" err="1"/>
              <a:t>ros</a:t>
            </a:r>
            <a:r>
              <a:rPr lang="ko-KR" altLang="en-US" sz="2000" dirty="0"/>
              <a:t> </a:t>
            </a:r>
            <a:r>
              <a:rPr lang="en-US" altLang="ko-KR" sz="2000" dirty="0"/>
              <a:t>daemon</a:t>
            </a:r>
            <a:r>
              <a:rPr lang="ko-KR" altLang="en-US" sz="2000" dirty="0"/>
              <a:t>이 동작하지 않는 오류가 있음</a:t>
            </a:r>
            <a:endParaRPr lang="en-US" altLang="ko-KR" sz="2000" dirty="0"/>
          </a:p>
          <a:p>
            <a:pPr lvl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>
                <a:latin typeface="Pretendard"/>
                <a:ea typeface="Pretendard"/>
                <a:cs typeface="Pretendard"/>
              </a:defRPr>
            </a:pPr>
            <a:r>
              <a:rPr lang="ko-KR" altLang="en-US" sz="1600" dirty="0">
                <a:solidFill>
                  <a:srgbClr val="FF0000"/>
                </a:solidFill>
              </a:rPr>
              <a:t>환경변수 변경 후</a:t>
            </a:r>
            <a:r>
              <a:rPr lang="en-US" altLang="ko-KR" sz="1600" dirty="0">
                <a:solidFill>
                  <a:srgbClr val="FF0000"/>
                </a:solidFill>
              </a:rPr>
              <a:t>, ros2 daemon start   </a:t>
            </a:r>
            <a:r>
              <a:rPr lang="ko-KR" altLang="en-US" sz="1600" dirty="0">
                <a:solidFill>
                  <a:srgbClr val="FF0000"/>
                </a:solidFill>
              </a:rPr>
              <a:t>실행</a:t>
            </a:r>
            <a:endParaRPr lang="en-US" altLang="ko-KR" sz="1600" dirty="0">
              <a:solidFill>
                <a:srgbClr val="FF0000"/>
              </a:solidFill>
            </a:endParaRPr>
          </a:p>
          <a:p>
            <a:pPr lvl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>
                <a:latin typeface="Pretendard"/>
                <a:ea typeface="Pretendard"/>
                <a:cs typeface="Pretendard"/>
              </a:defRPr>
            </a:pPr>
            <a:r>
              <a:rPr lang="ko-KR" altLang="en-US" sz="1600" dirty="0">
                <a:solidFill>
                  <a:srgbClr val="FF0000"/>
                </a:solidFill>
              </a:rPr>
              <a:t>또는 </a:t>
            </a:r>
            <a:r>
              <a:rPr lang="en-US" altLang="ko-KR" sz="1600" dirty="0">
                <a:solidFill>
                  <a:srgbClr val="FF0000"/>
                </a:solidFill>
              </a:rPr>
              <a:t>&lt;ros2 command&gt; --no-daemon </a:t>
            </a:r>
            <a:r>
              <a:rPr lang="ko-KR" altLang="en-US" sz="1600" dirty="0">
                <a:solidFill>
                  <a:srgbClr val="FF0000"/>
                </a:solidFill>
              </a:rPr>
              <a:t>으로 실행</a:t>
            </a:r>
            <a:endParaRPr lang="en-US" altLang="ko-KR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61830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F5D028D-B73B-5BFF-0AA5-65F94FB570F9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fld id="{02F15020-66A7-620A-7B7A-C05C4312DEAE}" type="slidenum">
              <a:rPr>
                <a:latin typeface="Pretendard"/>
                <a:ea typeface="Pretendard"/>
                <a:cs typeface="Pretendard"/>
              </a:rPr>
              <a:t>32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D035ED81-B82C-6CFE-FAA7-0911E05CD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1170935"/>
            <a:ext cx="11404600" cy="1797958"/>
          </a:xfrm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4200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실습 1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6730FFED-E57C-67CB-4BAA-568126831AB5}"/>
              </a:ext>
            </a:extLst>
          </p:cNvPr>
          <p:cNvSpPr>
            <a:spLocks noGrp="1"/>
          </p:cNvSpPr>
          <p:nvPr/>
        </p:nvSpPr>
        <p:spPr>
          <a:xfrm>
            <a:off x="2549677" y="3297710"/>
            <a:ext cx="7092645" cy="1865909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PC–Jetson 환경 설정과 원격 Topic 수신</a:t>
            </a:r>
          </a:p>
        </p:txBody>
      </p:sp>
    </p:spTree>
    <p:extLst>
      <p:ext uri="{BB962C8B-B14F-4D97-AF65-F5344CB8AC3E}">
        <p14:creationId xmlns:p14="http://schemas.microsoft.com/office/powerpoint/2010/main" val="3466142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AD38C25-48AC-5A29-D53A-82080FAF926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fld id="{68AD4375-9F50-F53A-6F9F-DD8473067C05}" type="slidenum">
              <a:rPr>
                <a:latin typeface="Pretendard"/>
                <a:ea typeface="Pretendard"/>
                <a:cs typeface="Pretendard"/>
              </a:rPr>
              <a:t>33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33E8FE18-95DE-C7EA-9E95-10B821893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실습 1·환경 준비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B54A841D-1EA0-6181-C778-7C851CA6E64E}"/>
              </a:ext>
            </a:extLst>
          </p:cNvPr>
          <p:cNvSpPr>
            <a:spLocks noGrp="1"/>
          </p:cNvSpPr>
          <p:nvPr/>
        </p:nvSpPr>
        <p:spPr>
          <a:xfrm>
            <a:off x="706278" y="325089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b="0" i="0" u="none" cap="none" spc="0" dirty="0" err="1">
                <a:ln>
                  <a:noFill/>
                </a:ln>
                <a:latin typeface="Pretendard"/>
                <a:ea typeface="Pretendard"/>
                <a:cs typeface="Pretendard"/>
              </a:rPr>
              <a:t>PC·Jetson</a:t>
            </a:r>
            <a:r>
              <a:rPr sz="1600" b="0" i="0" u="none" cap="none" spc="0" dirty="0">
                <a:ln>
                  <a:noFill/>
                </a:ln>
                <a:latin typeface="Pretendard"/>
                <a:ea typeface="Pretendard"/>
                <a:cs typeface="Pretendard"/>
              </a:rPr>
              <a:t> </a:t>
            </a:r>
            <a:r>
              <a:rPr sz="1600" b="0" i="0" u="none" cap="none" spc="0" dirty="0" err="1">
                <a:ln>
                  <a:noFill/>
                </a:ln>
                <a:latin typeface="Pretendard"/>
                <a:ea typeface="Pretendard"/>
                <a:cs typeface="Pretendard"/>
              </a:rPr>
              <a:t>주소·Ping</a:t>
            </a:r>
            <a:r>
              <a:rPr sz="1600" b="0" i="0" u="none" cap="none" spc="0" dirty="0">
                <a:ln>
                  <a:noFill/>
                </a:ln>
                <a:latin typeface="Pretendard"/>
                <a:ea typeface="Pretendard"/>
                <a:cs typeface="Pretendard"/>
              </a:rPr>
              <a:t> </a:t>
            </a:r>
            <a:r>
              <a:rPr sz="1600" b="0" i="0" u="none" cap="none" spc="0" dirty="0" err="1">
                <a:ln>
                  <a:noFill/>
                </a:ln>
                <a:latin typeface="Pretendard"/>
                <a:ea typeface="Pretendard"/>
                <a:cs typeface="Pretendard"/>
              </a:rPr>
              <a:t>확인</a:t>
            </a:r>
            <a:endParaRPr sz="1600" b="0" i="0" u="none" cap="none" spc="0" dirty="0">
              <a:ln>
                <a:noFill/>
              </a:ln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Google Shape;534;p58">
            <a:extLst>
              <a:ext uri="{FF2B5EF4-FFF2-40B4-BE49-F238E27FC236}">
                <a16:creationId xmlns:a16="http://schemas.microsoft.com/office/drawing/2014/main" id="{F393FB38-1005-6250-1642-93C1A76E0B77}"/>
              </a:ext>
            </a:extLst>
          </p:cNvPr>
          <p:cNvSpPr>
            <a:spLocks noGrp="1"/>
          </p:cNvSpPr>
          <p:nvPr/>
        </p:nvSpPr>
        <p:spPr>
          <a:xfrm>
            <a:off x="393700" y="1649094"/>
            <a:ext cx="11404600" cy="634044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상세 명령과 TODO: student/practice.md</a:t>
            </a:r>
          </a:p>
        </p:txBody>
      </p:sp>
      <p:sp>
        <p:nvSpPr>
          <p:cNvPr id="13" name="Google Shape;534;p58">
            <a:extLst>
              <a:ext uri="{FF2B5EF4-FFF2-40B4-BE49-F238E27FC236}">
                <a16:creationId xmlns:a16="http://schemas.microsoft.com/office/drawing/2014/main" id="{A0F4C075-109A-7DDE-18C9-18F128552C24}"/>
              </a:ext>
            </a:extLst>
          </p:cNvPr>
          <p:cNvSpPr>
            <a:spLocks noGrp="1"/>
          </p:cNvSpPr>
          <p:nvPr/>
        </p:nvSpPr>
        <p:spPr>
          <a:xfrm>
            <a:off x="393699" y="1146566"/>
            <a:ext cx="11404599" cy="402442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>
                <a:latin typeface="Pretendard"/>
                <a:ea typeface="Pretendard"/>
                <a:cs typeface="Pretendard"/>
              </a:rPr>
              <a:t>양쪽 장비의 Network·Package·DDS 환경 준비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DCE927-F1A4-A9ED-C839-844BB688547F}"/>
              </a:ext>
            </a:extLst>
          </p:cNvPr>
          <p:cNvSpPr>
            <a:spLocks noGrp="1"/>
          </p:cNvSpPr>
          <p:nvPr/>
        </p:nvSpPr>
        <p:spPr>
          <a:xfrm>
            <a:off x="702967" y="2793808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Pretendard"/>
                <a:ea typeface="Pretendard"/>
                <a:cs typeface="Pretendard"/>
              </a:rPr>
              <a:t>IP·Network</a:t>
            </a:r>
          </a:p>
        </p:txBody>
      </p:sp>
      <p:sp>
        <p:nvSpPr>
          <p:cNvPr id="16" name="Content Placeholder 10">
            <a:extLst>
              <a:ext uri="{FF2B5EF4-FFF2-40B4-BE49-F238E27FC236}">
                <a16:creationId xmlns:a16="http://schemas.microsoft.com/office/drawing/2014/main" id="{B71DDDF3-A6F6-A2D9-7F68-A246AE82F73A}"/>
              </a:ext>
            </a:extLst>
          </p:cNvPr>
          <p:cNvSpPr>
            <a:spLocks noGrp="1"/>
          </p:cNvSpPr>
          <p:nvPr/>
        </p:nvSpPr>
        <p:spPr>
          <a:xfrm>
            <a:off x="6558438" y="325089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b="0" i="0" u="none" cap="none" spc="0">
                <a:ln>
                  <a:noFill/>
                </a:ln>
                <a:latin typeface="Pretendard"/>
                <a:ea typeface="Pretendard"/>
                <a:cs typeface="Pretendard"/>
              </a:rPr>
              <a:t>동일 Source·제공 File 배치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D06467-8163-39A0-0B9A-1A98533B6978}"/>
              </a:ext>
            </a:extLst>
          </p:cNvPr>
          <p:cNvSpPr>
            <a:spLocks noGrp="1"/>
          </p:cNvSpPr>
          <p:nvPr/>
        </p:nvSpPr>
        <p:spPr>
          <a:xfrm>
            <a:off x="6555127" y="2793808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Pretendard"/>
                <a:ea typeface="Pretendard"/>
                <a:cs typeface="Pretendard"/>
              </a:rPr>
              <a:t>Package 준비</a:t>
            </a:r>
          </a:p>
        </p:txBody>
      </p:sp>
      <p:sp>
        <p:nvSpPr>
          <p:cNvPr id="18" name="Content Placeholder 10">
            <a:extLst>
              <a:ext uri="{FF2B5EF4-FFF2-40B4-BE49-F238E27FC236}">
                <a16:creationId xmlns:a16="http://schemas.microsoft.com/office/drawing/2014/main" id="{E61F5831-A6CA-0036-3E5C-283D4EBAFE55}"/>
              </a:ext>
            </a:extLst>
          </p:cNvPr>
          <p:cNvSpPr>
            <a:spLocks noGrp="1"/>
          </p:cNvSpPr>
          <p:nvPr/>
        </p:nvSpPr>
        <p:spPr>
          <a:xfrm>
            <a:off x="706278" y="509493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b="0" i="0" u="none" cap="none" spc="0">
                <a:ln>
                  <a:noFill/>
                </a:ln>
                <a:latin typeface="Pretendard"/>
                <a:ea typeface="Pretendard"/>
                <a:cs typeface="Pretendard"/>
              </a:rPr>
              <a:t>setup.py 등록·양쪽 colcon build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83300B-2E76-54E3-B3E8-C4CE0DA323BE}"/>
              </a:ext>
            </a:extLst>
          </p:cNvPr>
          <p:cNvSpPr>
            <a:spLocks noGrp="1"/>
          </p:cNvSpPr>
          <p:nvPr/>
        </p:nvSpPr>
        <p:spPr>
          <a:xfrm>
            <a:off x="702967" y="4637848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Pretendard"/>
                <a:ea typeface="Pretendard"/>
                <a:cs typeface="Pretendard"/>
              </a:rPr>
              <a:t>Build·Source</a:t>
            </a:r>
          </a:p>
        </p:txBody>
      </p:sp>
      <p:sp>
        <p:nvSpPr>
          <p:cNvPr id="20" name="Content Placeholder 10">
            <a:extLst>
              <a:ext uri="{FF2B5EF4-FFF2-40B4-BE49-F238E27FC236}">
                <a16:creationId xmlns:a16="http://schemas.microsoft.com/office/drawing/2014/main" id="{91E87E4E-34C4-73A3-D9B4-5528035E3F32}"/>
              </a:ext>
            </a:extLst>
          </p:cNvPr>
          <p:cNvSpPr>
            <a:spLocks noGrp="1"/>
          </p:cNvSpPr>
          <p:nvPr/>
        </p:nvSpPr>
        <p:spPr>
          <a:xfrm>
            <a:off x="6558438" y="509493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b="0" i="0" u="none" cap="none" spc="0">
                <a:ln>
                  <a:noFill/>
                </a:ln>
                <a:latin typeface="Pretendard"/>
                <a:ea typeface="Pretendard"/>
                <a:cs typeface="Pretendard"/>
              </a:rPr>
              <a:t>Domain 30·Localhost 0·Fast DDS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BBD727-79F1-2502-A083-A18F5A754163}"/>
              </a:ext>
            </a:extLst>
          </p:cNvPr>
          <p:cNvSpPr>
            <a:spLocks noGrp="1"/>
          </p:cNvSpPr>
          <p:nvPr/>
        </p:nvSpPr>
        <p:spPr>
          <a:xfrm>
            <a:off x="6555127" y="4637848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Pretendard"/>
                <a:ea typeface="Pretendard"/>
                <a:cs typeface="Pretendard"/>
              </a:rPr>
              <a:t>DDS 환경</a:t>
            </a:r>
          </a:p>
        </p:txBody>
      </p:sp>
      <p:sp>
        <p:nvSpPr>
          <p:cNvPr id="3" name="Rounded Rectangle 9">
            <a:extLst>
              <a:ext uri="{FF2B5EF4-FFF2-40B4-BE49-F238E27FC236}">
                <a16:creationId xmlns:a16="http://schemas.microsoft.com/office/drawing/2014/main" id="{50060C77-52B1-F6FC-B1A4-C961670FE2AD}"/>
              </a:ext>
            </a:extLst>
          </p:cNvPr>
          <p:cNvSpPr>
            <a:spLocks noGrp="1"/>
          </p:cNvSpPr>
          <p:nvPr/>
        </p:nvSpPr>
        <p:spPr>
          <a:xfrm>
            <a:off x="499316" y="2553962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4" name="Rounded Rectangle 9">
            <a:extLst>
              <a:ext uri="{FF2B5EF4-FFF2-40B4-BE49-F238E27FC236}">
                <a16:creationId xmlns:a16="http://schemas.microsoft.com/office/drawing/2014/main" id="{1159D27A-1461-523D-7DD5-673A60B66AD8}"/>
              </a:ext>
            </a:extLst>
          </p:cNvPr>
          <p:cNvSpPr>
            <a:spLocks noGrp="1"/>
          </p:cNvSpPr>
          <p:nvPr/>
        </p:nvSpPr>
        <p:spPr>
          <a:xfrm>
            <a:off x="6298499" y="2553962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5" name="Rounded Rectangle 9">
            <a:extLst>
              <a:ext uri="{FF2B5EF4-FFF2-40B4-BE49-F238E27FC236}">
                <a16:creationId xmlns:a16="http://schemas.microsoft.com/office/drawing/2014/main" id="{8D6E1CF7-05C7-0A24-2B00-908E4780C230}"/>
              </a:ext>
            </a:extLst>
          </p:cNvPr>
          <p:cNvSpPr>
            <a:spLocks noGrp="1"/>
          </p:cNvSpPr>
          <p:nvPr/>
        </p:nvSpPr>
        <p:spPr>
          <a:xfrm>
            <a:off x="499316" y="4298613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6" name="Rounded Rectangle 9">
            <a:extLst>
              <a:ext uri="{FF2B5EF4-FFF2-40B4-BE49-F238E27FC236}">
                <a16:creationId xmlns:a16="http://schemas.microsoft.com/office/drawing/2014/main" id="{E8DB49BA-56EA-3432-AE06-A384DAAD1E28}"/>
              </a:ext>
            </a:extLst>
          </p:cNvPr>
          <p:cNvSpPr>
            <a:spLocks noGrp="1"/>
          </p:cNvSpPr>
          <p:nvPr/>
        </p:nvSpPr>
        <p:spPr>
          <a:xfrm>
            <a:off x="6298499" y="4298613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endParaRPr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95353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208474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b="1" dirty="0" err="1">
                <a:latin typeface="Pretendard"/>
                <a:ea typeface="Pretendard"/>
                <a:cs typeface="Pretendard"/>
              </a:rPr>
              <a:t>수행</a:t>
            </a:r>
            <a:r>
              <a:rPr sz="2000" b="1" dirty="0"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latin typeface="Pretendard"/>
                <a:ea typeface="Pretendard"/>
                <a:cs typeface="Pretendard"/>
              </a:rPr>
              <a:t>항목</a:t>
            </a:r>
            <a:endParaRPr sz="2000" b="1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endParaRPr sz="14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dirty="0">
                <a:latin typeface="Pretendard"/>
                <a:ea typeface="Pretendard"/>
                <a:cs typeface="Pretendard"/>
              </a:rPr>
              <a:t>• Listener Subscription TODO </a:t>
            </a:r>
            <a:r>
              <a:rPr sz="1400" dirty="0" err="1">
                <a:latin typeface="Pretendard"/>
                <a:ea typeface="Pretendard"/>
                <a:cs typeface="Pretendard"/>
              </a:rPr>
              <a:t>완성</a:t>
            </a:r>
            <a:endParaRPr sz="14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dirty="0">
                <a:latin typeface="Pretendard"/>
                <a:ea typeface="Pretendard"/>
                <a:cs typeface="Pretendard"/>
              </a:rPr>
              <a:t>• Jetson Publisher </a:t>
            </a:r>
            <a:r>
              <a:rPr sz="1400" dirty="0" err="1">
                <a:latin typeface="Pretendard"/>
                <a:ea typeface="Pretendard"/>
                <a:cs typeface="Pretendard"/>
              </a:rPr>
              <a:t>실행</a:t>
            </a:r>
            <a:endParaRPr sz="14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dirty="0">
                <a:latin typeface="Pretendard"/>
                <a:ea typeface="Pretendard"/>
                <a:cs typeface="Pretendard"/>
              </a:rPr>
              <a:t>• WSL /</a:t>
            </a:r>
            <a:r>
              <a:rPr sz="1400" dirty="0" err="1">
                <a:latin typeface="Pretendard"/>
                <a:ea typeface="Pretendard"/>
                <a:cs typeface="Pretendard"/>
              </a:rPr>
              <a:t>joint_states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수신</a:t>
            </a:r>
            <a:endParaRPr sz="14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dirty="0">
                <a:latin typeface="Pretendard"/>
                <a:ea typeface="Pretendard"/>
                <a:cs typeface="Pretendard"/>
              </a:rPr>
              <a:t>• QoS RELIABLE </a:t>
            </a:r>
            <a:r>
              <a:rPr sz="1400" dirty="0" err="1">
                <a:latin typeface="Pretendard"/>
                <a:ea typeface="Pretendard"/>
                <a:cs typeface="Pretendard"/>
              </a:rPr>
              <a:t>불일치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생성</a:t>
            </a:r>
            <a:endParaRPr sz="14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dirty="0">
                <a:latin typeface="Pretendard"/>
                <a:ea typeface="Pretendard"/>
                <a:cs typeface="Pretendard"/>
              </a:rPr>
              <a:t>• Domain 31 </a:t>
            </a:r>
            <a:r>
              <a:rPr sz="1400" dirty="0" err="1">
                <a:latin typeface="Pretendard"/>
                <a:ea typeface="Pretendard"/>
                <a:cs typeface="Pretendard"/>
              </a:rPr>
              <a:t>불일치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생성</a:t>
            </a:r>
            <a:endParaRPr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fld id="{41680313-6E64-04FF-399A-57B7CADE95A9}" type="slidenum">
              <a:rPr>
                <a:latin typeface="Pretendard"/>
                <a:ea typeface="Pretendard"/>
                <a:cs typeface="Pretendard"/>
              </a:rPr>
              <a:t>34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55026"/>
            <a:ext cx="7835900" cy="1029274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실습 1·Topic 검증</a:t>
            </a:r>
          </a:p>
        </p:txBody>
      </p:sp>
      <p:sp>
        <p:nvSpPr>
          <p:cNvPr id="2" name="Google Shape;534;p58">
            <a:extLst>
              <a:ext uri="{FF2B5EF4-FFF2-40B4-BE49-F238E27FC236}">
                <a16:creationId xmlns:a16="http://schemas.microsoft.com/office/drawing/2014/main" id="{A4A94F3C-B1B2-7289-7098-7C66C8A291D6}"/>
              </a:ext>
            </a:extLst>
          </p:cNvPr>
          <p:cNvSpPr>
            <a:spLocks noGrp="1"/>
          </p:cNvSpPr>
          <p:nvPr/>
        </p:nvSpPr>
        <p:spPr>
          <a:xfrm>
            <a:off x="5560261" y="208474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b="1" dirty="0" err="1">
                <a:latin typeface="Pretendard"/>
                <a:ea typeface="Pretendard"/>
                <a:cs typeface="Pretendard"/>
              </a:rPr>
              <a:t>검사</a:t>
            </a:r>
            <a:r>
              <a:rPr sz="2000" b="1" dirty="0"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latin typeface="Pretendard"/>
                <a:ea typeface="Pretendard"/>
                <a:cs typeface="Pretendard"/>
              </a:rPr>
              <a:t>결과</a:t>
            </a:r>
            <a:endParaRPr sz="2000" b="1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endParaRPr sz="14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dirty="0">
                <a:latin typeface="Pretendard"/>
                <a:ea typeface="Pretendard"/>
                <a:cs typeface="Pretendard"/>
              </a:rPr>
              <a:t>• QoS </a:t>
            </a:r>
            <a:r>
              <a:rPr sz="1400" dirty="0" err="1">
                <a:latin typeface="Pretendard"/>
                <a:ea typeface="Pretendard"/>
                <a:cs typeface="Pretendard"/>
              </a:rPr>
              <a:t>불일치</a:t>
            </a:r>
            <a:r>
              <a:rPr sz="1400" dirty="0">
                <a:latin typeface="Pretendard"/>
                <a:ea typeface="Pretendard"/>
                <a:cs typeface="Pretendard"/>
              </a:rPr>
              <a:t> 시 </a:t>
            </a:r>
            <a:r>
              <a:rPr sz="1400" dirty="0" err="1">
                <a:latin typeface="Pretendard"/>
                <a:ea typeface="Pretendard"/>
                <a:cs typeface="Pretendard"/>
              </a:rPr>
              <a:t>데이터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미수신</a:t>
            </a:r>
            <a:endParaRPr sz="1400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dirty="0">
                <a:latin typeface="Pretendard"/>
                <a:ea typeface="Pretendard"/>
                <a:cs typeface="Pretendard"/>
              </a:rPr>
              <a:t>• BEST_EFFORT </a:t>
            </a:r>
            <a:r>
              <a:rPr sz="1400" dirty="0" err="1">
                <a:latin typeface="Pretendard"/>
                <a:ea typeface="Pretendard"/>
                <a:cs typeface="Pretendard"/>
              </a:rPr>
              <a:t>복구</a:t>
            </a:r>
            <a:r>
              <a:rPr sz="1400" dirty="0">
                <a:latin typeface="Pretendard"/>
                <a:ea typeface="Pretendard"/>
                <a:cs typeface="Pretendard"/>
              </a:rPr>
              <a:t> 후 </a:t>
            </a:r>
            <a:r>
              <a:rPr sz="1400" dirty="0" err="1">
                <a:latin typeface="Pretendard"/>
                <a:ea typeface="Pretendard"/>
                <a:cs typeface="Pretendard"/>
              </a:rPr>
              <a:t>재수신</a:t>
            </a:r>
            <a:endParaRPr sz="1400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dirty="0">
                <a:latin typeface="Pretendard"/>
                <a:ea typeface="Pretendard"/>
                <a:cs typeface="Pretendard"/>
              </a:rPr>
              <a:t>• Domain 30 </a:t>
            </a:r>
            <a:r>
              <a:rPr sz="1400" dirty="0" err="1">
                <a:latin typeface="Pretendard"/>
                <a:ea typeface="Pretendard"/>
                <a:cs typeface="Pretendard"/>
              </a:rPr>
              <a:t>복구</a:t>
            </a:r>
            <a:r>
              <a:rPr sz="1400" dirty="0">
                <a:latin typeface="Pretendard"/>
                <a:ea typeface="Pretendard"/>
                <a:cs typeface="Pretendard"/>
              </a:rPr>
              <a:t> 후 Node </a:t>
            </a:r>
            <a:r>
              <a:rPr sz="1400" dirty="0" err="1">
                <a:latin typeface="Pretendard"/>
                <a:ea typeface="Pretendard"/>
                <a:cs typeface="Pretendard"/>
              </a:rPr>
              <a:t>재발견</a:t>
            </a:r>
            <a:endParaRPr sz="1400" dirty="0"/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FD46BF2A-8122-2E0A-E8CC-886653CF64DA}"/>
              </a:ext>
            </a:extLst>
          </p:cNvPr>
          <p:cNvSpPr>
            <a:spLocks noGrp="1"/>
          </p:cNvSpPr>
          <p:nvPr/>
        </p:nvSpPr>
        <p:spPr>
          <a:xfrm>
            <a:off x="393700" y="1310936"/>
            <a:ext cx="5537200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>
                <a:latin typeface="Pretendard"/>
                <a:ea typeface="Pretendard"/>
                <a:cs typeface="Pretendard"/>
              </a:rPr>
              <a:t>원격 Topic 수신과 두 종류의 불일치·복구 결과 확인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F5D028D-B73B-5BFF-0AA5-65F94FB570F9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fld id="{5FEBBBCE-9E16-527A-0EE3-E5839422D847}" type="slidenum">
              <a:rPr>
                <a:latin typeface="Pretendard"/>
                <a:ea typeface="Pretendard"/>
                <a:cs typeface="Pretendard"/>
              </a:rPr>
              <a:t>35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D035ED81-B82C-6CFE-FAA7-0911E05CD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1170935"/>
            <a:ext cx="11404600" cy="1797958"/>
          </a:xfrm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4200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실습 2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6730FFED-E57C-67CB-4BAA-568126831AB5}"/>
              </a:ext>
            </a:extLst>
          </p:cNvPr>
          <p:cNvSpPr>
            <a:spLocks noGrp="1"/>
          </p:cNvSpPr>
          <p:nvPr/>
        </p:nvSpPr>
        <p:spPr>
          <a:xfrm>
            <a:off x="2549677" y="3297710"/>
            <a:ext cx="7092645" cy="1865909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Jetson Service 구동과 PC 원격 호출</a:t>
            </a:r>
          </a:p>
        </p:txBody>
      </p:sp>
    </p:spTree>
    <p:extLst>
      <p:ext uri="{BB962C8B-B14F-4D97-AF65-F5344CB8AC3E}">
        <p14:creationId xmlns:p14="http://schemas.microsoft.com/office/powerpoint/2010/main" val="3466142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AD38C25-48AC-5A29-D53A-82080FAF926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fld id="{D172A7C5-A0CC-7B36-F236-345181E6AD72}" type="slidenum">
              <a:rPr>
                <a:latin typeface="Pretendard"/>
                <a:ea typeface="Pretendard"/>
                <a:cs typeface="Pretendard"/>
              </a:rPr>
              <a:t>36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33E8FE18-95DE-C7EA-9E95-10B821893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실습 2·Service 검증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B54A841D-1EA0-6181-C778-7C851CA6E64E}"/>
              </a:ext>
            </a:extLst>
          </p:cNvPr>
          <p:cNvSpPr>
            <a:spLocks noGrp="1"/>
          </p:cNvSpPr>
          <p:nvPr/>
        </p:nvSpPr>
        <p:spPr>
          <a:xfrm>
            <a:off x="706278" y="325089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b="0" i="0" u="none" cap="none" spc="0" dirty="0">
                <a:ln>
                  <a:noFill/>
                </a:ln>
                <a:latin typeface="Pretendard"/>
                <a:ea typeface="Pretendard"/>
                <a:cs typeface="Pretendard"/>
              </a:rPr>
              <a:t>Trigger </a:t>
            </a:r>
            <a:r>
              <a:rPr sz="1600" b="0" i="0" u="none" cap="none" spc="0" dirty="0" err="1">
                <a:ln>
                  <a:noFill/>
                </a:ln>
                <a:latin typeface="Pretendard"/>
                <a:ea typeface="Pretendard"/>
                <a:cs typeface="Pretendard"/>
              </a:rPr>
              <a:t>Service·Response</a:t>
            </a:r>
            <a:r>
              <a:rPr sz="1600" b="0" i="0" u="none" cap="none" spc="0" dirty="0">
                <a:ln>
                  <a:noFill/>
                </a:ln>
                <a:latin typeface="Pretendard"/>
                <a:ea typeface="Pretendard"/>
                <a:cs typeface="Pretendard"/>
              </a:rPr>
              <a:t> </a:t>
            </a:r>
            <a:r>
              <a:rPr sz="1600" b="0" i="0" u="none" cap="none" spc="0" dirty="0" err="1">
                <a:ln>
                  <a:noFill/>
                </a:ln>
                <a:latin typeface="Pretendard"/>
                <a:ea typeface="Pretendard"/>
                <a:cs typeface="Pretendard"/>
              </a:rPr>
              <a:t>작성</a:t>
            </a:r>
            <a:endParaRPr sz="1600" b="0" i="0" u="none" cap="none" spc="0" dirty="0">
              <a:ln>
                <a:noFill/>
              </a:ln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Google Shape;534;p58">
            <a:extLst>
              <a:ext uri="{FF2B5EF4-FFF2-40B4-BE49-F238E27FC236}">
                <a16:creationId xmlns:a16="http://schemas.microsoft.com/office/drawing/2014/main" id="{F393FB38-1005-6250-1642-93C1A76E0B77}"/>
              </a:ext>
            </a:extLst>
          </p:cNvPr>
          <p:cNvSpPr>
            <a:spLocks noGrp="1"/>
          </p:cNvSpPr>
          <p:nvPr/>
        </p:nvSpPr>
        <p:spPr>
          <a:xfrm>
            <a:off x="393700" y="1649094"/>
            <a:ext cx="11404600" cy="634044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상세 명령과 TODO: student/practice.md</a:t>
            </a:r>
          </a:p>
        </p:txBody>
      </p:sp>
      <p:sp>
        <p:nvSpPr>
          <p:cNvPr id="13" name="Google Shape;534;p58">
            <a:extLst>
              <a:ext uri="{FF2B5EF4-FFF2-40B4-BE49-F238E27FC236}">
                <a16:creationId xmlns:a16="http://schemas.microsoft.com/office/drawing/2014/main" id="{A0F4C075-109A-7DDE-18C9-18F128552C24}"/>
              </a:ext>
            </a:extLst>
          </p:cNvPr>
          <p:cNvSpPr>
            <a:spLocks noGrp="1"/>
          </p:cNvSpPr>
          <p:nvPr/>
        </p:nvSpPr>
        <p:spPr>
          <a:xfrm>
            <a:off x="393699" y="1146566"/>
            <a:ext cx="11404599" cy="402442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>
                <a:latin typeface="Pretendard"/>
                <a:ea typeface="Pretendard"/>
                <a:cs typeface="Pretendard"/>
              </a:rPr>
              <a:t>Jetson Server와 WSL Client를 완성해 최신 관절값 수신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DCE927-F1A4-A9ED-C839-844BB688547F}"/>
              </a:ext>
            </a:extLst>
          </p:cNvPr>
          <p:cNvSpPr>
            <a:spLocks noGrp="1"/>
          </p:cNvSpPr>
          <p:nvPr/>
        </p:nvSpPr>
        <p:spPr>
          <a:xfrm>
            <a:off x="702967" y="2793808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Pretendard"/>
                <a:ea typeface="Pretendard"/>
                <a:cs typeface="Pretendard"/>
              </a:rPr>
              <a:t>Server TODO</a:t>
            </a:r>
          </a:p>
        </p:txBody>
      </p:sp>
      <p:sp>
        <p:nvSpPr>
          <p:cNvPr id="16" name="Content Placeholder 10">
            <a:extLst>
              <a:ext uri="{FF2B5EF4-FFF2-40B4-BE49-F238E27FC236}">
                <a16:creationId xmlns:a16="http://schemas.microsoft.com/office/drawing/2014/main" id="{B71DDDF3-A6F6-A2D9-7F68-A246AE82F73A}"/>
              </a:ext>
            </a:extLst>
          </p:cNvPr>
          <p:cNvSpPr>
            <a:spLocks noGrp="1"/>
          </p:cNvSpPr>
          <p:nvPr/>
        </p:nvSpPr>
        <p:spPr>
          <a:xfrm>
            <a:off x="6558438" y="325089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b="0" i="0" u="none" cap="none" spc="0">
                <a:ln>
                  <a:noFill/>
                </a:ln>
                <a:latin typeface="Pretendard"/>
                <a:ea typeface="Pretendard"/>
                <a:cs typeface="Pretendard"/>
              </a:rPr>
              <a:t>생성·대기·비동기 호출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D06467-8163-39A0-0B9A-1A98533B6978}"/>
              </a:ext>
            </a:extLst>
          </p:cNvPr>
          <p:cNvSpPr>
            <a:spLocks noGrp="1"/>
          </p:cNvSpPr>
          <p:nvPr/>
        </p:nvSpPr>
        <p:spPr>
          <a:xfrm>
            <a:off x="6555127" y="2793808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Pretendard"/>
                <a:ea typeface="Pretendard"/>
                <a:cs typeface="Pretendard"/>
              </a:rPr>
              <a:t>Client TODO</a:t>
            </a:r>
          </a:p>
        </p:txBody>
      </p:sp>
      <p:sp>
        <p:nvSpPr>
          <p:cNvPr id="18" name="Content Placeholder 10">
            <a:extLst>
              <a:ext uri="{FF2B5EF4-FFF2-40B4-BE49-F238E27FC236}">
                <a16:creationId xmlns:a16="http://schemas.microsoft.com/office/drawing/2014/main" id="{E61F5831-A6CA-0036-3E5C-283D4EBAFE55}"/>
              </a:ext>
            </a:extLst>
          </p:cNvPr>
          <p:cNvSpPr>
            <a:spLocks noGrp="1"/>
          </p:cNvSpPr>
          <p:nvPr/>
        </p:nvSpPr>
        <p:spPr>
          <a:xfrm>
            <a:off x="706278" y="509493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b="0" i="0" u="none" cap="none" spc="0">
                <a:ln>
                  <a:noFill/>
                </a:ln>
                <a:latin typeface="Pretendard"/>
                <a:ea typeface="Pretendard"/>
                <a:cs typeface="Pretendard"/>
              </a:rPr>
              <a:t>Publisher·Service Server 구동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83300B-2E76-54E3-B3E8-C4CE0DA323BE}"/>
              </a:ext>
            </a:extLst>
          </p:cNvPr>
          <p:cNvSpPr>
            <a:spLocks noGrp="1"/>
          </p:cNvSpPr>
          <p:nvPr/>
        </p:nvSpPr>
        <p:spPr>
          <a:xfrm>
            <a:off x="702967" y="4637848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Pretendard"/>
                <a:ea typeface="Pretendard"/>
                <a:cs typeface="Pretendard"/>
              </a:rPr>
              <a:t>Jetson Launch</a:t>
            </a:r>
          </a:p>
        </p:txBody>
      </p:sp>
      <p:sp>
        <p:nvSpPr>
          <p:cNvPr id="20" name="Content Placeholder 10">
            <a:extLst>
              <a:ext uri="{FF2B5EF4-FFF2-40B4-BE49-F238E27FC236}">
                <a16:creationId xmlns:a16="http://schemas.microsoft.com/office/drawing/2014/main" id="{91E87E4E-34C4-73A3-D9B4-5528035E3F32}"/>
              </a:ext>
            </a:extLst>
          </p:cNvPr>
          <p:cNvSpPr>
            <a:spLocks noGrp="1"/>
          </p:cNvSpPr>
          <p:nvPr/>
        </p:nvSpPr>
        <p:spPr>
          <a:xfrm>
            <a:off x="6558438" y="509493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b="0" i="0" u="none" cap="none" spc="0">
                <a:ln>
                  <a:noFill/>
                </a:ln>
                <a:latin typeface="Pretendard"/>
                <a:ea typeface="Pretendard"/>
                <a:cs typeface="Pretendard"/>
              </a:rPr>
              <a:t>Python Client·CLI 응답 확인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BBD727-79F1-2502-A083-A18F5A754163}"/>
              </a:ext>
            </a:extLst>
          </p:cNvPr>
          <p:cNvSpPr>
            <a:spLocks noGrp="1"/>
          </p:cNvSpPr>
          <p:nvPr/>
        </p:nvSpPr>
        <p:spPr>
          <a:xfrm>
            <a:off x="6555127" y="4637848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Pretendard"/>
                <a:ea typeface="Pretendard"/>
                <a:cs typeface="Pretendard"/>
              </a:rPr>
              <a:t>Remote 호출</a:t>
            </a:r>
          </a:p>
        </p:txBody>
      </p:sp>
      <p:sp>
        <p:nvSpPr>
          <p:cNvPr id="3" name="Rounded Rectangle 9">
            <a:extLst>
              <a:ext uri="{FF2B5EF4-FFF2-40B4-BE49-F238E27FC236}">
                <a16:creationId xmlns:a16="http://schemas.microsoft.com/office/drawing/2014/main" id="{50060C77-52B1-F6FC-B1A4-C961670FE2AD}"/>
              </a:ext>
            </a:extLst>
          </p:cNvPr>
          <p:cNvSpPr>
            <a:spLocks noGrp="1"/>
          </p:cNvSpPr>
          <p:nvPr/>
        </p:nvSpPr>
        <p:spPr>
          <a:xfrm>
            <a:off x="499316" y="2553962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4" name="Rounded Rectangle 9">
            <a:extLst>
              <a:ext uri="{FF2B5EF4-FFF2-40B4-BE49-F238E27FC236}">
                <a16:creationId xmlns:a16="http://schemas.microsoft.com/office/drawing/2014/main" id="{1159D27A-1461-523D-7DD5-673A60B66AD8}"/>
              </a:ext>
            </a:extLst>
          </p:cNvPr>
          <p:cNvSpPr>
            <a:spLocks noGrp="1"/>
          </p:cNvSpPr>
          <p:nvPr/>
        </p:nvSpPr>
        <p:spPr>
          <a:xfrm>
            <a:off x="6298499" y="2553962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5" name="Rounded Rectangle 9">
            <a:extLst>
              <a:ext uri="{FF2B5EF4-FFF2-40B4-BE49-F238E27FC236}">
                <a16:creationId xmlns:a16="http://schemas.microsoft.com/office/drawing/2014/main" id="{8D6E1CF7-05C7-0A24-2B00-908E4780C230}"/>
              </a:ext>
            </a:extLst>
          </p:cNvPr>
          <p:cNvSpPr>
            <a:spLocks noGrp="1"/>
          </p:cNvSpPr>
          <p:nvPr/>
        </p:nvSpPr>
        <p:spPr>
          <a:xfrm>
            <a:off x="499316" y="4298613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6" name="Rounded Rectangle 9">
            <a:extLst>
              <a:ext uri="{FF2B5EF4-FFF2-40B4-BE49-F238E27FC236}">
                <a16:creationId xmlns:a16="http://schemas.microsoft.com/office/drawing/2014/main" id="{E8DB49BA-56EA-3432-AE06-A384DAAD1E28}"/>
              </a:ext>
            </a:extLst>
          </p:cNvPr>
          <p:cNvSpPr>
            <a:spLocks noGrp="1"/>
          </p:cNvSpPr>
          <p:nvPr/>
        </p:nvSpPr>
        <p:spPr>
          <a:xfrm>
            <a:off x="6298499" y="4298613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endParaRPr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9535326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Pretendard"/>
        <a:ea typeface=""/>
        <a:cs typeface=""/>
      </a:majorFont>
      <a:minorFont>
        <a:latin typeface="Pretendard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Pretendard"/>
        <a:ea typeface=""/>
        <a:cs typeface=""/>
      </a:majorFont>
      <a:minorFont>
        <a:latin typeface="Pretendard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351</TotalTime>
  <Words>1805</Words>
  <Application>Microsoft Office PowerPoint</Application>
  <DocSecurity>0</DocSecurity>
  <PresentationFormat>와이드스크린</PresentationFormat>
  <Paragraphs>338</Paragraphs>
  <Slides>36</Slides>
  <Notes>33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39" baseType="lpstr">
      <vt:lpstr>Pretendard SemiBold</vt:lpstr>
      <vt:lpstr>Pretendard</vt:lpstr>
      <vt:lpstr>Default Codex Theme</vt:lpstr>
      <vt:lpstr>4주차 — PC·Jetson 분산 통신</vt:lpstr>
      <vt:lpstr>PowerPoint 프레젠테이션</vt:lpstr>
      <vt:lpstr>이론</vt:lpstr>
      <vt:lpstr>분산 ROS</vt:lpstr>
      <vt:lpstr>분산 ROS 2</vt:lpstr>
      <vt:lpstr>3주차 통신 확장</vt:lpstr>
      <vt:lpstr>Jetson·WSL 역할</vt:lpstr>
      <vt:lpstr>DDS의 역할</vt:lpstr>
      <vt:lpstr>분산 통신 확인 단계</vt:lpstr>
      <vt:lpstr>ROS_DOMAIN_ID</vt:lpstr>
      <vt:lpstr>ROS_LOCALHOST_ONLY</vt:lpstr>
      <vt:lpstr>RMW_IMPLEMENTATION</vt:lpstr>
      <vt:lpstr>양쪽 환경 통일</vt:lpstr>
      <vt:lpstr>QoS 기초</vt:lpstr>
      <vt:lpstr>QoS 기초</vt:lpstr>
      <vt:lpstr>History</vt:lpstr>
      <vt:lpstr>Depth</vt:lpstr>
      <vt:lpstr>Durability</vt:lpstr>
      <vt:lpstr>RELIABLE·BEST_EFFORT</vt:lpstr>
      <vt:lpstr>QoS 호환성</vt:lpstr>
      <vt:lpstr>QoS 불일치·복구</vt:lpstr>
      <vt:lpstr>PC – Jetson 통신 연결</vt:lpstr>
      <vt:lpstr>실습 장비·연결</vt:lpstr>
      <vt:lpstr>Jetson</vt:lpstr>
      <vt:lpstr>Window</vt:lpstr>
      <vt:lpstr>Window</vt:lpstr>
      <vt:lpstr>WSL2 Mirrored Networking</vt:lpstr>
      <vt:lpstr>PC-Jetson 연결 확인</vt:lpstr>
      <vt:lpstr>기타 참고사항</vt:lpstr>
      <vt:lpstr>PC, Jetson 테이블 배치 가이드</vt:lpstr>
      <vt:lpstr>ROS 2 CLI</vt:lpstr>
      <vt:lpstr>실습 1</vt:lpstr>
      <vt:lpstr>실습 1·환경 준비</vt:lpstr>
      <vt:lpstr>실습 1·Topic 검증</vt:lpstr>
      <vt:lpstr>실습 2</vt:lpstr>
      <vt:lpstr>실습 2·Service 검증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김성민</cp:lastModifiedBy>
  <cp:revision>83</cp:revision>
  <dcterms:created xsi:type="dcterms:W3CDTF">2026-08-29T08:26:06Z</dcterms:created>
  <dcterms:modified xsi:type="dcterms:W3CDTF">2026-09-21T02:52:29Z</dcterms:modified>
</cp:coreProperties>
</file>