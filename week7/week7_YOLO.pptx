
<file path=[Content_Types].xml><?xml version="1.0" encoding="utf-8"?>
<Types xmlns="http://schemas.openxmlformats.org/package/2006/content-types">
  <Default Extension="fntdata" ContentType="application/x-fontdata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80" r:id="rId23"/>
    <p:sldId id="281" r:id="rId24"/>
    <p:sldId id="282" r:id="rId25"/>
    <p:sldId id="284" r:id="rId26"/>
    <p:sldId id="285" r:id="rId27"/>
    <p:sldId id="286" r:id="rId28"/>
  </p:sldIdLst>
  <p:sldSz cx="12192000" cy="6858000"/>
  <p:notesSz cx="6858000" cy="9144000"/>
  <p:embeddedFontLst>
    <p:embeddedFont>
      <p:font typeface="Pretendard" panose="02000503000000020004" pitchFamily="50" charset="-127"/>
      <p:regular r:id="rId30"/>
      <p:bold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3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Pretendard"/>
                <a:ea typeface="Pretendard"/>
                <a:cs typeface="Pretendar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org&amp;utm_campaign=parser&amp;utm_content=thumbnai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8" y="1444887"/>
            <a:ext cx="10764781" cy="2000000"/>
          </a:xfrm>
        </p:spPr>
        <p:txBody>
          <a:bodyPr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55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7주차 컴퓨터 비전과</a:t>
            </a:r>
          </a:p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55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머신러닝 입문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지도학습으로 객체 검출 모델 만들기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Pretendard"/>
                <a:ea typeface="Pretendard"/>
                <a:cs typeface="Pretendard"/>
              </a:rPr>
              <a:t>임베디드 시스템 설계 및 실습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29CEB81-A958-4CDA-8FDD-4761767D45EB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B9255052-E5A2-4B5F-A124-684829B84FC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/>
          <a:lstStyle/>
          <a:p>
            <a:pPr algn="r">
              <a:buNone/>
              <a:defRPr sz="11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2598689-54C9-18A7-3A19-ED76AA08988F}" type="slidenum">
              <a:rPr>
                <a:latin typeface="Pretendard"/>
                <a:ea typeface="Pretendard"/>
                <a:cs typeface="Pretendard"/>
              </a:rPr>
              <a:t>2</a:t>
            </a:fld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학습목표와 진행 순서</a:t>
            </a:r>
          </a:p>
        </p:txBody>
      </p:sp>
      <p:graphicFrame>
        <p:nvGraphicFramePr>
          <p:cNvPr id="9" name="Table 6"/>
          <p:cNvGraphicFramePr/>
          <p:nvPr/>
        </p:nvGraphicFramePr>
        <p:xfrm>
          <a:off x="393700" y="9728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영상에서 필요한 정보 구분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지도·비지도·강화학습 비교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정답을 이용한 학습 이해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큐브·tip 데이터 수집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Jetson 파인튜닝과 검증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ROS 연결과 실패 분석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컴퓨터</a:t>
            </a:r>
            <a:r>
              <a:rPr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비전</a:t>
            </a: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(Computer Vision)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영상 속 물체의 종류·위치·형태를 판단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큐브를 다루기 전에 무엇이 어디에 있는지 관측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이번 주차는 큐브 두 개와 tip의 영상 좌표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모터 제어와 실제 로봇 좌표 변환은 별도 단계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카메라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영상에서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로봇에게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필요한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정보를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추출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컴퓨터 비전의 출력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Classification: 영상 전체의 종류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Detection: 객체별 종류와 Box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Segmentation: 픽셀 영역 / Keypoint: 관심 점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필요한 정보에 따라 영상 인식 문제를 구분</a:t>
            </a:r>
          </a:p>
        </p:txBody>
      </p:sp>
      <p:pic>
        <p:nvPicPr>
          <p:cNvPr id="539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57" y="3089075"/>
            <a:ext cx="6946443" cy="293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규칙 기반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색상·밝기·크기 조건을 직접 지정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고정된 환경에서 유용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환경 변화에 따라 규칙 조정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규칙 기반과 학습 기반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학습 기반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데이터에서 판단 기준을 학습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정답과 다양한 촬영 조건이 중요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새로운 조건에서도 성공하는지 확인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사람이 조건을 작성하는 방식과 데이터로 학습하는 방식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세 가지 학습 방식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지도학습: 입력과 정답을 함께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비지도학습: 정답 없이 데이터의 구조 탐색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강화학습: 환경에서 행동하고 보상을 이용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이번 실습은 지도학습, 나머지는 개념과 연결 소개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어떤 학습 신호를 사용하는지 비교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지도학습의 입력과 정답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입력: Topcam으로 촬영한 사진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정답: Class·Box·tip 좌표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예측과 정답의 차이를 계산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그 차이가 줄어들도록 학습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사진과 사람이 정한 정답을 함께 제공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C31B4F-3C83-EE65-554F-1DB5C440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183" y="2677418"/>
            <a:ext cx="3219899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비지도학습의 예시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사진의 특징을 기준으로 비슷한 사진끼리 군집화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예: 비슷한 색·형태의 사진이 같은 군집에 모임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군집 번호가 cube1·cube2 이름을 자동으로 뜻하지 않음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이번에는 개념과 예시만 확인하고 별도 실습은 생략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정답 이름 없이 유사한 데이터의 구조를 탐색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2A7189-1AA5-62BF-957B-8106A802E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154" y="2947258"/>
            <a:ext cx="3229426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강화학습과 이후 수업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관측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물체와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로봇의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상태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행동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로봇을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어떻게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움직일지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선택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보상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가까워졌는지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평가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주차에서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행동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학습을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다룸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환경에서 행동한 결과의 보상을 이용해 학습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큐브와 목표의 현재 상태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관측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로봇 이동 명령 선택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행동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목표에 가까워지면 높은 보상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보상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신경망과 가중치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입력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영상을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여러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계산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단계로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물체를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구분하고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찾는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특징을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학습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예측과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정답의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차이를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줄이며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가중치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수정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이번에는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상세</a:t>
            </a:r>
            <a:r>
              <a:rPr sz="1600" dirty="0">
                <a:latin typeface="Pretendard"/>
                <a:ea typeface="Pretendard"/>
                <a:cs typeface="Pretendard"/>
              </a:rPr>
              <a:t> 층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구조와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미분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수식을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다루지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않음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가중치는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입력을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예측으로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바꾸는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계산에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사용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033388-B888-3872-23B1-5F98462B3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333" y="1394216"/>
            <a:ext cx="3921563" cy="471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예측 오차와 가중치 갱신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정답 tip: (335, 247)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예측 tip: (320, 220)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종류·Box·점의 차이를 함께 학습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오차를 줄이는 방향으로 반복 갱신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정답 tip과 예측 tip의 차이로 학습 과정을 이해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현재 가중치로 위치 예측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예측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정답과 얼마나 다른지 계산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오차가 줄도록 가중치 수정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갱신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학습</a:t>
            </a: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이미지와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정답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라벨을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입력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예측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오차로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가중치를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수정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반복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학습</a:t>
            </a:r>
            <a:r>
              <a:rPr sz="1400" dirty="0">
                <a:latin typeface="Pretendard"/>
                <a:ea typeface="Pretendard"/>
                <a:cs typeface="Pretendard"/>
              </a:rPr>
              <a:t> 후 </a:t>
            </a:r>
            <a:r>
              <a:rPr sz="1400" dirty="0" err="1">
                <a:latin typeface="Pretendard"/>
                <a:ea typeface="Pretendard"/>
                <a:cs typeface="Pretendard"/>
              </a:rPr>
              <a:t>모델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파일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생성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이번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실습은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사람이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만든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정답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사용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학습과 추론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추론</a:t>
            </a: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새로운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이미지만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입력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학습된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가중치로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결과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예측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영상의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Box·점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출력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추론에 정답을 넣지 않아도 이번 학습 방식은 지도학습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분류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cube1인가 cube2인가 판단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객체의 종류를 맞히는 출력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색을 서로 바꾸어 검출하는지 확인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분류와 위치 예측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위치 예측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Box 범위와 점의 좌표 예측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연속적인 값을 맞히는 회귀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Box와 tip 위치를 각각 확인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종류가 맞아도 Box나 점은 틀릴 수 있음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사전학습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다른 데이터에서 학습한 영상 특징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처음부터 학습하는 부담 감소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시작 파일: yolo11n-pose.pt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사전학습과 파인튜닝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파인튜닝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우리 큐브와 tip의 정답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Topcam 환경과 팀 기준에 맞게 학습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팀별 최적 모델을 새로 생성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기존 가중치를 우리 데이터로 추가 학습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YOLO Pose의 출력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Class: 객체 종류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Box: 객체를 감싸는 영역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Keypoint: 팀이 정의한 한 점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이번 Pose는 영상의 2D 점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객체 종류와 Box에 정의한 Keypoint 예측을 추가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저장·추론 영상 640×480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Class·Box·Keypoint 예측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모델 예측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신뢰도와 점의 유효성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결과 선택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cube1·cube2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서로 다른 색 큐브를 하나씩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큐브 전체 Box를 지정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중심점을 자동 생성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추론 결과도 검출 Box 중심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큐브 중심과 tip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tip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팀이 정한 도구 끝 또는 EEF 점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도구 주변 Box를 지정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같은 물리적 점을 직접 클릭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추론 결과는 예측 Keypoint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큐브 중심과 도구 끝점의 차이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일관된 라벨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큐브 전체를 일정하게 감싼 Box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모든 사진에서 같은 tip 부위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가려졌지만 알 수 있는 위치는 구분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위치를 모르면 미상으로 기록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좋은 라벨과 잘못된 라벨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잘못된 라벨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큐브 일부만 감싸 중심이 치우침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중앙과 움직이는 날 끝을 혼용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주변 Box를 매번 다른 기준으로 작성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알 수 없는 점을 임의로 클릭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모델이 배워야 할 정답의 기준을 먼저 통일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수량과 데이터 다양성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위치·방향·그리퍼 상태·조명·배경을 바꾸어 촬영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부분 가림과 일부 객체가 없는 장면도 포함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빈 작업판에서 없는 객체를 찾는지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수량만 세지 말고 촬영 조건과 정답을 함께 검토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비슷한 사진의 반복만으로 새 조건의 성능을 보장하지 못함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Train·Validation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Train: 가중치 학습에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Validation: 학습 중 성능·최적 모델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약 80:20으로 원본을 분할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비슷한 연속 사진이 양쪽에 섞일 수 있음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검증과 과적합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새로운 장면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학습 사진과 다른 장면으로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학습 장면에만 맞는 현상은 과적합의 예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실패는 라벨 오류 등 다른 원인도 가능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학습에 넣은 평가 사진을 그대로 재사용하지 않음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학습한 사진에 잘 맞아도 새 장면을 별도로 확인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흐름과 준비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ROS·CUDA·카메라 환경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제공 코드와 패키지 설정 복사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큐브 색과 tip 기준을 촬영 전에 기록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관리자 권한 없이 준비된 환경 사용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완성 코드로 수집·학습·검증을 수행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촬영과 정답 라벨 작성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Jetson GPU 파인튜닝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학습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새 장면과 ROS 결과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실습: 촬영과 라벨링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Space로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고정</a:t>
            </a:r>
            <a:r>
              <a:rPr sz="1600" dirty="0">
                <a:latin typeface="Pretendard"/>
                <a:ea typeface="Pretendard"/>
                <a:cs typeface="Pretendard"/>
              </a:rPr>
              <a:t> 후 cube1 Box, cube2 Box, tip </a:t>
            </a:r>
            <a:r>
              <a:rPr sz="1600" dirty="0" err="1">
                <a:latin typeface="Pretendard"/>
                <a:ea typeface="Pretendard"/>
                <a:cs typeface="Pretendard"/>
              </a:rPr>
              <a:t>Box·점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지정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각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단계는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Space로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확정하고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마지막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단계에서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저장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N: </a:t>
            </a:r>
            <a:r>
              <a:rPr sz="1600" dirty="0" err="1">
                <a:latin typeface="Pretendard"/>
                <a:ea typeface="Pretendard"/>
                <a:cs typeface="Pretendard"/>
              </a:rPr>
              <a:t>현재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객체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제외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또는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수동</a:t>
            </a:r>
            <a:r>
              <a:rPr sz="1600" dirty="0">
                <a:latin typeface="Pretendard"/>
                <a:ea typeface="Pretendard"/>
                <a:cs typeface="Pretendard"/>
              </a:rPr>
              <a:t> 점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미상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U: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최근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저장</a:t>
            </a:r>
            <a:r>
              <a:rPr sz="1600" dirty="0">
                <a:latin typeface="Pretendard"/>
                <a:ea typeface="Pretendard"/>
                <a:cs typeface="Pretendard"/>
              </a:rPr>
              <a:t> 쌍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삭제</a:t>
            </a:r>
            <a:r>
              <a:rPr sz="1600" dirty="0">
                <a:latin typeface="Pretendard"/>
                <a:ea typeface="Pretendard"/>
                <a:cs typeface="Pretendard"/>
              </a:rPr>
              <a:t> / </a:t>
            </a:r>
            <a:r>
              <a:rPr sz="1600" dirty="0" err="1">
                <a:latin typeface="Pretendard"/>
                <a:ea typeface="Pretendard"/>
                <a:cs typeface="Pretendard"/>
              </a:rPr>
              <a:t>Q·Esc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종료·분할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python3 yolo_dataset_tool.py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실습: 이미지와 라벨 확인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raw/images와 raw/labels에 같은 이름의 파일 쌍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저장 이미지 640×480, 객체 라벨 한 줄은 8개 값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Train·Validation에 클래스와 촬영 조건이 포함되는지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라벨 수정·경로 변경 후 --prepare-only로 재생성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datasets/week7/의 원본·분할 자료와 설정 기록 확인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실습: Jetson GPU 학습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시험: python3 yolo_finetune.py --epochs 1 --name environment_check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본 학습: python3 yolo_finetune.py --name week7_pose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최대 100 Epoch / Batch 4 / Patience 20 / GPU 0 / AMP OFF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결과: week07_vision_control/models/vision_pose_best.pt와 .vision.json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준비된 GPU 환경에서 시험 학습 후 본 학습 수행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검사 조건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화면 중앙과 가장자리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객체 방향과 부분 가림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조명 변화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빈 작업판의 오검출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실습: 새로운 장면 검증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확인할 결과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cube1·cube2의 종류와 Box 중심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정한 물리적 tip 위치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대상을 옮겼을 때의 결과 변화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좌표는 640×480 기준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python3 yolo_pose_live.py로 좌표와 영상 확인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실습: 완성 ROS 코드 실행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제공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설정을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복사하고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colcon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build로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패키지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빌드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object_detection.launch.py로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Camera와</a:t>
            </a:r>
            <a:r>
              <a:rPr sz="1600" dirty="0">
                <a:latin typeface="Pretendard"/>
                <a:ea typeface="Pretendard"/>
                <a:cs typeface="Pretendard"/>
              </a:rPr>
              <a:t> Detector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실행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/</a:t>
            </a:r>
            <a:r>
              <a:rPr sz="1600" dirty="0" err="1">
                <a:latin typeface="Pretendard"/>
                <a:ea typeface="Pretendard"/>
                <a:cs typeface="Pretendard"/>
              </a:rPr>
              <a:t>top_cam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입력과</a:t>
            </a:r>
            <a:r>
              <a:rPr sz="1600" dirty="0">
                <a:latin typeface="Pretendard"/>
                <a:ea typeface="Pretendard"/>
                <a:cs typeface="Pretendard"/>
              </a:rPr>
              <a:t> /vision/</a:t>
            </a:r>
            <a:r>
              <a:rPr sz="1600" dirty="0" err="1">
                <a:latin typeface="Pretendard"/>
                <a:ea typeface="Pretendard"/>
                <a:cs typeface="Pretendard"/>
              </a:rPr>
              <a:t>debug_image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클래스별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pixel·detected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r>
              <a:rPr sz="1600" dirty="0">
                <a:latin typeface="Pretendard"/>
                <a:ea typeface="Pretendard"/>
                <a:cs typeface="Pretendard"/>
              </a:rPr>
              <a:t>, </a:t>
            </a:r>
            <a:r>
              <a:rPr sz="1600" dirty="0" err="1">
                <a:latin typeface="Pretendard"/>
                <a:ea typeface="Pretendard"/>
                <a:cs typeface="Pretendard"/>
              </a:rPr>
              <a:t>미검출</a:t>
            </a:r>
            <a:r>
              <a:rPr sz="1600" dirty="0">
                <a:latin typeface="Pretendard"/>
                <a:ea typeface="Pretendard"/>
                <a:cs typeface="Pretendard"/>
              </a:rPr>
              <a:t> 시 새 pixel </a:t>
            </a:r>
            <a:r>
              <a:rPr sz="1600" dirty="0" err="1">
                <a:latin typeface="Pretendard"/>
                <a:ea typeface="Pretendard"/>
                <a:cs typeface="Pretendard"/>
              </a:rPr>
              <a:t>미발행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953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빌드와 Launch 후 영상·픽셀·검출 여부 확인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데이터 보완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잘못된 라벨과 부족한 조건을 구분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실패 조건의 다른 사진을 보완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재학습 후 별도 새 장면에서 확인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재학습 자체는 이번 필수 과제가 아님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데이터 보완과 텀프로젝트 연결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5560261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프로젝트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연결</a:t>
            </a: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설정으로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클래스·점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기준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확장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데이터·모델·설정은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기준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유지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픽셀은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로봇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좌표와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다름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제어에는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검출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여부·시각·안전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처리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필요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실패 원인을 추정하고 추가할 촬영 조건을 결정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7주차 완료 기준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66528" y="20847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확인할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결과</a:t>
            </a: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2000" b="1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br>
              <a:rPr lang="en-US" sz="1400" dirty="0">
                <a:latin typeface="Pretendard"/>
                <a:ea typeface="Pretendard"/>
                <a:cs typeface="Pretendard"/>
              </a:rPr>
            </a:b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en-US" sz="1400" dirty="0">
                <a:latin typeface="Pretendard"/>
                <a:ea typeface="Pretendard"/>
                <a:cs typeface="Pretendard"/>
              </a:rPr>
              <a:t>YOLO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모델 실시간 큐브 검출 화면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en-US" sz="1400" dirty="0">
                <a:latin typeface="Pretendard"/>
                <a:ea typeface="Pretendard"/>
                <a:cs typeface="Pretendard"/>
              </a:rPr>
              <a:t>ROS2 node 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연결 </a:t>
            </a:r>
            <a:r>
              <a:rPr lang="ko-KR" altLang="en-US" sz="1400" dirty="0"/>
              <a:t>결과</a:t>
            </a:r>
            <a:r>
              <a:rPr lang="en-US" altLang="ko-KR" sz="1400" dirty="0"/>
              <a:t>(</a:t>
            </a:r>
            <a:r>
              <a:rPr lang="ko-KR" altLang="en-US" sz="1400" dirty="0"/>
              <a:t>터미널</a:t>
            </a:r>
            <a:r>
              <a:rPr lang="en-US" altLang="ko-KR" sz="1400" dirty="0"/>
              <a:t>)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400" dirty="0">
                <a:latin typeface="Pretendard"/>
                <a:ea typeface="Pretendard"/>
                <a:cs typeface="Pretendard"/>
              </a:rPr>
              <a:t>검사 후 퀴즈 진행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dirty="0">
                <a:latin typeface="Pretendard"/>
                <a:ea typeface="Pretendard"/>
                <a:cs typeface="Pretendard"/>
              </a:rPr>
              <a:t>실습 완료 후 조교에게 검사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1429</Words>
  <Application>Microsoft Office PowerPoint</Application>
  <DocSecurity>0</DocSecurity>
  <PresentationFormat>와이드스크린</PresentationFormat>
  <Paragraphs>283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9" baseType="lpstr">
      <vt:lpstr>Pretendard</vt:lpstr>
      <vt:lpstr>Default Codex Theme</vt:lpstr>
      <vt:lpstr>7주차 컴퓨터 비전과 머신러닝 입문</vt:lpstr>
      <vt:lpstr>PowerPoint 프레젠테이션</vt:lpstr>
      <vt:lpstr>컴퓨터 비전(Computer Vision)</vt:lpstr>
      <vt:lpstr>컴퓨터 비전의 출력</vt:lpstr>
      <vt:lpstr>규칙 기반과 학습 기반</vt:lpstr>
      <vt:lpstr>세 가지 학습 방식</vt:lpstr>
      <vt:lpstr>지도학습의 입력과 정답</vt:lpstr>
      <vt:lpstr>비지도학습의 예시</vt:lpstr>
      <vt:lpstr>강화학습과 이후 수업</vt:lpstr>
      <vt:lpstr>신경망과 가중치</vt:lpstr>
      <vt:lpstr>예측 오차와 가중치 갱신</vt:lpstr>
      <vt:lpstr>학습과 추론</vt:lpstr>
      <vt:lpstr>분류와 위치 예측</vt:lpstr>
      <vt:lpstr>사전학습과 파인튜닝</vt:lpstr>
      <vt:lpstr>YOLO Pose의 출력</vt:lpstr>
      <vt:lpstr>큐브 중심과 tip</vt:lpstr>
      <vt:lpstr>좋은 라벨과 잘못된 라벨</vt:lpstr>
      <vt:lpstr>수량과 데이터 다양성</vt:lpstr>
      <vt:lpstr>검증과 과적합</vt:lpstr>
      <vt:lpstr>실습 흐름과 준비</vt:lpstr>
      <vt:lpstr>실습: 촬영과 라벨링</vt:lpstr>
      <vt:lpstr>실습: 이미지와 라벨 확인</vt:lpstr>
      <vt:lpstr>실습: Jetson GPU 학습</vt:lpstr>
      <vt:lpstr>실습: 새로운 장면 검증</vt:lpstr>
      <vt:lpstr>실습: 완성 ROS 코드 실행</vt:lpstr>
      <vt:lpstr>데이터 보완과 텀프로젝트 연결</vt:lpstr>
      <vt:lpstr>7주차 완료 기준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김성민</cp:lastModifiedBy>
  <cp:revision>10</cp:revision>
  <dcterms:created xsi:type="dcterms:W3CDTF">2026-09-04T01:18:21Z</dcterms:created>
  <dcterms:modified xsi:type="dcterms:W3CDTF">2026-10-25T07:07:05Z</dcterms:modified>
</cp:coreProperties>
</file>