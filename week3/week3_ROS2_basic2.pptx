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70" r:id="rId10"/>
    <p:sldId id="274" r:id="rId11"/>
    <p:sldId id="275" r:id="rId12"/>
    <p:sldId id="276" r:id="rId13"/>
    <p:sldId id="277" r:id="rId14"/>
    <p:sldId id="278" r:id="rId15"/>
    <p:sldId id="262" r:id="rId16"/>
    <p:sldId id="264" r:id="rId17"/>
    <p:sldId id="272" r:id="rId18"/>
    <p:sldId id="273" r:id="rId19"/>
    <p:sldId id="287" r:id="rId20"/>
    <p:sldId id="282" r:id="rId21"/>
    <p:sldId id="289" r:id="rId22"/>
    <p:sldId id="290" r:id="rId23"/>
    <p:sldId id="288" r:id="rId24"/>
    <p:sldId id="283" r:id="rId25"/>
    <p:sldId id="284" r:id="rId26"/>
    <p:sldId id="285" r:id="rId27"/>
    <p:sldId id="286" r:id="rId28"/>
  </p:sldIdLst>
  <p:sldSz cx="12192000" cy="6858000"/>
  <p:notesSz cx="6858000" cy="9144000"/>
  <p:embeddedFontLst>
    <p:embeddedFont>
      <p:font typeface="Pretendard" panose="02000503000000020004" pitchFamily="50" charset="-127"/>
      <p:regular r:id="rId30"/>
      <p:bold r:id="rId31"/>
    </p:embeddedFont>
    <p:embeddedFont>
      <p:font typeface="Pretendard SemiBold" panose="02000703000000020004" pitchFamily="50" charset="-127"/>
      <p:bold r:id="rId3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8" autoAdjust="0"/>
    <p:restoredTop sz="84895" autoAdjust="0"/>
  </p:normalViewPr>
  <p:slideViewPr>
    <p:cSldViewPr snapToGrid="0">
      <p:cViewPr varScale="1">
        <p:scale>
          <a:sx n="135" d="100"/>
          <a:sy n="135" d="100"/>
        </p:scale>
        <p:origin x="12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10D95-5393-BFF0-1DC2-79045883F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49888-29DA-970E-1A61-78F7D0D3C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66F0E7-1C9D-FD01-DA2A-A750C1A9E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12A6C-E0D7-C07B-8340-139FE1F89FD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043548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A147A-E76D-3BD1-FAE0-4ADDD8026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8D57C-AC26-BE71-581D-9C07FC297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04992C-22F0-3D99-4952-D255795FD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EB7FF-9905-F8CC-EE26-AA8EC650DA9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33475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37BEA-FCA3-2F6E-C0BD-1AD2A7E8F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80E210-4AA4-E97A-0D3E-B1EA9F241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AAFF10-6C37-DE67-3EDC-B475A45CC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4288B-A45F-FFDE-4644-FE76DD5070E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93507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 b="1" i="0">
                <a:latin typeface="Pretendard"/>
                <a:ea typeface="Pretendard"/>
                <a:cs typeface="Pretendard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8129411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8705144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493000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4826000"/>
            <a:ext cx="2595934" cy="1168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8466647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4826000"/>
            <a:ext cx="2595934" cy="1168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7361767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587544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531100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Pretendard"/>
          <a:ea typeface="Pretendard"/>
          <a:cs typeface="Pretendard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Pretendard"/>
        <a:buChar char="•"/>
        <a:defRPr sz="24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4572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520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968" y="1444887"/>
            <a:ext cx="10764781" cy="949063"/>
          </a:xfrm>
        </p:spPr>
        <p:txBody>
          <a:bodyPr anchor="t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r>
              <a:rPr sz="550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3주차 — ROS 2·Topic·Service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noGrp="1"/>
          </p:cNvSpPr>
          <p:nvPr/>
        </p:nvSpPr>
        <p:spPr>
          <a:xfrm>
            <a:off x="603018" y="4606175"/>
            <a:ext cx="6304556" cy="320279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Pretendard"/>
              <a:buNone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>
                <a:latin typeface="Pretendard"/>
                <a:ea typeface="Pretendard"/>
                <a:cs typeface="Pretendard"/>
              </a:defRPr>
            </a:pPr>
            <a:r>
              <a:rPr sz="1600" b="1" dirty="0" err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JointState·Trigger·Launch</a:t>
            </a:r>
            <a:r>
              <a:rPr sz="1600" b="1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</a:t>
            </a:r>
            <a:endParaRPr sz="1600" b="1"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ubtitle 4">
            <a:extLst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noGrp="1"/>
          </p:cNvSpPr>
          <p:nvPr/>
        </p:nvSpPr>
        <p:spPr>
          <a:xfrm>
            <a:off x="603018" y="555606"/>
            <a:ext cx="3578411" cy="34517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Pretendard"/>
              <a:buNone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chemeClr val="accent2">
                    <a:lumMod val="90000"/>
                  </a:schemeClr>
                </a:solidFill>
                <a:latin typeface="Pretendard"/>
                <a:ea typeface="Pretendard"/>
                <a:cs typeface="Pretendard"/>
              </a:rPr>
              <a:t>임베디드 시스템 설계 및 실습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729CEB81-A958-4CDA-8FDD-4761767D45EB}"/>
              </a:ext>
            </a:extLst>
          </p:cNvPr>
          <p:cNvSpPr>
            <a:spLocks noGrp="1"/>
          </p:cNvSpPr>
          <p:nvPr/>
        </p:nvSpPr>
        <p:spPr>
          <a:xfrm>
            <a:off x="0" y="3934067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B9255052-E5A2-4B5F-A124-684829B84FC4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/>
          <a:lstStyle/>
          <a:p>
            <a:pPr algn="r">
              <a:buNone/>
              <a:defRPr sz="11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85088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08432E-6CC9-7470-65A5-7F6A330EFB4F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E2598689-54C9-18A7-3A19-ED76AA08988F}" type="slidenum">
              <a:rPr>
                <a:latin typeface="Pretendard"/>
                <a:ea typeface="Pretendard"/>
                <a:cs typeface="Pretendard"/>
              </a:rPr>
              <a:t>2</a:t>
            </a:fld>
            <a:endParaRPr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noGrp="1"/>
          </p:cNvSpPr>
          <p:nvPr/>
        </p:nvSpPr>
        <p:spPr>
          <a:xfrm>
            <a:off x="393699" y="392242"/>
            <a:ext cx="3578411" cy="34517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Pretendard"/>
              <a:buNone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graphicFrame>
        <p:nvGraphicFramePr>
          <p:cNvPr id="10" name="Table 6"/>
          <p:cNvGraphicFramePr/>
          <p:nvPr>
            <p:extLst>
              <p:ext uri="{D42A27DB-BD31-4B8C-83A1-F6EECF244321}">
                <p14:modId xmlns:p14="http://schemas.microsoft.com/office/powerpoint/2010/main" val="3732764614"/>
              </p:ext>
            </p:extLst>
          </p:nvPr>
        </p:nvGraphicFramePr>
        <p:xfrm>
          <a:off x="393700" y="1029970"/>
          <a:ext cx="11404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2300" b="0" i="0" u="none" cap="none" spc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복습 </a:t>
                      </a:r>
                      <a:r>
                        <a:rPr lang="en-US" altLang="ko-KR" sz="2300" b="0" i="0" u="none" cap="none" spc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- </a:t>
                      </a:r>
                      <a:r>
                        <a:rPr sz="2300" b="0" i="0" u="none" cap="none" spc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Topic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2300" b="0" i="0" u="none" cap="none" spc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실습 장비 소개</a:t>
                      </a:r>
                      <a:endParaRPr sz="2300" b="0" i="0" u="none" cap="none" spc="0" dirty="0">
                        <a:ln>
                          <a:noFill/>
                        </a:ln>
                        <a:solidFill>
                          <a:prstClr val="black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Topic·Service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04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Server·Client</a:t>
                      </a:r>
                      <a:endParaRPr sz="2300" b="0" i="0" u="none" cap="none" spc="0" dirty="0">
                        <a:ln>
                          <a:noFill/>
                        </a:ln>
                        <a:solidFill>
                          <a:prstClr val="black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dirty="0"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05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300" b="0" i="0" u="none" cap="none" spc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ROS2 </a:t>
                      </a:r>
                      <a:r>
                        <a:rPr sz="2300" b="0" i="0" u="none" cap="none" spc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Launch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dirty="0"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06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실습</a:t>
                      </a:r>
                      <a:r>
                        <a:rPr sz="2300" b="0" i="0" u="none" cap="none" spc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 1·2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dirty="0"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133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202359C0-8A7A-196E-DD58-8E6569619F09}" type="slidenum">
              <a:rPr>
                <a:latin typeface="Pretendard"/>
                <a:ea typeface="Pretendard"/>
                <a:cs typeface="Pretendard"/>
              </a:rPr>
              <a:t>3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420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이론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 err="1">
                <a:latin typeface="Pretendard"/>
                <a:ea typeface="Pretendard"/>
                <a:cs typeface="Pretendard"/>
              </a:rPr>
              <a:t>관절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상태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Topic과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요청·응답</a:t>
            </a:r>
            <a:r>
              <a:rPr sz="1600" dirty="0">
                <a:latin typeface="Pretendard"/>
                <a:ea typeface="Pretendard"/>
                <a:cs typeface="Pretendard"/>
              </a:rPr>
              <a:t> Service </a:t>
            </a:r>
            <a:r>
              <a:rPr sz="1600" dirty="0" err="1">
                <a:latin typeface="Pretendard"/>
                <a:ea typeface="Pretendard"/>
                <a:cs typeface="Pretendard"/>
              </a:rPr>
              <a:t>이해</a:t>
            </a:r>
            <a:endParaRPr sz="1600" dirty="0"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EFD6AB9A-5F9E-5F59-51AB-3C8734130965}" type="slidenum">
              <a:rPr>
                <a:latin typeface="Pretendard"/>
                <a:ea typeface="Pretendard"/>
                <a:cs typeface="Pretendard"/>
              </a:rPr>
              <a:t>4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755665"/>
          </a:xfrm>
        </p:spPr>
        <p:txBody>
          <a:bodyPr/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2주차 통신 복습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7" name="Google Shape;534;p58">
            <a:extLst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noGrp="1"/>
          </p:cNvSpPr>
          <p:nvPr/>
        </p:nvSpPr>
        <p:spPr>
          <a:xfrm>
            <a:off x="393700" y="1820543"/>
            <a:ext cx="11404600" cy="154495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b="1" dirty="0">
                <a:latin typeface="Pretendard"/>
                <a:ea typeface="Pretendard"/>
                <a:cs typeface="Pretendard"/>
              </a:rPr>
              <a:t>Publisher</a:t>
            </a:r>
            <a:r>
              <a:rPr sz="1600" dirty="0">
                <a:latin typeface="Pretendard"/>
                <a:ea typeface="Pretendard"/>
                <a:cs typeface="Pretendard"/>
              </a:rPr>
              <a:t>: </a:t>
            </a:r>
            <a:r>
              <a:rPr sz="1600" dirty="0" err="1">
                <a:latin typeface="Pretendard"/>
                <a:ea typeface="Pretendard"/>
                <a:cs typeface="Pretendard"/>
              </a:rPr>
              <a:t>새로운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관절값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반복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발행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b="1" dirty="0">
                <a:latin typeface="Pretendard"/>
                <a:ea typeface="Pretendard"/>
                <a:cs typeface="Pretendard"/>
              </a:rPr>
              <a:t>Topic</a:t>
            </a:r>
            <a:r>
              <a:rPr sz="1600" dirty="0">
                <a:latin typeface="Pretendard"/>
                <a:ea typeface="Pretendard"/>
                <a:cs typeface="Pretendard"/>
              </a:rPr>
              <a:t>: /</a:t>
            </a:r>
            <a:r>
              <a:rPr sz="1600" dirty="0" err="1">
                <a:latin typeface="Pretendard"/>
                <a:ea typeface="Pretendard"/>
                <a:cs typeface="Pretendard"/>
              </a:rPr>
              <a:t>joint_states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데이터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통로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</a:t>
            </a:r>
            <a:r>
              <a:rPr sz="1600" b="1" dirty="0">
                <a:latin typeface="Pretendard"/>
                <a:ea typeface="Pretendard"/>
                <a:cs typeface="Pretendard"/>
              </a:rPr>
              <a:t> Subscriber</a:t>
            </a:r>
            <a:r>
              <a:rPr sz="1600" dirty="0">
                <a:latin typeface="Pretendard"/>
                <a:ea typeface="Pretendard"/>
                <a:cs typeface="Pretendard"/>
              </a:rPr>
              <a:t>: </a:t>
            </a:r>
            <a:r>
              <a:rPr sz="1600" dirty="0" err="1">
                <a:latin typeface="Pretendard"/>
                <a:ea typeface="Pretendard"/>
                <a:cs typeface="Pretendard"/>
              </a:rPr>
              <a:t>메시지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도착</a:t>
            </a:r>
            <a:r>
              <a:rPr sz="1600" dirty="0">
                <a:latin typeface="Pretendard"/>
                <a:ea typeface="Pretendard"/>
                <a:cs typeface="Pretendard"/>
              </a:rPr>
              <a:t> 시 Callback </a:t>
            </a:r>
            <a:r>
              <a:rPr sz="1600" dirty="0" err="1">
                <a:latin typeface="Pretendard"/>
                <a:ea typeface="Pretendard"/>
                <a:cs typeface="Pretendard"/>
              </a:rPr>
              <a:t>실행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같은</a:t>
            </a:r>
            <a:r>
              <a:rPr sz="1600" dirty="0">
                <a:latin typeface="Pretendard"/>
                <a:ea typeface="Pretendard"/>
                <a:cs typeface="Pretendard"/>
              </a:rPr>
              <a:t> Topic </a:t>
            </a:r>
            <a:r>
              <a:rPr sz="1600" dirty="0" err="1">
                <a:latin typeface="Pretendard"/>
                <a:ea typeface="Pretendard"/>
                <a:cs typeface="Pretendard"/>
              </a:rPr>
              <a:t>이름과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메시지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타입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사용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Google Shape;534;p58">
            <a:extLst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noGrp="1"/>
          </p:cNvSpPr>
          <p:nvPr/>
        </p:nvSpPr>
        <p:spPr>
          <a:xfrm>
            <a:off x="393699" y="131801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>
                <a:latin typeface="Pretendard"/>
                <a:ea typeface="Pretendard"/>
                <a:cs typeface="Pretendard"/>
              </a:rPr>
              <a:t>Publisher–Topic–Subscriber </a:t>
            </a:r>
            <a:r>
              <a:rPr sz="2000" dirty="0" err="1">
                <a:latin typeface="Pretendard"/>
                <a:ea typeface="Pretendard"/>
                <a:cs typeface="Pretendard"/>
              </a:rPr>
              <a:t>구조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  <p:pic>
        <p:nvPicPr>
          <p:cNvPr id="3" name="그림 2" descr="basic_topic.png">
            <a:extLst>
              <a:ext uri="{FF2B5EF4-FFF2-40B4-BE49-F238E27FC236}">
                <a16:creationId xmlns:a16="http://schemas.microsoft.com/office/drawing/2014/main" id="{703AC277-0BA1-4F3D-4206-52040A891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99" y="3736799"/>
            <a:ext cx="5028032" cy="217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83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EE5B3003-2C54-13C6-9832-7637201064DE}" type="slidenum">
              <a:rPr>
                <a:latin typeface="Pretendard"/>
                <a:ea typeface="Pretendard"/>
                <a:cs typeface="Pretendard"/>
              </a:rPr>
              <a:t>5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r>
              <a:rPr dirty="0" err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</a:t>
            </a:r>
            <a:r>
              <a:rPr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dirty="0" err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장비</a:t>
            </a:r>
            <a:r>
              <a:rPr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dirty="0" err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구성</a:t>
            </a:r>
            <a:endParaRPr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699442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b="1" dirty="0">
                <a:latin typeface="Pretendard"/>
                <a:ea typeface="Pretendard"/>
                <a:cs typeface="Pretendard"/>
              </a:rPr>
              <a:t>실습장비 소개</a:t>
            </a:r>
            <a:endParaRPr sz="2000" b="1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2452BDDF-1A21-2D20-B5AD-5846BB903A6A}"/>
              </a:ext>
            </a:extLst>
          </p:cNvPr>
          <p:cNvSpPr>
            <a:spLocks noGrp="1"/>
          </p:cNvSpPr>
          <p:nvPr/>
        </p:nvSpPr>
        <p:spPr>
          <a:xfrm>
            <a:off x="6405563" y="1522095"/>
            <a:ext cx="5394008" cy="4471988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pic>
        <p:nvPicPr>
          <p:cNvPr id="2" name="그림 1" descr="physicai_arm_onoff1.png">
            <a:extLst>
              <a:ext uri="{FF2B5EF4-FFF2-40B4-BE49-F238E27FC236}">
                <a16:creationId xmlns:a16="http://schemas.microsoft.com/office/drawing/2014/main" id="{EB3CD545-38B4-C544-8D35-4FF31ABC4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984" y="1695461"/>
            <a:ext cx="4485666" cy="424782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F519600-CF9E-CA41-698F-69DC94015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29" y="1986381"/>
            <a:ext cx="4925090" cy="133293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D6FD022-A362-0FDA-AA4F-D68A21C25B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429" y="3538683"/>
            <a:ext cx="2850992" cy="268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8C630A04-5A25-9E0C-9436-126091DB86B3}" type="slidenum">
              <a:rPr>
                <a:latin typeface="Pretendard"/>
                <a:ea typeface="Pretendard"/>
                <a:cs typeface="Pretendard"/>
              </a:rPr>
              <a:t>6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r>
              <a:rPr lang="en-US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ROS2 - Service</a:t>
            </a:r>
            <a:endParaRPr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558798" y="1950889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service_server</a:t>
            </a:r>
            <a:r>
              <a:rPr sz="1600" dirty="0">
                <a:latin typeface="Pretendard"/>
                <a:ea typeface="Pretendard"/>
                <a:cs typeface="Pretendard"/>
              </a:rPr>
              <a:t>: </a:t>
            </a:r>
            <a:r>
              <a:rPr sz="1600" dirty="0" err="1">
                <a:latin typeface="Pretendard"/>
                <a:ea typeface="Pretendard"/>
                <a:cs typeface="Pretendard"/>
              </a:rPr>
              <a:t>최신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메시지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저장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service_client</a:t>
            </a:r>
            <a:r>
              <a:rPr sz="1600" dirty="0">
                <a:latin typeface="Pretendard"/>
                <a:ea typeface="Pretendard"/>
                <a:cs typeface="Pretendard"/>
              </a:rPr>
              <a:t>: </a:t>
            </a:r>
            <a:r>
              <a:rPr sz="1600" dirty="0" err="1">
                <a:latin typeface="Pretendard"/>
                <a:ea typeface="Pretendard"/>
                <a:cs typeface="Pretendard"/>
              </a:rPr>
              <a:t>필요할</a:t>
            </a:r>
            <a:r>
              <a:rPr sz="1600" dirty="0">
                <a:latin typeface="Pretendard"/>
                <a:ea typeface="Pretendard"/>
                <a:cs typeface="Pretendard"/>
              </a:rPr>
              <a:t> 때 한 번 </a:t>
            </a:r>
            <a:r>
              <a:rPr sz="1600" dirty="0" err="1">
                <a:latin typeface="Pretendard"/>
                <a:ea typeface="Pretendard"/>
                <a:cs typeface="Pretendard"/>
              </a:rPr>
              <a:t>요청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810895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Service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는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Client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가 요청했을 때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Server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가 결과를 한 번 반환하는 통신 방식</a:t>
            </a:r>
            <a:endParaRPr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4F9E679-EC49-CF77-F2A5-F9C385483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93" y="2923475"/>
            <a:ext cx="4271043" cy="335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072" y="2117646"/>
            <a:ext cx="2776159" cy="160995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1" dirty="0">
                <a:latin typeface="Pretendard"/>
                <a:ea typeface="Pretendard"/>
                <a:cs typeface="Pretendard"/>
              </a:rPr>
              <a:t>Topic</a:t>
            </a:r>
            <a:endParaRPr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Publisher가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계속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발행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Subscriber가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매번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수신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다수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노드가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동시에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구독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가능</a:t>
            </a:r>
            <a:endParaRPr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2DD23107-4986-8758-3A93-3D74F35908CC}" type="slidenum">
              <a:rPr>
                <a:latin typeface="Pretendard"/>
                <a:ea typeface="Pretendard"/>
                <a:cs typeface="Pretendard"/>
              </a:rPr>
              <a:t>7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Topic과 Service 비교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7785154" y="1849794"/>
            <a:ext cx="2558254" cy="188055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1" dirty="0">
                <a:latin typeface="Pretendard"/>
                <a:ea typeface="Pretendard"/>
                <a:cs typeface="Pretendard"/>
              </a:rPr>
              <a:t>Service</a:t>
            </a:r>
            <a:endParaRPr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Client </a:t>
            </a:r>
            <a:r>
              <a:rPr sz="1400" dirty="0" err="1">
                <a:latin typeface="Pretendard"/>
                <a:ea typeface="Pretendard"/>
                <a:cs typeface="Pretendard"/>
              </a:rPr>
              <a:t>요청</a:t>
            </a:r>
            <a:r>
              <a:rPr sz="1400" dirty="0">
                <a:latin typeface="Pretendard"/>
                <a:ea typeface="Pretendard"/>
                <a:cs typeface="Pretendard"/>
              </a:rPr>
              <a:t> 시 </a:t>
            </a:r>
            <a:r>
              <a:rPr sz="1400" dirty="0" err="1">
                <a:latin typeface="Pretendard"/>
                <a:ea typeface="Pretendard"/>
                <a:cs typeface="Pretendard"/>
              </a:rPr>
              <a:t>실행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Server가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응답</a:t>
            </a:r>
            <a:r>
              <a:rPr sz="1400" dirty="0">
                <a:latin typeface="Pretendard"/>
                <a:ea typeface="Pretendard"/>
                <a:cs typeface="Pretendard"/>
              </a:rPr>
              <a:t> 한 번 </a:t>
            </a:r>
            <a:r>
              <a:rPr sz="1400" dirty="0" err="1">
                <a:latin typeface="Pretendard"/>
                <a:ea typeface="Pretendard"/>
                <a:cs typeface="Pretendard"/>
              </a:rPr>
              <a:t>반환</a:t>
            </a:r>
            <a:endParaRPr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요청과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응답이</a:t>
            </a:r>
            <a:r>
              <a:rPr sz="1400" dirty="0">
                <a:latin typeface="Pretendard"/>
                <a:ea typeface="Pretendard"/>
                <a:cs typeface="Pretendard"/>
              </a:rPr>
              <a:t> 한 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쌍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 err="1">
                <a:latin typeface="Pretendard"/>
                <a:ea typeface="Pretendard"/>
                <a:cs typeface="Pretendard"/>
              </a:rPr>
              <a:t>연속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상태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전달과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필요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시점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조회의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차이</a:t>
            </a:r>
            <a:endParaRPr sz="2000" b="1" dirty="0">
              <a:latin typeface="Pretendard"/>
              <a:ea typeface="Pretendard"/>
              <a:cs typeface="Pretendar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7EA547-440B-92F3-37C1-4E8B5D20A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795" y="3429000"/>
            <a:ext cx="3600953" cy="282932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E68326F-1AFD-AE89-7299-1017E0ED9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072" y="4022772"/>
            <a:ext cx="6373114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327921A4-25C4-3DB4-06B1-32693CEE2241}" type="slidenum">
              <a:rPr>
                <a:latin typeface="Pretendard"/>
                <a:ea typeface="Pretendard"/>
                <a:cs typeface="Pretendard"/>
              </a:rPr>
              <a:t>8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r>
              <a:rPr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ROS 2 </a:t>
            </a:r>
            <a:r>
              <a:rPr dirty="0" err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인터페이스</a:t>
            </a:r>
            <a:r>
              <a:rPr lang="en-US" dirty="0">
                <a:solidFill>
                  <a:schemeClr val="accent1"/>
                </a:solidFill>
              </a:rPr>
              <a:t>: </a:t>
            </a:r>
            <a:r>
              <a:rPr lang="en-US" altLang="ko-KR" dirty="0">
                <a:solidFill>
                  <a:schemeClr val="accent1"/>
                </a:solidFill>
              </a:rPr>
              <a:t>.msg</a:t>
            </a:r>
            <a:r>
              <a:rPr lang="ko-KR" altLang="en-US" dirty="0">
                <a:solidFill>
                  <a:schemeClr val="accent1"/>
                </a:solidFill>
              </a:rPr>
              <a:t>와 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r>
              <a:rPr lang="en-US" altLang="ko-KR" dirty="0" err="1">
                <a:solidFill>
                  <a:schemeClr val="accent1"/>
                </a:solidFill>
              </a:rPr>
              <a:t>srv</a:t>
            </a:r>
            <a:endParaRPr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488703" y="175577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>
                <a:latin typeface="Pretendard"/>
                <a:ea typeface="Pretendard"/>
                <a:cs typeface="Pretendard"/>
              </a:rPr>
              <a:t>• </a:t>
            </a:r>
            <a:r>
              <a:rPr sz="2000" dirty="0" err="1">
                <a:latin typeface="Pretendard"/>
                <a:ea typeface="Pretendard"/>
                <a:cs typeface="Pretendard"/>
              </a:rPr>
              <a:t>Topic은</a:t>
            </a:r>
            <a:r>
              <a:rPr sz="2000" dirty="0">
                <a:latin typeface="Pretendard"/>
                <a:ea typeface="Pretendard"/>
                <a:cs typeface="Pretendard"/>
              </a:rPr>
              <a:t> Message </a:t>
            </a:r>
            <a:r>
              <a:rPr sz="2000" dirty="0" err="1">
                <a:latin typeface="Pretendard"/>
                <a:ea typeface="Pretendard"/>
                <a:cs typeface="Pretendard"/>
              </a:rPr>
              <a:t>인터페이스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사용</a:t>
            </a:r>
            <a:endParaRPr sz="20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>
                <a:latin typeface="Pretendard"/>
                <a:ea typeface="Pretendard"/>
                <a:cs typeface="Pretendard"/>
              </a:rPr>
              <a:t>• </a:t>
            </a:r>
            <a:r>
              <a:rPr sz="2000" dirty="0" err="1">
                <a:latin typeface="Pretendard"/>
                <a:ea typeface="Pretendard"/>
                <a:cs typeface="Pretendard"/>
              </a:rPr>
              <a:t>Service는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Request·Response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인터페이스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사용</a:t>
            </a:r>
            <a:endParaRPr sz="20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>
                <a:latin typeface="Pretendard"/>
                <a:ea typeface="Pretendard"/>
                <a:cs typeface="Pretendard"/>
              </a:rPr>
              <a:t>• </a:t>
            </a:r>
            <a:r>
              <a:rPr sz="2000" dirty="0" err="1">
                <a:latin typeface="Pretendard"/>
                <a:ea typeface="Pretendard"/>
                <a:cs typeface="Pretendard"/>
              </a:rPr>
              <a:t>이름뿐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아니라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인터페이스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타입도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일치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필요</a:t>
            </a:r>
            <a:endParaRPr sz="20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>
                <a:latin typeface="Pretendard"/>
                <a:ea typeface="Pretendard"/>
                <a:cs typeface="Pretendard"/>
              </a:rPr>
              <a:t>• </a:t>
            </a:r>
            <a:r>
              <a:rPr sz="2000" dirty="0" err="1">
                <a:latin typeface="Pretendard"/>
                <a:ea typeface="Pretendard"/>
                <a:cs typeface="Pretendard"/>
              </a:rPr>
              <a:t>설치된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규격은</a:t>
            </a:r>
            <a:r>
              <a:rPr sz="2000" dirty="0">
                <a:latin typeface="Pretendard"/>
                <a:ea typeface="Pretendard"/>
                <a:cs typeface="Pretendard"/>
              </a:rPr>
              <a:t> ros2 interface </a:t>
            </a:r>
            <a:r>
              <a:rPr sz="2000" dirty="0" err="1">
                <a:latin typeface="Pretendard"/>
                <a:ea typeface="Pretendard"/>
                <a:cs typeface="Pretendard"/>
              </a:rPr>
              <a:t>show로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확인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b="1" dirty="0">
                <a:latin typeface="Pretendard"/>
                <a:ea typeface="Pretendard"/>
                <a:cs typeface="Pretendard"/>
              </a:rPr>
              <a:t>인터페이스</a:t>
            </a:r>
            <a:r>
              <a:rPr lang="en-US" altLang="ko-KR" b="1" dirty="0">
                <a:latin typeface="Pretendard"/>
                <a:ea typeface="Pretendard"/>
                <a:cs typeface="Pretendard"/>
              </a:rPr>
              <a:t>: </a:t>
            </a:r>
            <a:r>
              <a:rPr b="1" dirty="0" err="1">
                <a:latin typeface="Pretendard"/>
                <a:ea typeface="Pretendard"/>
                <a:cs typeface="Pretendard"/>
              </a:rPr>
              <a:t>송신</a:t>
            </a:r>
            <a:r>
              <a:rPr b="1" dirty="0">
                <a:latin typeface="Pretendard"/>
                <a:ea typeface="Pretendard"/>
                <a:cs typeface="Pretendard"/>
              </a:rPr>
              <a:t> </a:t>
            </a:r>
            <a:r>
              <a:rPr b="1" dirty="0" err="1">
                <a:latin typeface="Pretendard"/>
                <a:ea typeface="Pretendard"/>
                <a:cs typeface="Pretendard"/>
              </a:rPr>
              <a:t>측과</a:t>
            </a:r>
            <a:r>
              <a:rPr b="1" dirty="0">
                <a:latin typeface="Pretendard"/>
                <a:ea typeface="Pretendard"/>
                <a:cs typeface="Pretendard"/>
              </a:rPr>
              <a:t> </a:t>
            </a:r>
            <a:r>
              <a:rPr b="1" dirty="0" err="1">
                <a:latin typeface="Pretendard"/>
                <a:ea typeface="Pretendard"/>
                <a:cs typeface="Pretendard"/>
              </a:rPr>
              <a:t>수신</a:t>
            </a:r>
            <a:r>
              <a:rPr b="1" dirty="0">
                <a:latin typeface="Pretendard"/>
                <a:ea typeface="Pretendard"/>
                <a:cs typeface="Pretendard"/>
              </a:rPr>
              <a:t> </a:t>
            </a:r>
            <a:r>
              <a:rPr b="1" dirty="0" err="1">
                <a:latin typeface="Pretendard"/>
                <a:ea typeface="Pretendard"/>
                <a:cs typeface="Pretendard"/>
              </a:rPr>
              <a:t>측이</a:t>
            </a:r>
            <a:r>
              <a:rPr b="1" dirty="0">
                <a:latin typeface="Pretendard"/>
                <a:ea typeface="Pretendard"/>
                <a:cs typeface="Pretendard"/>
              </a:rPr>
              <a:t> </a:t>
            </a:r>
            <a:r>
              <a:rPr b="1" dirty="0" err="1">
                <a:latin typeface="Pretendard"/>
                <a:ea typeface="Pretendard"/>
                <a:cs typeface="Pretendard"/>
              </a:rPr>
              <a:t>공유하는</a:t>
            </a:r>
            <a:r>
              <a:rPr b="1" dirty="0">
                <a:latin typeface="Pretendard"/>
                <a:ea typeface="Pretendard"/>
                <a:cs typeface="Pretendard"/>
              </a:rPr>
              <a:t> </a:t>
            </a:r>
            <a:r>
              <a:rPr b="1" dirty="0" err="1">
                <a:latin typeface="Pretendard"/>
                <a:ea typeface="Pretendard"/>
                <a:cs typeface="Pretendard"/>
              </a:rPr>
              <a:t>데이터</a:t>
            </a:r>
            <a:r>
              <a:rPr b="1" dirty="0">
                <a:latin typeface="Pretendard"/>
                <a:ea typeface="Pretendard"/>
                <a:cs typeface="Pretendard"/>
              </a:rPr>
              <a:t> </a:t>
            </a:r>
            <a:r>
              <a:rPr b="1" dirty="0" err="1">
                <a:latin typeface="Pretendard"/>
                <a:ea typeface="Pretendard"/>
                <a:cs typeface="Pretendard"/>
              </a:rPr>
              <a:t>구조의</a:t>
            </a:r>
            <a:r>
              <a:rPr b="1" dirty="0">
                <a:latin typeface="Pretendard"/>
                <a:ea typeface="Pretendard"/>
                <a:cs typeface="Pretendard"/>
              </a:rPr>
              <a:t> </a:t>
            </a:r>
            <a:r>
              <a:rPr b="1" dirty="0" err="1">
                <a:latin typeface="Pretendard"/>
                <a:ea typeface="Pretendard"/>
                <a:cs typeface="Pretendard"/>
              </a:rPr>
              <a:t>약속</a:t>
            </a:r>
            <a:endParaRPr b="1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.msg</a:t>
            </a:r>
            <a:endParaRPr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Topic </a:t>
            </a:r>
            <a:r>
              <a:rPr sz="1600" dirty="0" err="1">
                <a:latin typeface="Pretendard"/>
                <a:ea typeface="Pretendard"/>
                <a:cs typeface="Pretendard"/>
              </a:rPr>
              <a:t>메시지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필드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정의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한 </a:t>
            </a:r>
            <a:r>
              <a:rPr sz="1600" dirty="0" err="1">
                <a:latin typeface="Pretendard"/>
                <a:ea typeface="Pretendard"/>
                <a:cs typeface="Pretendard"/>
              </a:rPr>
              <a:t>방향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데이터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구조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sz="1050" dirty="0">
                <a:latin typeface="Pretendard"/>
                <a:ea typeface="Pretendard"/>
                <a:cs typeface="Pretendard"/>
              </a:rPr>
              <a:t>예: string[] name</a:t>
            </a: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sz="1050" dirty="0">
                <a:latin typeface="Pretendard"/>
                <a:ea typeface="Pretendard"/>
                <a:cs typeface="Pretendard"/>
              </a:rPr>
              <a:t>예: float64[] position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EA83FA91-883A-0168-8075-96CEB9DCA3C2}" type="slidenum">
              <a:rPr>
                <a:latin typeface="Pretendard"/>
                <a:ea typeface="Pretendard"/>
                <a:cs typeface="Pretendard"/>
              </a:rPr>
              <a:t>9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dirty="0">
                <a:solidFill>
                  <a:schemeClr val="accent1"/>
                </a:solidFill>
              </a:rPr>
              <a:t>ROS 2 </a:t>
            </a:r>
            <a:r>
              <a:rPr lang="ko-KR" altLang="en-US" dirty="0">
                <a:solidFill>
                  <a:schemeClr val="accent1"/>
                </a:solidFill>
              </a:rPr>
              <a:t>인터페이스</a:t>
            </a:r>
            <a:r>
              <a:rPr lang="en-US" altLang="ko-KR" dirty="0">
                <a:solidFill>
                  <a:schemeClr val="accent1"/>
                </a:solidFill>
              </a:rPr>
              <a:t>: .msg</a:t>
            </a:r>
            <a:r>
              <a:rPr lang="ko-KR" altLang="en-US" dirty="0">
                <a:solidFill>
                  <a:schemeClr val="accent1"/>
                </a:solidFill>
              </a:rPr>
              <a:t>와 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r>
              <a:rPr lang="en-US" altLang="ko-KR" dirty="0" err="1">
                <a:solidFill>
                  <a:schemeClr val="accent1"/>
                </a:solidFill>
              </a:rPr>
              <a:t>srv</a:t>
            </a:r>
            <a:endParaRPr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800" b="1" dirty="0">
                <a:latin typeface="Pretendard"/>
                <a:ea typeface="Pretendard"/>
                <a:cs typeface="Pretendard"/>
              </a:rPr>
              <a:t>.</a:t>
            </a:r>
            <a:r>
              <a:rPr sz="2800" b="1" dirty="0" err="1">
                <a:latin typeface="Pretendard"/>
                <a:ea typeface="Pretendard"/>
                <a:cs typeface="Pretendard"/>
              </a:rPr>
              <a:t>srv</a:t>
            </a:r>
            <a:endParaRPr sz="1600" dirty="0"/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sz="1600" dirty="0" err="1">
                <a:latin typeface="Pretendard"/>
                <a:ea typeface="Pretendard"/>
                <a:cs typeface="Pretendard"/>
              </a:rPr>
              <a:t>Request와</a:t>
            </a:r>
            <a:r>
              <a:rPr sz="1600" dirty="0">
                <a:latin typeface="Pretendard"/>
                <a:ea typeface="Pretendard"/>
                <a:cs typeface="Pretendard"/>
              </a:rPr>
              <a:t> Response </a:t>
            </a:r>
            <a:r>
              <a:rPr sz="1600" dirty="0" err="1">
                <a:latin typeface="Pretendard"/>
                <a:ea typeface="Pretendard"/>
                <a:cs typeface="Pretendard"/>
              </a:rPr>
              <a:t>함께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정의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--- </a:t>
            </a:r>
            <a:r>
              <a:rPr sz="1600" dirty="0" err="1">
                <a:latin typeface="Pretendard"/>
                <a:ea typeface="Pretendard"/>
                <a:cs typeface="Pretendard"/>
              </a:rPr>
              <a:t>구분선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사용</a:t>
            </a:r>
            <a:endParaRPr lang="en-US" sz="1600" dirty="0">
              <a:latin typeface="Pretendard"/>
              <a:ea typeface="Pretendard"/>
              <a:cs typeface="Pretendard"/>
            </a:endParaRP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en-US" sz="1050" dirty="0"/>
              <a:t>string </a:t>
            </a:r>
            <a:r>
              <a:rPr lang="en-US" sz="1050" dirty="0" err="1"/>
              <a:t>item_name</a:t>
            </a:r>
            <a:r>
              <a:rPr lang="en-US" sz="1050" dirty="0"/>
              <a:t>       # Client</a:t>
            </a:r>
            <a:r>
              <a:rPr lang="ko-KR" altLang="en-US" sz="1050" dirty="0"/>
              <a:t>가 </a:t>
            </a:r>
            <a:r>
              <a:rPr lang="en-US" sz="1050" dirty="0"/>
              <a:t>Server</a:t>
            </a:r>
            <a:r>
              <a:rPr lang="ko-KR" altLang="en-US" sz="1050" dirty="0"/>
              <a:t>에 보내는 </a:t>
            </a:r>
            <a:r>
              <a:rPr lang="en-US" sz="1050" dirty="0"/>
              <a:t>Request</a:t>
            </a: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en-US" sz="1050" dirty="0"/>
              <a:t>---</a:t>
            </a: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en-US" sz="1050" dirty="0"/>
              <a:t>bool success               # Server</a:t>
            </a:r>
            <a:r>
              <a:rPr lang="ko-KR" altLang="en-US" sz="1050" dirty="0"/>
              <a:t>가 </a:t>
            </a:r>
            <a:r>
              <a:rPr lang="en-US" sz="1050" dirty="0"/>
              <a:t>Client</a:t>
            </a:r>
            <a:r>
              <a:rPr lang="ko-KR" altLang="en-US" sz="1050" dirty="0"/>
              <a:t>에 돌려주는 </a:t>
            </a:r>
            <a:r>
              <a:rPr lang="en-US" sz="1050" dirty="0"/>
              <a:t>Response</a:t>
            </a: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en-US" sz="1050" dirty="0"/>
              <a:t>string message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1600" dirty="0"/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sz="1600" dirty="0" err="1">
                <a:latin typeface="Pretendard"/>
                <a:ea typeface="Pretendard"/>
                <a:cs typeface="Pretendard"/>
              </a:rPr>
              <a:t>위쪽</a:t>
            </a:r>
            <a:r>
              <a:rPr sz="1600" dirty="0">
                <a:latin typeface="Pretendard"/>
                <a:ea typeface="Pretendard"/>
                <a:cs typeface="Pretendard"/>
              </a:rPr>
              <a:t>: Client </a:t>
            </a:r>
            <a:r>
              <a:rPr sz="1600" dirty="0" err="1">
                <a:latin typeface="Pretendard"/>
                <a:ea typeface="Pretendard"/>
                <a:cs typeface="Pretendard"/>
              </a:rPr>
              <a:t>요청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필드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sz="1600" dirty="0" err="1">
                <a:latin typeface="Pretendard"/>
                <a:ea typeface="Pretendard"/>
                <a:cs typeface="Pretendard"/>
              </a:rPr>
              <a:t>아래쪽</a:t>
            </a:r>
            <a:r>
              <a:rPr sz="1600" dirty="0">
                <a:latin typeface="Pretendard"/>
                <a:ea typeface="Pretendard"/>
                <a:cs typeface="Pretendard"/>
              </a:rPr>
              <a:t>: Server </a:t>
            </a:r>
            <a:r>
              <a:rPr sz="1600" dirty="0" err="1">
                <a:latin typeface="Pretendard"/>
                <a:ea typeface="Pretendard"/>
                <a:cs typeface="Pretendard"/>
              </a:rPr>
              <a:t>응답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필드</a:t>
            </a:r>
            <a:endParaRPr sz="1600" dirty="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991235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2000" b="1" dirty="0">
                <a:latin typeface="Pretendard"/>
                <a:ea typeface="Pretendard"/>
                <a:cs typeface="Pretendard"/>
              </a:rPr>
              <a:t>Topic</a:t>
            </a:r>
            <a:r>
              <a:rPr lang="en-US" altLang="ko-KR" sz="2000" dirty="0">
                <a:latin typeface="Pretendard"/>
                <a:ea typeface="Pretendard"/>
                <a:cs typeface="Pretendard"/>
              </a:rPr>
              <a:t>: Topic</a:t>
            </a:r>
            <a:r>
              <a:rPr lang="ko-KR" altLang="en-US" sz="2000" dirty="0">
                <a:latin typeface="Pretendard"/>
                <a:ea typeface="Pretendard"/>
                <a:cs typeface="Pretendard"/>
              </a:rPr>
              <a:t>으로 전달할 한 개 메시지의 필드와 타입을 정의</a:t>
            </a:r>
            <a:endParaRPr lang="en-US" altLang="ko-KR" sz="2000" dirty="0">
              <a:latin typeface="Pretendard"/>
              <a:ea typeface="Pretendard"/>
              <a:cs typeface="Pretendard"/>
            </a:endParaRP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2000" b="1" dirty="0"/>
              <a:t>Service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Client가</a:t>
            </a:r>
            <a:r>
              <a:rPr lang="ko-KR" altLang="ko-KR" sz="2000" dirty="0"/>
              <a:t> </a:t>
            </a:r>
            <a:r>
              <a:rPr lang="ko-KR" altLang="ko-KR" sz="2000" dirty="0" err="1"/>
              <a:t>Server로</a:t>
            </a:r>
            <a:r>
              <a:rPr lang="ko-KR" altLang="ko-KR" sz="2000" dirty="0"/>
              <a:t> 보내는 요청과 </a:t>
            </a:r>
            <a:r>
              <a:rPr lang="ko-KR" altLang="ko-KR" sz="2000" dirty="0" err="1"/>
              <a:t>Server가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Client로</a:t>
            </a:r>
            <a:r>
              <a:rPr lang="ko-KR" altLang="ko-KR" sz="2000" dirty="0"/>
              <a:t> 돌려주는 응답</a:t>
            </a:r>
            <a:r>
              <a:rPr lang="ko-KR" altLang="en-US" sz="2000" dirty="0"/>
              <a:t>을</a:t>
            </a:r>
            <a:r>
              <a:rPr lang="en-US" altLang="ko-KR" sz="2000" dirty="0"/>
              <a:t> </a:t>
            </a:r>
            <a:r>
              <a:rPr lang="ko-KR" altLang="en-US" sz="2000" dirty="0"/>
              <a:t>모두 정의</a:t>
            </a:r>
            <a:endParaRPr lang="en-US" altLang="ko-KR" sz="20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2000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CCF91274-D221-1BB4-3BF9-836E3AD31EBE}" type="slidenum">
              <a:rPr>
                <a:latin typeface="Pretendard"/>
                <a:ea typeface="Pretendard"/>
                <a:cs typeface="Pretendard"/>
              </a:rPr>
              <a:t>10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r>
              <a:rPr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Service Client </a:t>
            </a:r>
            <a:r>
              <a:rPr dirty="0" err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흐름</a:t>
            </a:r>
            <a:endParaRPr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1970" y="1934871"/>
            <a:ext cx="5537200" cy="79761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Client도</a:t>
            </a:r>
            <a:r>
              <a:rPr sz="1600" dirty="0">
                <a:latin typeface="Pretendard"/>
                <a:ea typeface="Pretendard"/>
                <a:cs typeface="Pretendard"/>
              </a:rPr>
              <a:t> ROS </a:t>
            </a:r>
            <a:r>
              <a:rPr sz="1600" dirty="0" err="1">
                <a:latin typeface="Pretendard"/>
                <a:ea typeface="Pretendard"/>
                <a:cs typeface="Pretendard"/>
              </a:rPr>
              <a:t>Graph에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참여하는</a:t>
            </a:r>
            <a:r>
              <a:rPr sz="1600" dirty="0">
                <a:latin typeface="Pretendard"/>
                <a:ea typeface="Pretendard"/>
                <a:cs typeface="Pretendard"/>
              </a:rPr>
              <a:t> Node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Service </a:t>
            </a:r>
            <a:r>
              <a:rPr sz="1600" dirty="0" err="1">
                <a:latin typeface="Pretendard"/>
                <a:ea typeface="Pretendard"/>
                <a:cs typeface="Pretendard"/>
              </a:rPr>
              <a:t>이름과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타입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일치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필요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6110622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 err="1">
                <a:latin typeface="Pretendard"/>
                <a:ea typeface="Pretendard"/>
                <a:cs typeface="Pretendard"/>
              </a:rPr>
              <a:t>Server를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발견한</a:t>
            </a:r>
            <a:r>
              <a:rPr sz="2000" b="1" dirty="0">
                <a:latin typeface="Pretendard"/>
                <a:ea typeface="Pretendard"/>
                <a:cs typeface="Pretendard"/>
              </a:rPr>
              <a:t> 뒤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Request를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보내고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Response를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확인</a:t>
            </a:r>
            <a:endParaRPr sz="2000" b="1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754267" y="3229346"/>
            <a:ext cx="4452733" cy="5305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wait_for_service</a:t>
            </a:r>
            <a:r>
              <a:rPr sz="14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()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750956" y="2818639"/>
            <a:ext cx="4452733" cy="2277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1400" b="0" i="0" u="none" cap="none" spc="0" dirty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발견</a:t>
            </a:r>
            <a:endParaRPr sz="1400" b="0" i="0" u="none" cap="none" spc="0" dirty="0">
              <a:ln>
                <a:noFill/>
              </a:ln>
              <a:solidFill>
                <a:srgbClr val="3357B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754267" y="4515937"/>
            <a:ext cx="4452733" cy="5305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call_async</a:t>
            </a:r>
            <a:r>
              <a:rPr sz="14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(Request)</a:t>
            </a:r>
            <a:r>
              <a:rPr lang="en-US" sz="14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-&gt; Future</a:t>
            </a:r>
            <a:endParaRPr sz="1400" b="0" i="0" u="none" cap="none" spc="0" dirty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750956" y="4105230"/>
            <a:ext cx="4452733" cy="2277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요청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754268" y="5799102"/>
            <a:ext cx="4452733" cy="5305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Future에서</a:t>
            </a:r>
            <a:r>
              <a:rPr sz="14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Response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750957" y="5388395"/>
            <a:ext cx="4452733" cy="2277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672731C3-3B3D-DFCA-5B87-6A9824F94DC9}"/>
              </a:ext>
            </a:extLst>
          </p:cNvPr>
          <p:cNvSpPr>
            <a:spLocks noGrp="1"/>
          </p:cNvSpPr>
          <p:nvPr/>
        </p:nvSpPr>
        <p:spPr>
          <a:xfrm>
            <a:off x="554530" y="5229458"/>
            <a:ext cx="4789630" cy="123764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975D7694-EF39-E4BA-A934-D6C495CCF4BC}"/>
              </a:ext>
            </a:extLst>
          </p:cNvPr>
          <p:cNvSpPr>
            <a:spLocks noGrp="1"/>
          </p:cNvSpPr>
          <p:nvPr/>
        </p:nvSpPr>
        <p:spPr>
          <a:xfrm>
            <a:off x="554530" y="3942867"/>
            <a:ext cx="4789630" cy="123764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84356975-E5D7-C04B-9BA6-EEC211598B5E}"/>
              </a:ext>
            </a:extLst>
          </p:cNvPr>
          <p:cNvSpPr>
            <a:spLocks noGrp="1"/>
          </p:cNvSpPr>
          <p:nvPr/>
        </p:nvSpPr>
        <p:spPr>
          <a:xfrm>
            <a:off x="554531" y="2652850"/>
            <a:ext cx="4789630" cy="123764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 err="1">
                <a:latin typeface="Pretendard"/>
                <a:ea typeface="Pretendard"/>
                <a:cs typeface="Pretendard"/>
              </a:rPr>
              <a:t>create_client</a:t>
            </a:r>
            <a:r>
              <a:rPr sz="2000" b="1" dirty="0">
                <a:latin typeface="Pretendard"/>
                <a:ea typeface="Pretendard"/>
                <a:cs typeface="Pretendard"/>
              </a:rPr>
              <a:t>()</a:t>
            </a:r>
            <a:endParaRPr sz="2000" b="1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Service </a:t>
            </a:r>
            <a:r>
              <a:rPr sz="1400" dirty="0" err="1">
                <a:latin typeface="Pretendard"/>
                <a:ea typeface="Pretendard"/>
                <a:cs typeface="Pretendard"/>
              </a:rPr>
              <a:t>타입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지정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/</a:t>
            </a:r>
            <a:r>
              <a:rPr sz="1400" dirty="0" err="1">
                <a:latin typeface="Pretendard"/>
                <a:ea typeface="Pretendard"/>
                <a:cs typeface="Pretendard"/>
              </a:rPr>
              <a:t>get_joint_state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이름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지정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Client </a:t>
            </a:r>
            <a:r>
              <a:rPr sz="1400" dirty="0" err="1">
                <a:latin typeface="Pretendard"/>
                <a:ea typeface="Pretendard"/>
                <a:cs typeface="Pretendard"/>
              </a:rPr>
              <a:t>객체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반환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인스턴스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변수에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보관</a:t>
            </a:r>
            <a:endParaRPr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844E025A-983C-6D44-79C6-4612AACD43FC}" type="slidenum">
              <a:rPr>
                <a:latin typeface="Pretendard"/>
                <a:ea typeface="Pretendard"/>
                <a:cs typeface="Pretendard"/>
              </a:rPr>
              <a:t>11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r>
              <a:rPr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Client </a:t>
            </a:r>
            <a:r>
              <a:rPr dirty="0" err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생성·Server</a:t>
            </a:r>
            <a:r>
              <a:rPr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dirty="0" err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대기</a:t>
            </a:r>
            <a:endParaRPr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5560261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 err="1">
                <a:latin typeface="Pretendard"/>
                <a:ea typeface="Pretendard"/>
                <a:cs typeface="Pretendard"/>
              </a:rPr>
              <a:t>wait_for_service</a:t>
            </a:r>
            <a:r>
              <a:rPr sz="2000" b="1" dirty="0">
                <a:latin typeface="Pretendard"/>
                <a:ea typeface="Pretendard"/>
                <a:cs typeface="Pretendard"/>
              </a:rPr>
              <a:t>()</a:t>
            </a:r>
            <a:endParaRPr sz="2000" b="1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ROS </a:t>
            </a:r>
            <a:r>
              <a:rPr sz="1400" dirty="0" err="1">
                <a:latin typeface="Pretendard"/>
                <a:ea typeface="Pretendard"/>
                <a:cs typeface="Pretendard"/>
              </a:rPr>
              <a:t>Graph에서</a:t>
            </a:r>
            <a:r>
              <a:rPr sz="1400" dirty="0">
                <a:latin typeface="Pretendard"/>
                <a:ea typeface="Pretendard"/>
                <a:cs typeface="Pretendard"/>
              </a:rPr>
              <a:t> Server </a:t>
            </a:r>
            <a:r>
              <a:rPr sz="1400" dirty="0" err="1">
                <a:latin typeface="Pretendard"/>
                <a:ea typeface="Pretendard"/>
                <a:cs typeface="Pretendard"/>
              </a:rPr>
              <a:t>탐색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제한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시간</a:t>
            </a:r>
            <a:r>
              <a:rPr sz="1400" dirty="0">
                <a:latin typeface="Pretendard"/>
                <a:ea typeface="Pretendard"/>
                <a:cs typeface="Pretendard"/>
              </a:rPr>
              <a:t> 5초</a:t>
            </a:r>
            <a:endParaRPr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발견</a:t>
            </a:r>
            <a:r>
              <a:rPr sz="1400" dirty="0">
                <a:latin typeface="Pretendard"/>
                <a:ea typeface="Pretendard"/>
                <a:cs typeface="Pretendard"/>
              </a:rPr>
              <a:t> 시 True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미발견</a:t>
            </a:r>
            <a:r>
              <a:rPr sz="1400" dirty="0">
                <a:latin typeface="Pretendard"/>
                <a:ea typeface="Pretendard"/>
                <a:cs typeface="Pretendard"/>
              </a:rPr>
              <a:t> 시 </a:t>
            </a:r>
            <a:r>
              <a:rPr sz="1400" dirty="0" err="1">
                <a:latin typeface="Pretendard"/>
                <a:ea typeface="Pretendard"/>
                <a:cs typeface="Pretendard"/>
              </a:rPr>
              <a:t>RuntimeError</a:t>
            </a:r>
            <a:endParaRPr sz="1400" dirty="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 err="1">
                <a:latin typeface="Pretendard"/>
                <a:ea typeface="Pretendard"/>
                <a:cs typeface="Pretendard"/>
              </a:rPr>
              <a:t>요청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창구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생성과</a:t>
            </a:r>
            <a:r>
              <a:rPr sz="2000" dirty="0">
                <a:latin typeface="Pretendard"/>
                <a:ea typeface="Pretendard"/>
                <a:cs typeface="Pretendard"/>
              </a:rPr>
              <a:t> Server </a:t>
            </a:r>
            <a:r>
              <a:rPr sz="2000" dirty="0" err="1">
                <a:latin typeface="Pretendard"/>
                <a:ea typeface="Pretendard"/>
                <a:cs typeface="Pretendard"/>
              </a:rPr>
              <a:t>발견은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서로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다른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단계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2340209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 err="1">
                <a:latin typeface="Pretendard"/>
                <a:ea typeface="Pretendard"/>
                <a:cs typeface="Pretendard"/>
              </a:rPr>
              <a:t>call_async</a:t>
            </a:r>
            <a:r>
              <a:rPr sz="2000" b="1" dirty="0">
                <a:latin typeface="Pretendard"/>
                <a:ea typeface="Pretendard"/>
                <a:cs typeface="Pretendard"/>
              </a:rPr>
              <a:t>()</a:t>
            </a:r>
            <a:endParaRPr sz="2000" b="1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Trigger.Request</a:t>
            </a:r>
            <a:r>
              <a:rPr sz="1400" dirty="0">
                <a:latin typeface="Pretendard"/>
                <a:ea typeface="Pretendard"/>
                <a:cs typeface="Pretendard"/>
              </a:rPr>
              <a:t>() </a:t>
            </a:r>
            <a:r>
              <a:rPr sz="1400" dirty="0" err="1">
                <a:latin typeface="Pretendard"/>
                <a:ea typeface="Pretendard"/>
                <a:cs typeface="Pretendard"/>
              </a:rPr>
              <a:t>전달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네트워크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요청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시작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호출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직후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b="1" dirty="0">
                <a:latin typeface="Pretendard"/>
                <a:ea typeface="Pretendard"/>
                <a:cs typeface="Pretendard"/>
              </a:rPr>
              <a:t>Future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반환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실행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흐름을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장시간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차단하지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않음</a:t>
            </a:r>
            <a:endParaRPr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F6DF2BE2-2DFA-1C03-677D-BDC2260D6D92}" type="slidenum">
              <a:rPr>
                <a:latin typeface="Pretendard"/>
                <a:ea typeface="Pretendard"/>
                <a:cs typeface="Pretendard"/>
              </a:rPr>
              <a:t>12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비동기 호출·Future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66750" y="4378441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>
                <a:latin typeface="Pretendard"/>
                <a:ea typeface="Pretendard"/>
                <a:cs typeface="Pretendard"/>
              </a:rPr>
              <a:t>Future</a:t>
            </a:r>
            <a:endParaRPr sz="2000" b="1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완료</a:t>
            </a:r>
            <a:r>
              <a:rPr sz="1400" dirty="0">
                <a:latin typeface="Pretendard"/>
                <a:ea typeface="Pretendard"/>
                <a:cs typeface="Pretendard"/>
              </a:rPr>
              <a:t> 전: </a:t>
            </a:r>
            <a:r>
              <a:rPr sz="1400" dirty="0" err="1">
                <a:latin typeface="Pretendard"/>
                <a:ea typeface="Pretendard"/>
                <a:cs typeface="Pretendard"/>
              </a:rPr>
              <a:t>결과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없음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완료</a:t>
            </a:r>
            <a:r>
              <a:rPr sz="1400" dirty="0">
                <a:latin typeface="Pretendard"/>
                <a:ea typeface="Pretendard"/>
                <a:cs typeface="Pretendard"/>
              </a:rPr>
              <a:t> 후: Response </a:t>
            </a:r>
            <a:r>
              <a:rPr sz="1400" dirty="0" err="1">
                <a:latin typeface="Pretendard"/>
                <a:ea typeface="Pretendard"/>
                <a:cs typeface="Pretendard"/>
              </a:rPr>
              <a:t>또는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예외</a:t>
            </a:r>
            <a:endParaRPr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future.result</a:t>
            </a:r>
            <a:r>
              <a:rPr sz="1400" dirty="0">
                <a:latin typeface="Pretendard"/>
                <a:ea typeface="Pretendard"/>
                <a:cs typeface="Pretendard"/>
              </a:rPr>
              <a:t>() </a:t>
            </a:r>
            <a:r>
              <a:rPr sz="1400" dirty="0" err="1">
                <a:latin typeface="Pretendard"/>
                <a:ea typeface="Pretendard"/>
                <a:cs typeface="Pretendard"/>
              </a:rPr>
              <a:t>확인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future.exception</a:t>
            </a:r>
            <a:r>
              <a:rPr sz="1400" dirty="0">
                <a:latin typeface="Pretendard"/>
                <a:ea typeface="Pretendard"/>
                <a:cs typeface="Pretendard"/>
              </a:rPr>
              <a:t>() </a:t>
            </a:r>
            <a:r>
              <a:rPr sz="1400" dirty="0" err="1">
                <a:latin typeface="Pretendard"/>
                <a:ea typeface="Pretendard"/>
                <a:cs typeface="Pretendard"/>
              </a:rPr>
              <a:t>확인</a:t>
            </a:r>
            <a:endParaRPr sz="1400" dirty="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5"/>
            <a:ext cx="10464800" cy="1900853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dirty="0">
                <a:latin typeface="Pretendard"/>
                <a:ea typeface="Pretendard"/>
                <a:cs typeface="Pretendard"/>
              </a:rPr>
              <a:t>비동기 호출은 메서드가 </a:t>
            </a:r>
            <a:r>
              <a:rPr lang="en-US" altLang="ko-KR" sz="2000" dirty="0">
                <a:latin typeface="Pretendard"/>
                <a:ea typeface="Pretendard"/>
                <a:cs typeface="Pretendard"/>
              </a:rPr>
              <a:t>Response</a:t>
            </a:r>
            <a:r>
              <a:rPr lang="ko-KR" altLang="en-US" sz="2000" dirty="0">
                <a:latin typeface="Pretendard"/>
                <a:ea typeface="Pretendard"/>
                <a:cs typeface="Pretendard"/>
              </a:rPr>
              <a:t>를 받을 때까지 그 자리에서 멈추는 방식이 아님</a:t>
            </a:r>
            <a:endParaRPr lang="en-US" sz="2000" dirty="0">
              <a:latin typeface="Pretendard"/>
              <a:ea typeface="Pretendard"/>
              <a:cs typeface="Pretendard"/>
            </a:endParaRP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sz="2000" dirty="0" err="1">
                <a:latin typeface="Pretendard"/>
                <a:ea typeface="Pretendard"/>
                <a:cs typeface="Pretendard"/>
              </a:rPr>
              <a:t>비동기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요청은</a:t>
            </a:r>
            <a:r>
              <a:rPr sz="2000" dirty="0">
                <a:latin typeface="Pretendard"/>
                <a:ea typeface="Pretendard"/>
                <a:cs typeface="Pretendard"/>
              </a:rPr>
              <a:t> Response </a:t>
            </a:r>
            <a:r>
              <a:rPr sz="2000" dirty="0" err="1">
                <a:latin typeface="Pretendard"/>
                <a:ea typeface="Pretendard"/>
                <a:cs typeface="Pretendard"/>
              </a:rPr>
              <a:t>대신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Future를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즉시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반환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0BB18BA8-60F4-C50D-CD9B-1BB87D3E8506}" type="slidenum">
              <a:rPr>
                <a:latin typeface="Pretendard"/>
                <a:ea typeface="Pretendard"/>
                <a:cs typeface="Pretendard"/>
              </a:rPr>
              <a:t>13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r>
              <a:rPr lang="en-US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ROS2 Service </a:t>
            </a:r>
            <a:r>
              <a:rPr lang="ko-KR" altLang="en-US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사용 흐름</a:t>
            </a:r>
            <a:endParaRPr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099332"/>
            <a:ext cx="57658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 err="1">
                <a:latin typeface="Pretendard"/>
                <a:ea typeface="Pretendard"/>
                <a:cs typeface="Pretendard"/>
              </a:rPr>
              <a:t>응답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성공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여부를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종료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코드로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연결하고</a:t>
            </a:r>
            <a:r>
              <a:rPr sz="2000" dirty="0">
                <a:latin typeface="Pretendard"/>
                <a:ea typeface="Pretendard"/>
                <a:cs typeface="Pretendard"/>
              </a:rPr>
              <a:t> ROS </a:t>
            </a:r>
            <a:r>
              <a:rPr sz="2000" dirty="0" err="1">
                <a:latin typeface="Pretendard"/>
                <a:ea typeface="Pretendard"/>
                <a:cs typeface="Pretendard"/>
              </a:rPr>
              <a:t>자원을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정리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B6AEBC6-455D-79E9-7F8B-E0A87169D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48" y="1818650"/>
            <a:ext cx="4315427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A4E99CEF-AF55-BA3C-ADF8-4E52E186DD8F}" type="slidenum">
              <a:rPr>
                <a:latin typeface="Pretendard"/>
                <a:ea typeface="Pretendard"/>
                <a:cs typeface="Pretendard"/>
              </a:rPr>
              <a:t>14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755665"/>
          </a:xfrm>
        </p:spPr>
        <p:txBody>
          <a:bodyPr/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r>
              <a:rPr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Service CLI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7" name="Google Shape;534;p58">
            <a:extLst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noGrp="1"/>
          </p:cNvSpPr>
          <p:nvPr/>
        </p:nvSpPr>
        <p:spPr>
          <a:xfrm>
            <a:off x="393700" y="1820543"/>
            <a:ext cx="11404600" cy="219331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b="1" dirty="0">
                <a:latin typeface="Pretendard"/>
                <a:ea typeface="Pretendard"/>
                <a:cs typeface="Pretendard"/>
              </a:rPr>
              <a:t>ros2 service list</a:t>
            </a:r>
            <a:r>
              <a:rPr sz="1600" dirty="0">
                <a:latin typeface="Pretendard"/>
                <a:ea typeface="Pretendard"/>
                <a:cs typeface="Pretendard"/>
              </a:rPr>
              <a:t>: Service </a:t>
            </a:r>
            <a:r>
              <a:rPr sz="1600" dirty="0" err="1">
                <a:latin typeface="Pretendard"/>
                <a:ea typeface="Pretendard"/>
                <a:cs typeface="Pretendard"/>
              </a:rPr>
              <a:t>이름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b="1" dirty="0">
                <a:latin typeface="Pretendard"/>
                <a:ea typeface="Pretendard"/>
                <a:cs typeface="Pretendard"/>
              </a:rPr>
              <a:t>ros2 service type /</a:t>
            </a:r>
            <a:r>
              <a:rPr sz="1600" b="1" dirty="0" err="1">
                <a:latin typeface="Pretendard"/>
                <a:ea typeface="Pretendard"/>
                <a:cs typeface="Pretendard"/>
              </a:rPr>
              <a:t>get_joint_state</a:t>
            </a:r>
            <a:r>
              <a:rPr sz="1600" dirty="0">
                <a:latin typeface="Pretendard"/>
                <a:ea typeface="Pretendard"/>
                <a:cs typeface="Pretendard"/>
              </a:rPr>
              <a:t>: </a:t>
            </a:r>
            <a:r>
              <a:rPr sz="1600" dirty="0" err="1">
                <a:latin typeface="Pretendard"/>
                <a:ea typeface="Pretendard"/>
                <a:cs typeface="Pretendard"/>
              </a:rPr>
              <a:t>타입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b="1" dirty="0">
                <a:latin typeface="Pretendard"/>
                <a:ea typeface="Pretendard"/>
                <a:cs typeface="Pretendard"/>
              </a:rPr>
              <a:t>ros2 service info /</a:t>
            </a:r>
            <a:r>
              <a:rPr sz="1600" b="1" dirty="0" err="1">
                <a:latin typeface="Pretendard"/>
                <a:ea typeface="Pretendard"/>
                <a:cs typeface="Pretendard"/>
              </a:rPr>
              <a:t>get_joint_state</a:t>
            </a:r>
            <a:r>
              <a:rPr sz="1600" dirty="0">
                <a:latin typeface="Pretendard"/>
                <a:ea typeface="Pretendard"/>
                <a:cs typeface="Pretendard"/>
              </a:rPr>
              <a:t>: </a:t>
            </a:r>
            <a:r>
              <a:rPr sz="1600" dirty="0" err="1">
                <a:latin typeface="Pretendard"/>
                <a:ea typeface="Pretendard"/>
                <a:cs typeface="Pretendard"/>
              </a:rPr>
              <a:t>Server·Client</a:t>
            </a:r>
            <a:r>
              <a:rPr sz="1600" dirty="0">
                <a:latin typeface="Pretendard"/>
                <a:ea typeface="Pretendard"/>
                <a:cs typeface="Pretendard"/>
              </a:rPr>
              <a:t> 수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b="1" dirty="0">
                <a:latin typeface="Pretendard"/>
                <a:ea typeface="Pretendard"/>
                <a:cs typeface="Pretendard"/>
              </a:rPr>
              <a:t>ros2 interface show </a:t>
            </a:r>
            <a:r>
              <a:rPr sz="1600" b="1" dirty="0" err="1">
                <a:latin typeface="Pretendard"/>
                <a:ea typeface="Pretendard"/>
                <a:cs typeface="Pretendard"/>
              </a:rPr>
              <a:t>std_srvs</a:t>
            </a:r>
            <a:r>
              <a:rPr sz="1600" b="1" dirty="0">
                <a:latin typeface="Pretendard"/>
                <a:ea typeface="Pretendard"/>
                <a:cs typeface="Pretendard"/>
              </a:rPr>
              <a:t>/</a:t>
            </a:r>
            <a:r>
              <a:rPr sz="1600" b="1" dirty="0" err="1">
                <a:latin typeface="Pretendard"/>
                <a:ea typeface="Pretendard"/>
                <a:cs typeface="Pretendard"/>
              </a:rPr>
              <a:t>srv</a:t>
            </a:r>
            <a:r>
              <a:rPr sz="1600" b="1" dirty="0">
                <a:latin typeface="Pretendard"/>
                <a:ea typeface="Pretendard"/>
                <a:cs typeface="Pretendard"/>
              </a:rPr>
              <a:t>/Trigger</a:t>
            </a:r>
            <a:r>
              <a:rPr sz="1600" dirty="0">
                <a:latin typeface="Pretendard"/>
                <a:ea typeface="Pretendard"/>
                <a:cs typeface="Pretendard"/>
              </a:rPr>
              <a:t>: </a:t>
            </a:r>
            <a:r>
              <a:rPr sz="1600" dirty="0" err="1">
                <a:latin typeface="Pretendard"/>
                <a:ea typeface="Pretendard"/>
                <a:cs typeface="Pretendard"/>
              </a:rPr>
              <a:t>규격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1" dirty="0">
                <a:latin typeface="Pretendard"/>
                <a:ea typeface="Pretendard"/>
                <a:cs typeface="Pretendard"/>
              </a:rPr>
              <a:t>• ros2 service call … "{}"</a:t>
            </a:r>
            <a:r>
              <a:rPr sz="1600" dirty="0">
                <a:latin typeface="Pretendard"/>
                <a:ea typeface="Pretendard"/>
                <a:cs typeface="Pretendard"/>
              </a:rPr>
              <a:t>: 빈 Request </a:t>
            </a:r>
            <a:r>
              <a:rPr sz="1600" dirty="0" err="1">
                <a:latin typeface="Pretendard"/>
                <a:ea typeface="Pretendard"/>
                <a:cs typeface="Pretendard"/>
              </a:rPr>
              <a:t>전송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Google Shape;534;p58">
            <a:extLst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noGrp="1"/>
          </p:cNvSpPr>
          <p:nvPr/>
        </p:nvSpPr>
        <p:spPr>
          <a:xfrm>
            <a:off x="393699" y="131801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 err="1">
                <a:latin typeface="Pretendard"/>
                <a:ea typeface="Pretendard"/>
                <a:cs typeface="Pretendard"/>
              </a:rPr>
              <a:t>터미널에서도</a:t>
            </a:r>
            <a:r>
              <a:rPr sz="2000" b="1" dirty="0">
                <a:latin typeface="Pretendard"/>
                <a:ea typeface="Pretendard"/>
                <a:cs typeface="Pretendard"/>
              </a:rPr>
              <a:t> Python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Client와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같은</a:t>
            </a:r>
            <a:r>
              <a:rPr sz="2000" b="1" dirty="0">
                <a:latin typeface="Pretendard"/>
                <a:ea typeface="Pretendard"/>
                <a:cs typeface="Pretendard"/>
              </a:rPr>
              <a:t> Service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호출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가능</a:t>
            </a:r>
            <a:endParaRPr sz="2000" b="1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D3D7D1C8-AE23-AA48-DF65-C742588DBE47}" type="slidenum">
              <a:rPr>
                <a:latin typeface="Pretendard"/>
                <a:ea typeface="Pretendard"/>
                <a:cs typeface="Pretendard"/>
              </a:rPr>
              <a:t>15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r>
              <a:rPr dirty="0" err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JointState</a:t>
            </a:r>
            <a:r>
              <a:rPr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dirty="0" err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메시지</a:t>
            </a:r>
            <a:endParaRPr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331479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en-US" sz="2000" dirty="0" err="1">
                <a:latin typeface="Pretendard"/>
                <a:ea typeface="Pretendard"/>
                <a:cs typeface="Pretendard"/>
              </a:rPr>
              <a:t>JoinState</a:t>
            </a:r>
            <a:r>
              <a:rPr lang="en-US" sz="2000" dirty="0">
                <a:latin typeface="Pretendard"/>
                <a:ea typeface="Pretendard"/>
                <a:cs typeface="Pretendard"/>
              </a:rPr>
              <a:t> class field</a:t>
            </a: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sz="1600" dirty="0" err="1">
                <a:latin typeface="Pretendard"/>
                <a:ea typeface="Pretendard"/>
                <a:cs typeface="Pretendard"/>
              </a:rPr>
              <a:t>sensor_msgs</a:t>
            </a:r>
            <a:r>
              <a:rPr sz="1600" dirty="0">
                <a:latin typeface="Pretendard"/>
                <a:ea typeface="Pretendard"/>
                <a:cs typeface="Pretendard"/>
              </a:rPr>
              <a:t>/msg/</a:t>
            </a:r>
            <a:r>
              <a:rPr sz="1600" dirty="0" err="1">
                <a:latin typeface="Pretendard"/>
                <a:ea typeface="Pretendard"/>
                <a:cs typeface="Pretendard"/>
              </a:rPr>
              <a:t>JointState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사용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name: </a:t>
            </a:r>
            <a:r>
              <a:rPr sz="1600" dirty="0" err="1">
                <a:latin typeface="Pretendard"/>
                <a:ea typeface="Pretendard"/>
                <a:cs typeface="Pretendard"/>
              </a:rPr>
              <a:t>관절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이름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배열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position: Radian </a:t>
            </a:r>
            <a:r>
              <a:rPr sz="1600" dirty="0" err="1">
                <a:latin typeface="Pretendard"/>
                <a:ea typeface="Pretendard"/>
                <a:cs typeface="Pretendard"/>
              </a:rPr>
              <a:t>단위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위치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배열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sz="1600" dirty="0" err="1">
                <a:latin typeface="Pretendard"/>
                <a:ea typeface="Pretendard"/>
                <a:cs typeface="Pretendard"/>
              </a:rPr>
              <a:t>header.stamp</a:t>
            </a:r>
            <a:r>
              <a:rPr sz="1600" dirty="0">
                <a:latin typeface="Pretendard"/>
                <a:ea typeface="Pretendard"/>
                <a:cs typeface="Pretendard"/>
              </a:rPr>
              <a:t>: </a:t>
            </a:r>
            <a:r>
              <a:rPr sz="1600" dirty="0" err="1">
                <a:latin typeface="Pretendard"/>
                <a:ea typeface="Pretendard"/>
                <a:cs typeface="Pretendard"/>
              </a:rPr>
              <a:t>메시지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생성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시각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sz="1600" dirty="0" err="1">
                <a:latin typeface="Pretendard"/>
                <a:ea typeface="Pretendard"/>
                <a:cs typeface="Pretendard"/>
              </a:rPr>
              <a:t>velocity·effort</a:t>
            </a:r>
            <a:r>
              <a:rPr sz="1600" dirty="0">
                <a:latin typeface="Pretendard"/>
                <a:ea typeface="Pretendard"/>
                <a:cs typeface="Pretendard"/>
              </a:rPr>
              <a:t>: </a:t>
            </a:r>
            <a:r>
              <a:rPr sz="1600" dirty="0" err="1">
                <a:latin typeface="Pretendard"/>
                <a:ea typeface="Pretendard"/>
                <a:cs typeface="Pretendard"/>
              </a:rPr>
              <a:t>이번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실습에서는</a:t>
            </a:r>
            <a:r>
              <a:rPr sz="1600" dirty="0">
                <a:latin typeface="Pretendard"/>
                <a:ea typeface="Pretendard"/>
                <a:cs typeface="Pretendard"/>
              </a:rPr>
              <a:t> 빈 </a:t>
            </a:r>
            <a:r>
              <a:rPr sz="1600" dirty="0" err="1">
                <a:latin typeface="Pretendard"/>
                <a:ea typeface="Pretendard"/>
                <a:cs typeface="Pretendard"/>
              </a:rPr>
              <a:t>배열</a:t>
            </a:r>
            <a:endParaRPr lang="en-US" sz="1600" dirty="0">
              <a:latin typeface="Pretendard"/>
              <a:ea typeface="Pretendard"/>
              <a:cs typeface="Pretendard"/>
            </a:endParaRP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endParaRPr sz="2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b="1" dirty="0" err="1">
                <a:latin typeface="Pretendard"/>
                <a:ea typeface="Pretendard"/>
                <a:cs typeface="Pretendard"/>
              </a:rPr>
              <a:t>로봇</a:t>
            </a:r>
            <a:r>
              <a:rPr b="1" dirty="0">
                <a:latin typeface="Pretendard"/>
                <a:ea typeface="Pretendard"/>
                <a:cs typeface="Pretendard"/>
              </a:rPr>
              <a:t> </a:t>
            </a:r>
            <a:r>
              <a:rPr b="1" dirty="0" err="1">
                <a:latin typeface="Pretendard"/>
                <a:ea typeface="Pretendard"/>
                <a:cs typeface="Pretendard"/>
              </a:rPr>
              <a:t>관절</a:t>
            </a:r>
            <a:r>
              <a:rPr b="1" dirty="0">
                <a:latin typeface="Pretendard"/>
                <a:ea typeface="Pretendard"/>
                <a:cs typeface="Pretendard"/>
              </a:rPr>
              <a:t> </a:t>
            </a:r>
            <a:r>
              <a:rPr b="1" dirty="0" err="1">
                <a:latin typeface="Pretendard"/>
                <a:ea typeface="Pretendard"/>
                <a:cs typeface="Pretendard"/>
              </a:rPr>
              <a:t>상태</a:t>
            </a:r>
            <a:r>
              <a:rPr b="1" dirty="0">
                <a:latin typeface="Pretendard"/>
                <a:ea typeface="Pretendard"/>
                <a:cs typeface="Pretendard"/>
              </a:rPr>
              <a:t> </a:t>
            </a:r>
            <a:r>
              <a:rPr b="1" dirty="0" err="1">
                <a:latin typeface="Pretendard"/>
                <a:ea typeface="Pretendard"/>
                <a:cs typeface="Pretendard"/>
              </a:rPr>
              <a:t>전달용</a:t>
            </a:r>
            <a:r>
              <a:rPr b="1" dirty="0">
                <a:latin typeface="Pretendard"/>
                <a:ea typeface="Pretendard"/>
                <a:cs typeface="Pretendard"/>
              </a:rPr>
              <a:t> </a:t>
            </a:r>
            <a:r>
              <a:rPr lang="en-US" b="1" dirty="0">
                <a:latin typeface="Pretendard"/>
                <a:ea typeface="Pretendard"/>
                <a:cs typeface="Pretendard"/>
              </a:rPr>
              <a:t>ROS2 </a:t>
            </a:r>
            <a:r>
              <a:rPr b="1" dirty="0" err="1">
                <a:latin typeface="Pretendard"/>
                <a:ea typeface="Pretendard"/>
                <a:cs typeface="Pretendard"/>
              </a:rPr>
              <a:t>표준</a:t>
            </a:r>
            <a:r>
              <a:rPr b="1" dirty="0">
                <a:latin typeface="Pretendard"/>
                <a:ea typeface="Pretendard"/>
                <a:cs typeface="Pretendard"/>
              </a:rPr>
              <a:t> </a:t>
            </a:r>
            <a:r>
              <a:rPr b="1" dirty="0" err="1">
                <a:latin typeface="Pretendard"/>
                <a:ea typeface="Pretendard"/>
                <a:cs typeface="Pretendard"/>
              </a:rPr>
              <a:t>메시지</a:t>
            </a:r>
            <a:r>
              <a:rPr b="1" dirty="0">
                <a:latin typeface="Pretendard"/>
                <a:ea typeface="Pretendard"/>
                <a:cs typeface="Pretendard"/>
              </a:rPr>
              <a:t> </a:t>
            </a:r>
            <a:r>
              <a:rPr b="1" dirty="0" err="1">
                <a:latin typeface="Pretendard"/>
                <a:ea typeface="Pretendard"/>
                <a:cs typeface="Pretendard"/>
              </a:rPr>
              <a:t>인터페이스</a:t>
            </a:r>
            <a:endParaRPr b="1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1832" y="2192694"/>
            <a:ext cx="3540162" cy="305997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 err="1">
                <a:latin typeface="Pretendard"/>
                <a:ea typeface="Pretendard"/>
                <a:cs typeface="Pretendard"/>
              </a:rPr>
              <a:t>정상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형식</a:t>
            </a:r>
            <a:endParaRPr sz="20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20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>
                <a:latin typeface="Pretendard"/>
                <a:ea typeface="Pretendard"/>
                <a:cs typeface="Pretendard"/>
              </a:rPr>
              <a:t>name[0] = </a:t>
            </a:r>
            <a:r>
              <a:rPr sz="2000" dirty="0" err="1">
                <a:latin typeface="Pretendard"/>
                <a:ea typeface="Pretendard"/>
                <a:cs typeface="Pretendard"/>
              </a:rPr>
              <a:t>shoulder_pan</a:t>
            </a:r>
            <a:endParaRPr sz="20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>
                <a:latin typeface="Pretendard"/>
                <a:ea typeface="Pretendard"/>
                <a:cs typeface="Pretendard"/>
              </a:rPr>
              <a:t>position[0] = +0.010 rad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20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 err="1">
                <a:latin typeface="Pretendard"/>
                <a:ea typeface="Pretendard"/>
                <a:cs typeface="Pretendard"/>
              </a:rPr>
              <a:t>이름과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값의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인덱스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대응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388657AE-30A1-5A7A-6A7F-315D84436430}" type="slidenum">
              <a:rPr>
                <a:latin typeface="Pretendard"/>
                <a:ea typeface="Pretendard"/>
                <a:cs typeface="Pretendard"/>
              </a:rPr>
              <a:t>16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r>
              <a:rPr dirty="0" err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name·position</a:t>
            </a:r>
            <a:r>
              <a:rPr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dirty="0">
                <a:solidFill>
                  <a:schemeClr val="accent1"/>
                </a:solidFill>
              </a:rPr>
              <a:t>배열</a:t>
            </a:r>
            <a:endParaRPr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7147843" y="2192694"/>
            <a:ext cx="3543480" cy="305997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 err="1">
                <a:latin typeface="Pretendard"/>
                <a:ea typeface="Pretendard"/>
                <a:cs typeface="Pretendard"/>
              </a:rPr>
              <a:t>오류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형식</a:t>
            </a:r>
            <a:endParaRPr sz="20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20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>
                <a:latin typeface="Pretendard"/>
                <a:ea typeface="Pretendard"/>
                <a:cs typeface="Pretendard"/>
              </a:rPr>
              <a:t>• </a:t>
            </a:r>
            <a:r>
              <a:rPr sz="2000" dirty="0" err="1">
                <a:latin typeface="Pretendard"/>
                <a:ea typeface="Pretendard"/>
                <a:cs typeface="Pretendard"/>
              </a:rPr>
              <a:t>배열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길이가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서로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다름</a:t>
            </a:r>
            <a:endParaRPr sz="20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>
                <a:latin typeface="Pretendard"/>
                <a:ea typeface="Pretendard"/>
                <a:cs typeface="Pretendard"/>
              </a:rPr>
              <a:t>• </a:t>
            </a:r>
            <a:r>
              <a:rPr sz="2000" dirty="0" err="1">
                <a:latin typeface="Pretendard"/>
                <a:ea typeface="Pretendard"/>
                <a:cs typeface="Pretendard"/>
              </a:rPr>
              <a:t>관절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이름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순서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불일치</a:t>
            </a:r>
            <a:endParaRPr sz="20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>
                <a:latin typeface="Pretendard"/>
                <a:ea typeface="Pretendard"/>
                <a:cs typeface="Pretendard"/>
              </a:rPr>
              <a:t>• </a:t>
            </a:r>
            <a:r>
              <a:rPr sz="2000" dirty="0" err="1">
                <a:latin typeface="Pretendard"/>
                <a:ea typeface="Pretendard"/>
                <a:cs typeface="Pretendard"/>
              </a:rPr>
              <a:t>Listener에서</a:t>
            </a:r>
            <a:r>
              <a:rPr sz="2000" dirty="0">
                <a:latin typeface="Pretendard"/>
                <a:ea typeface="Pretendard"/>
                <a:cs typeface="Pretendard"/>
              </a:rPr>
              <a:t> Warning </a:t>
            </a:r>
            <a:r>
              <a:rPr sz="2000" dirty="0" err="1">
                <a:latin typeface="Pretendard"/>
                <a:ea typeface="Pretendard"/>
                <a:cs typeface="Pretendard"/>
              </a:rPr>
              <a:t>처리</a:t>
            </a:r>
            <a:endParaRPr sz="20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>
                <a:latin typeface="Pretendard"/>
                <a:ea typeface="Pretendard"/>
                <a:cs typeface="Pretendard"/>
              </a:rPr>
              <a:t>• </a:t>
            </a:r>
            <a:r>
              <a:rPr sz="2000" dirty="0" err="1">
                <a:latin typeface="Pretendard"/>
                <a:ea typeface="Pretendard"/>
                <a:cs typeface="Pretendard"/>
              </a:rPr>
              <a:t>잘못된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상태값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사용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방지</a:t>
            </a:r>
            <a:endParaRPr sz="2000" dirty="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8180284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b="1" dirty="0">
                <a:latin typeface="Pretendard"/>
                <a:ea typeface="Pretendard"/>
                <a:cs typeface="Pretendard"/>
              </a:rPr>
              <a:t>로봇의 관절명과 </a:t>
            </a:r>
            <a:r>
              <a:rPr lang="ko-KR" altLang="en-US" sz="2000" b="1" dirty="0" err="1">
                <a:latin typeface="Pretendard"/>
                <a:ea typeface="Pretendard"/>
                <a:cs typeface="Pretendard"/>
              </a:rPr>
              <a:t>관절값이</a:t>
            </a:r>
            <a:r>
              <a:rPr lang="ko-KR" altLang="en-US" sz="2000" b="1" dirty="0">
                <a:latin typeface="Pretendard"/>
                <a:ea typeface="Pretendard"/>
                <a:cs typeface="Pretendard"/>
              </a:rPr>
              <a:t> 들어있는 </a:t>
            </a:r>
            <a:r>
              <a:rPr sz="2000" b="1" dirty="0">
                <a:latin typeface="Pretendard"/>
                <a:ea typeface="Pretendard"/>
                <a:cs typeface="Pretendard"/>
              </a:rPr>
              <a:t>두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배열은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길이와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순서가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반드시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일치</a:t>
            </a:r>
            <a:r>
              <a:rPr lang="ko-KR" altLang="en-US" sz="2000" b="1" dirty="0"/>
              <a:t>해야함</a:t>
            </a:r>
            <a:endParaRPr sz="2000" b="1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Rounded Rectangle 9">
            <a:extLst>
              <a:ext uri="{FF2B5EF4-FFF2-40B4-BE49-F238E27FC236}">
                <a16:creationId xmlns:a16="http://schemas.microsoft.com/office/drawing/2014/main" id="{76D22209-2105-D095-A36D-5B0A246CEFAE}"/>
              </a:ext>
            </a:extLst>
          </p:cNvPr>
          <p:cNvSpPr>
            <a:spLocks noGrp="1"/>
          </p:cNvSpPr>
          <p:nvPr/>
        </p:nvSpPr>
        <p:spPr>
          <a:xfrm>
            <a:off x="1198925" y="2140809"/>
            <a:ext cx="3875314" cy="3286718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76B0EB46-6FD4-ED9D-ABEE-FE3B78356145}"/>
              </a:ext>
            </a:extLst>
          </p:cNvPr>
          <p:cNvSpPr>
            <a:spLocks noGrp="1"/>
          </p:cNvSpPr>
          <p:nvPr/>
        </p:nvSpPr>
        <p:spPr>
          <a:xfrm>
            <a:off x="6978732" y="2140809"/>
            <a:ext cx="3875314" cy="3286718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 err="1">
                <a:latin typeface="Pretendard"/>
                <a:ea typeface="Pretendard"/>
                <a:cs typeface="Pretendard"/>
              </a:rPr>
              <a:t>개별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실행</a:t>
            </a:r>
            <a:endParaRPr sz="2000" b="1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ros2 run week03_ros2_jetson</a:t>
            </a:r>
            <a:endParaRPr lang="en-US"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1400" dirty="0">
                <a:latin typeface="Pretendard"/>
                <a:ea typeface="Pretendard"/>
                <a:cs typeface="Pretendard"/>
              </a:rPr>
              <a:t>  </a:t>
            </a:r>
            <a:r>
              <a:rPr lang="en-US" sz="1400" dirty="0" err="1">
                <a:latin typeface="Pretendard"/>
                <a:ea typeface="Pretendard"/>
                <a:cs typeface="Pretendard"/>
              </a:rPr>
              <a:t>joint_state_publisher</a:t>
            </a:r>
            <a:endParaRPr lang="en-US"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ros2 run week03_ros2_jetson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  </a:t>
            </a:r>
            <a:r>
              <a:rPr sz="1400" dirty="0" err="1">
                <a:latin typeface="Pretendard"/>
                <a:ea typeface="Pretendard"/>
                <a:cs typeface="Pretendard"/>
              </a:rPr>
              <a:t>joint_state_listener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두 </a:t>
            </a:r>
            <a:r>
              <a:rPr sz="1400" dirty="0" err="1">
                <a:latin typeface="Pretendard"/>
                <a:ea typeface="Pretendard"/>
                <a:cs typeface="Pretendard"/>
              </a:rPr>
              <a:t>터미널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관리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Node별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실행·종료</a:t>
            </a:r>
            <a:endParaRPr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90F7333B-44AC-F7E9-D49D-FE92F45E0477}" type="slidenum">
              <a:rPr>
                <a:latin typeface="Pretendard"/>
                <a:ea typeface="Pretendard"/>
                <a:cs typeface="Pretendard"/>
              </a:rPr>
              <a:t>17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Launch가 필요한 이유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>
                <a:latin typeface="Pretendard"/>
                <a:ea typeface="Pretendard"/>
                <a:cs typeface="Pretendard"/>
              </a:rPr>
              <a:t>Launch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실행</a:t>
            </a:r>
            <a:endParaRPr sz="2000" b="1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ros2 launch week03_ros2_jetson</a:t>
            </a:r>
            <a:endParaRPr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  joint_monitor.launch.py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Publisher·Listener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동시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시작</a:t>
            </a:r>
            <a:endParaRPr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로그를</a:t>
            </a:r>
            <a:r>
              <a:rPr sz="1400" dirty="0">
                <a:latin typeface="Pretendard"/>
                <a:ea typeface="Pretendard"/>
                <a:cs typeface="Pretendard"/>
              </a:rPr>
              <a:t> 한 </a:t>
            </a:r>
            <a:r>
              <a:rPr sz="1400" dirty="0" err="1">
                <a:latin typeface="Pretendard"/>
                <a:ea typeface="Pretendard"/>
                <a:cs typeface="Pretendard"/>
              </a:rPr>
              <a:t>터미널에서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확인</a:t>
            </a:r>
            <a:endParaRPr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Ctrl+C로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전체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종료</a:t>
            </a:r>
            <a:endParaRPr sz="1400" dirty="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 err="1">
                <a:latin typeface="Pretendard"/>
                <a:ea typeface="Pretendard"/>
                <a:cs typeface="Pretendard"/>
              </a:rPr>
              <a:t>여러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Node를</a:t>
            </a:r>
            <a:r>
              <a:rPr sz="2000" b="1" dirty="0">
                <a:latin typeface="Pretendard"/>
                <a:ea typeface="Pretendard"/>
                <a:cs typeface="Pretendard"/>
              </a:rPr>
              <a:t> 한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명령으로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실행·종료</a:t>
            </a:r>
            <a:endParaRPr sz="2000" b="1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07750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 err="1">
                <a:latin typeface="Pretendard"/>
                <a:ea typeface="Pretendard"/>
                <a:cs typeface="Pretendard"/>
              </a:rPr>
              <a:t>LaunchDescription</a:t>
            </a:r>
            <a:endParaRPr sz="2000" b="1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generate_launch_description</a:t>
            </a:r>
            <a:r>
              <a:rPr sz="1400" dirty="0">
                <a:latin typeface="Pretendard"/>
                <a:ea typeface="Pretendard"/>
                <a:cs typeface="Pretendard"/>
              </a:rPr>
              <a:t>()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  ros2 </a:t>
            </a:r>
            <a:r>
              <a:rPr sz="1400" dirty="0" err="1">
                <a:latin typeface="Pretendard"/>
                <a:ea typeface="Pretendard"/>
                <a:cs typeface="Pretendard"/>
              </a:rPr>
              <a:t>launch가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호출하는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진입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함수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LaunchDescription</a:t>
            </a:r>
            <a:r>
              <a:rPr sz="1400" dirty="0">
                <a:latin typeface="Pretendard"/>
                <a:ea typeface="Pretendard"/>
                <a:cs typeface="Pretendard"/>
              </a:rPr>
              <a:t>([...])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  </a:t>
            </a:r>
            <a:r>
              <a:rPr sz="1400" dirty="0" err="1">
                <a:latin typeface="Pretendard"/>
                <a:ea typeface="Pretendard"/>
                <a:cs typeface="Pretendard"/>
              </a:rPr>
              <a:t>함께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실행할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동작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목록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Node(...)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  </a:t>
            </a:r>
            <a:r>
              <a:rPr sz="1400" dirty="0" err="1">
                <a:latin typeface="Pretendard"/>
                <a:ea typeface="Pretendard"/>
                <a:cs typeface="Pretendard"/>
              </a:rPr>
              <a:t>실행할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프로세스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정의</a:t>
            </a:r>
            <a:endParaRPr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B1C6C81E-38B9-7560-621D-5A151A79DF9B}" type="slidenum">
              <a:rPr>
                <a:latin typeface="Pretendard"/>
                <a:ea typeface="Pretendard"/>
                <a:cs typeface="Pretendard"/>
              </a:rPr>
              <a:t>18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Launch 파일 구성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31623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>
                <a:latin typeface="Pretendard"/>
                <a:ea typeface="Pretendard"/>
                <a:cs typeface="Pretendard"/>
              </a:rPr>
              <a:t>Node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인자</a:t>
            </a:r>
            <a:endParaRPr sz="2000" b="1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package: Package </a:t>
            </a:r>
            <a:r>
              <a:rPr sz="1400" dirty="0" err="1">
                <a:latin typeface="Pretendard"/>
                <a:ea typeface="Pretendard"/>
                <a:cs typeface="Pretendard"/>
              </a:rPr>
              <a:t>이름</a:t>
            </a:r>
            <a:endParaRPr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executable: </a:t>
            </a:r>
            <a:r>
              <a:rPr sz="1400" dirty="0" err="1">
                <a:latin typeface="Pretendard"/>
                <a:ea typeface="Pretendard"/>
                <a:cs typeface="Pretendard"/>
              </a:rPr>
              <a:t>console_scripts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이름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name: ROS Graph Node </a:t>
            </a:r>
            <a:r>
              <a:rPr sz="1400" dirty="0" err="1">
                <a:latin typeface="Pretendard"/>
                <a:ea typeface="Pretendard"/>
                <a:cs typeface="Pretendard"/>
              </a:rPr>
              <a:t>이름</a:t>
            </a:r>
            <a:endParaRPr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output="screen": </a:t>
            </a:r>
            <a:r>
              <a:rPr sz="1400" dirty="0" err="1">
                <a:latin typeface="Pretendard"/>
                <a:ea typeface="Pretendard"/>
                <a:cs typeface="Pretendard"/>
              </a:rPr>
              <a:t>로그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출력</a:t>
            </a:r>
            <a:endParaRPr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executable → setup.py </a:t>
            </a:r>
            <a:r>
              <a:rPr sz="1400" dirty="0" err="1">
                <a:latin typeface="Pretendard"/>
                <a:ea typeface="Pretendard"/>
                <a:cs typeface="Pretendard"/>
              </a:rPr>
              <a:t>등록</a:t>
            </a:r>
            <a:r>
              <a:rPr sz="1400" dirty="0">
                <a:latin typeface="Pretendard"/>
                <a:ea typeface="Pretendard"/>
                <a:cs typeface="Pretendard"/>
              </a:rPr>
              <a:t> → main()</a:t>
            </a:r>
            <a:endParaRPr sz="1400" dirty="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 err="1">
                <a:latin typeface="Pretendard"/>
                <a:ea typeface="Pretendard"/>
                <a:cs typeface="Pretendard"/>
              </a:rPr>
              <a:t>실행할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Node와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설정을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LaunchDescription에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작성</a:t>
            </a:r>
            <a:endParaRPr sz="2000" b="1" dirty="0">
              <a:latin typeface="Pretendard"/>
              <a:ea typeface="Pretendard"/>
              <a:cs typeface="Pretendar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00BE75F-5FDD-41CB-49B8-AFB0013F3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231" y="1310936"/>
            <a:ext cx="4724869" cy="473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625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설치 준비</a:t>
            </a:r>
            <a:endParaRPr sz="2000" b="1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140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1  launch/*.launch.py 배치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2  setup.py data_files 등록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3  colcon build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4  source install/setup.bash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140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설치 후 ros2 launch가 파일 검색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CCF91274-D221-1BB4-3BF9-836E3AD31EBE}" type="slidenum">
              <a:rPr>
                <a:latin typeface="Pretendard"/>
                <a:ea typeface="Pretendard"/>
                <a:cs typeface="Pretendard"/>
              </a:rPr>
              <a:t>19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Launch 설치와 실행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실행</a:t>
            </a:r>
            <a:endParaRPr sz="2000" b="1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140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실습 1  joint_monitor.launch.py</a:t>
            </a: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Publisher + Listener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실습 2  bringup.launch.py</a:t>
            </a: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Publisher + Service Server</a:t>
            </a: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ros2 launch week03_ros2_jetson &lt;파일명&gt;</a:t>
            </a: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※ 두 Launch를 동시에 실행하지 않음</a:t>
            </a:r>
            <a:endParaRPr sz="140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파일 배치·설치 등록·빌드·Source 후 실행</a:t>
            </a:r>
          </a:p>
        </p:txBody>
      </p:sp>
    </p:spTree>
    <p:extLst>
      <p:ext uri="{BB962C8B-B14F-4D97-AF65-F5344CB8AC3E}">
        <p14:creationId xmlns:p14="http://schemas.microsoft.com/office/powerpoint/2010/main" val="605180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02F15020-66A7-620A-7B7A-C05C4312DEAE}" type="slidenum">
              <a:rPr>
                <a:latin typeface="Pretendard"/>
                <a:ea typeface="Pretendard"/>
                <a:cs typeface="Pretendard"/>
              </a:rPr>
              <a:t>20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4200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 준비</a:t>
            </a:r>
            <a:endParaRPr sz="4200"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sz="1600" dirty="0"/>
              <a:t>410</a:t>
            </a:r>
            <a:r>
              <a:rPr lang="ko-KR" altLang="en-US" sz="1600" dirty="0"/>
              <a:t>호 실습용 </a:t>
            </a:r>
            <a:r>
              <a:rPr lang="en-US" altLang="ko-KR" sz="1600" dirty="0" err="1"/>
              <a:t>Wifi</a:t>
            </a:r>
            <a:r>
              <a:rPr lang="en-US" altLang="ko-KR" sz="1600" dirty="0"/>
              <a:t>, Jetson </a:t>
            </a:r>
            <a:r>
              <a:rPr lang="ko-KR" altLang="en-US" sz="1600" dirty="0"/>
              <a:t>계정 비밀번호 변경</a:t>
            </a:r>
            <a:r>
              <a:rPr lang="en-US" altLang="ko-KR" sz="1600" dirty="0"/>
              <a:t>, ros2 </a:t>
            </a:r>
            <a:r>
              <a:rPr lang="ko-KR" altLang="en-US" sz="1600" dirty="0"/>
              <a:t>활성화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14227-EE6D-6CAE-D12A-EBE94E92C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77AF318E-F4F0-2F22-248C-1FB72E937A2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68AD4375-9F50-F53A-6F9F-DD8473067C05}" type="slidenum">
              <a:rPr>
                <a:latin typeface="Pretendard"/>
                <a:ea typeface="Pretendard"/>
                <a:cs typeface="Pretendard"/>
              </a:rPr>
              <a:t>21</a:t>
            </a:fld>
            <a:endParaRPr dirty="0"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B0D4316-F71A-0FC1-B254-96FF45AA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r>
              <a:rPr dirty="0" err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</a:t>
            </a:r>
            <a:r>
              <a:rPr lang="en-US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전 준비사항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1300B026-D182-F9E4-B352-C57CA8405060}"/>
              </a:ext>
            </a:extLst>
          </p:cNvPr>
          <p:cNvSpPr>
            <a:spLocks noGrp="1"/>
          </p:cNvSpPr>
          <p:nvPr/>
        </p:nvSpPr>
        <p:spPr>
          <a:xfrm>
            <a:off x="499314" y="1791585"/>
            <a:ext cx="5247445" cy="211263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dirty="0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분반 별</a:t>
            </a:r>
            <a:r>
              <a:rPr lang="en-US" altLang="ko-KR" sz="2000" dirty="0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2000" dirty="0">
                <a:solidFill>
                  <a:srgbClr val="FF0000"/>
                </a:solidFill>
              </a:rPr>
              <a:t>계정 및 비밀번호</a:t>
            </a:r>
            <a:endParaRPr lang="en-US" sz="2000" dirty="0">
              <a:solidFill>
                <a:srgbClr val="FF0000"/>
              </a:solidFill>
              <a:latin typeface="Pretendard"/>
              <a:ea typeface="Pretendard"/>
              <a:cs typeface="Pretendard"/>
            </a:endParaRP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1600" dirty="0">
                <a:latin typeface="Pretendard"/>
                <a:ea typeface="Pretendard"/>
                <a:cs typeface="Pretendard"/>
              </a:rPr>
              <a:t>월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화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수 요일 분반별</a:t>
            </a:r>
            <a:r>
              <a:rPr lang="en-US" altLang="ko-KR" sz="1600" dirty="0"/>
              <a:t> </a:t>
            </a:r>
            <a:r>
              <a:rPr lang="ko-KR" altLang="en-US" sz="1600" dirty="0"/>
              <a:t>각 </a:t>
            </a:r>
            <a:r>
              <a:rPr lang="en-US" altLang="ko-KR" sz="1600" dirty="0" err="1"/>
              <a:t>mon</a:t>
            </a:r>
            <a:r>
              <a:rPr lang="en-US" altLang="ko-KR" sz="1600" dirty="0"/>
              <a:t>/</a:t>
            </a:r>
            <a:r>
              <a:rPr lang="en-US" altLang="ko-KR" sz="1600" dirty="0" err="1"/>
              <a:t>tue</a:t>
            </a:r>
            <a:r>
              <a:rPr lang="en-US" altLang="ko-KR" sz="1600" dirty="0"/>
              <a:t>/wen </a:t>
            </a:r>
            <a:r>
              <a:rPr lang="ko-KR" altLang="en-US" sz="1600" dirty="0"/>
              <a:t>계정 사용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1600" dirty="0">
                <a:latin typeface="Pretendard"/>
                <a:ea typeface="Pretendard"/>
                <a:cs typeface="Pretendard"/>
              </a:rPr>
              <a:t>비밀번호 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1234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Google Shape;534;p58">
            <a:extLst>
              <a:ext uri="{FF2B5EF4-FFF2-40B4-BE49-F238E27FC236}">
                <a16:creationId xmlns:a16="http://schemas.microsoft.com/office/drawing/2014/main" id="{49BFD9C4-5AEC-E94D-2A08-9F18885376C2}"/>
              </a:ext>
            </a:extLst>
          </p:cNvPr>
          <p:cNvSpPr>
            <a:spLocks noGrp="1"/>
          </p:cNvSpPr>
          <p:nvPr/>
        </p:nvSpPr>
        <p:spPr>
          <a:xfrm>
            <a:off x="393700" y="1431926"/>
            <a:ext cx="2011875" cy="43907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b="1" dirty="0"/>
              <a:t>분반 별 계정 사용</a:t>
            </a:r>
            <a:endParaRPr sz="2000" b="1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Google Shape;534;p58">
            <a:extLst>
              <a:ext uri="{FF2B5EF4-FFF2-40B4-BE49-F238E27FC236}">
                <a16:creationId xmlns:a16="http://schemas.microsoft.com/office/drawing/2014/main" id="{0D7E7692-95F7-F570-344D-0069DACC4E29}"/>
              </a:ext>
            </a:extLst>
          </p:cNvPr>
          <p:cNvSpPr>
            <a:spLocks noGrp="1"/>
          </p:cNvSpPr>
          <p:nvPr/>
        </p:nvSpPr>
        <p:spPr>
          <a:xfrm>
            <a:off x="6261102" y="1431926"/>
            <a:ext cx="5537200" cy="43907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b="1" dirty="0"/>
              <a:t>실습실 </a:t>
            </a:r>
            <a:r>
              <a:rPr lang="en-US" altLang="ko-KR" sz="2000" b="1" dirty="0" err="1"/>
              <a:t>Wifi</a:t>
            </a:r>
            <a:endParaRPr sz="2000" b="1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Google Shape;534;p58">
            <a:extLst>
              <a:ext uri="{FF2B5EF4-FFF2-40B4-BE49-F238E27FC236}">
                <a16:creationId xmlns:a16="http://schemas.microsoft.com/office/drawing/2014/main" id="{2D2D2B8B-E0DE-B602-3B46-FA6113E89DBC}"/>
              </a:ext>
            </a:extLst>
          </p:cNvPr>
          <p:cNvSpPr>
            <a:spLocks noGrp="1"/>
          </p:cNvSpPr>
          <p:nvPr/>
        </p:nvSpPr>
        <p:spPr>
          <a:xfrm>
            <a:off x="6261102" y="1871003"/>
            <a:ext cx="5247445" cy="144897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en-US" sz="2000" dirty="0">
                <a:latin typeface="Pretendard"/>
                <a:ea typeface="Pretendard"/>
                <a:cs typeface="Pretendard"/>
              </a:rPr>
              <a:t>PNUAIEC, PNUAIEC2</a:t>
            </a:r>
            <a:endParaRPr lang="en-US" sz="1600" dirty="0">
              <a:latin typeface="Pretendard"/>
              <a:ea typeface="Pretendard"/>
              <a:cs typeface="Pretendard"/>
            </a:endParaRP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dirty="0">
                <a:latin typeface="Pretendard"/>
                <a:ea typeface="Pretendard"/>
                <a:cs typeface="Pretendard"/>
              </a:rPr>
              <a:t>비밀번호</a:t>
            </a:r>
            <a:r>
              <a:rPr lang="en-US" altLang="ko-KR" sz="2000" dirty="0">
                <a:latin typeface="Pretendard"/>
                <a:ea typeface="Pretendard"/>
                <a:cs typeface="Pretendard"/>
              </a:rPr>
              <a:t>: 20260105</a:t>
            </a:r>
            <a:endParaRPr lang="en-US" sz="2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4625EAC7-A903-BA57-951D-09D1FA9E7D75}"/>
              </a:ext>
            </a:extLst>
          </p:cNvPr>
          <p:cNvSpPr>
            <a:spLocks noGrp="1"/>
          </p:cNvSpPr>
          <p:nvPr/>
        </p:nvSpPr>
        <p:spPr>
          <a:xfrm>
            <a:off x="393700" y="3684684"/>
            <a:ext cx="2011875" cy="43907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sz="2000" b="1" dirty="0">
                <a:latin typeface="Pretendard"/>
                <a:ea typeface="Pretendard"/>
                <a:cs typeface="Pretendard"/>
              </a:rPr>
              <a:t>ROS2 </a:t>
            </a:r>
            <a:r>
              <a:rPr lang="ko-KR" altLang="en-US" sz="2000" b="1" dirty="0">
                <a:latin typeface="Pretendard"/>
                <a:ea typeface="Pretendard"/>
                <a:cs typeface="Pretendard"/>
              </a:rPr>
              <a:t>활성화</a:t>
            </a:r>
            <a:endParaRPr sz="2000" b="1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4EA34FD-0F32-CFB9-1456-23EDE2D3D4A3}"/>
              </a:ext>
            </a:extLst>
          </p:cNvPr>
          <p:cNvSpPr>
            <a:spLocks noGrp="1"/>
          </p:cNvSpPr>
          <p:nvPr/>
        </p:nvSpPr>
        <p:spPr>
          <a:xfrm>
            <a:off x="393699" y="4123760"/>
            <a:ext cx="8511149" cy="211263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en-US" sz="2000" dirty="0"/>
              <a:t>source &lt;</a:t>
            </a:r>
            <a:r>
              <a:rPr lang="ko-KR" altLang="en-US" sz="2000" dirty="0"/>
              <a:t>분반 별 계정</a:t>
            </a:r>
            <a:r>
              <a:rPr lang="en-US" sz="2000" dirty="0"/>
              <a:t>&gt;/ros2_base/install/</a:t>
            </a:r>
            <a:r>
              <a:rPr lang="en-US" sz="2000" dirty="0" err="1"/>
              <a:t>setup.bash</a:t>
            </a:r>
            <a:endParaRPr lang="en-US" sz="2000" dirty="0">
              <a:latin typeface="Pretendard"/>
              <a:ea typeface="Pretendard"/>
              <a:cs typeface="Pretendard"/>
            </a:endParaRP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en-US" sz="2000" dirty="0" err="1">
                <a:latin typeface="Pretendard"/>
                <a:ea typeface="Pretendard"/>
                <a:cs typeface="Pretendard"/>
              </a:rPr>
              <a:t>Wsl</a:t>
            </a:r>
            <a:r>
              <a:rPr lang="ko-KR" altLang="en-US" sz="2000" dirty="0">
                <a:latin typeface="Pretendard"/>
                <a:ea typeface="Pretendard"/>
                <a:cs typeface="Pretendard"/>
              </a:rPr>
              <a:t>에서는 </a:t>
            </a:r>
            <a:r>
              <a:rPr lang="en-US" altLang="ko-KR" sz="2000" dirty="0">
                <a:latin typeface="Pretendard"/>
                <a:ea typeface="Pretendard"/>
                <a:cs typeface="Pretendard"/>
              </a:rPr>
              <a:t>ros2</a:t>
            </a:r>
            <a:r>
              <a:rPr lang="ko-KR" altLang="en-US" sz="2000" dirty="0">
                <a:latin typeface="Pretendard"/>
                <a:ea typeface="Pretendard"/>
                <a:cs typeface="Pretendard"/>
              </a:rPr>
              <a:t>를 </a:t>
            </a:r>
            <a:r>
              <a:rPr lang="en-US" altLang="ko-KR" sz="2000" dirty="0">
                <a:latin typeface="Pretendard"/>
                <a:ea typeface="Pretendard"/>
                <a:cs typeface="Pretendard"/>
              </a:rPr>
              <a:t>APT</a:t>
            </a:r>
            <a:r>
              <a:rPr lang="ko-KR" altLang="en-US" sz="2000" dirty="0">
                <a:latin typeface="Pretendard"/>
                <a:ea typeface="Pretendard"/>
                <a:cs typeface="Pretendard"/>
              </a:rPr>
              <a:t>로 </a:t>
            </a:r>
            <a:r>
              <a:rPr lang="en-US" altLang="ko-KR" sz="2000" dirty="0">
                <a:latin typeface="Pretendard"/>
                <a:ea typeface="Pretendard"/>
                <a:cs typeface="Pretendard"/>
              </a:rPr>
              <a:t>install </a:t>
            </a:r>
            <a:r>
              <a:rPr lang="ko-KR" altLang="en-US" sz="2000" dirty="0">
                <a:latin typeface="Pretendard"/>
                <a:ea typeface="Pretendard"/>
                <a:cs typeface="Pretendard"/>
              </a:rPr>
              <a:t>하여 </a:t>
            </a:r>
            <a:r>
              <a:rPr lang="en-US" altLang="ko-KR" sz="2000" dirty="0">
                <a:latin typeface="Pretendard"/>
                <a:ea typeface="Pretendard"/>
                <a:cs typeface="Pretendard"/>
              </a:rPr>
              <a:t>/</a:t>
            </a:r>
            <a:r>
              <a:rPr lang="en-US" altLang="ko-KR" sz="2000" dirty="0"/>
              <a:t>opt/</a:t>
            </a:r>
            <a:r>
              <a:rPr lang="en-US" altLang="ko-KR" sz="2000" dirty="0" err="1"/>
              <a:t>ros</a:t>
            </a:r>
            <a:r>
              <a:rPr lang="en-US" altLang="ko-KR" sz="2000" dirty="0"/>
              <a:t>/humble </a:t>
            </a:r>
            <a:r>
              <a:rPr lang="ko-KR" altLang="en-US" sz="2000" dirty="0"/>
              <a:t>에 있으나</a:t>
            </a:r>
            <a:r>
              <a:rPr lang="en-US" altLang="ko-KR" sz="2000" dirty="0">
                <a:latin typeface="Pretendard"/>
                <a:ea typeface="Pretendard"/>
                <a:cs typeface="Pretendard"/>
              </a:rPr>
              <a:t>, jetson</a:t>
            </a:r>
            <a:r>
              <a:rPr lang="ko-KR" altLang="en-US" sz="2000" dirty="0">
                <a:latin typeface="Pretendard"/>
                <a:ea typeface="Pretendard"/>
                <a:cs typeface="Pretendard"/>
              </a:rPr>
              <a:t>에서는 </a:t>
            </a:r>
            <a:r>
              <a:rPr lang="en-US" altLang="ko-KR" sz="2000" dirty="0">
                <a:latin typeface="Pretendard"/>
                <a:ea typeface="Pretendard"/>
                <a:cs typeface="Pretendard"/>
              </a:rPr>
              <a:t>code</a:t>
            </a:r>
            <a:r>
              <a:rPr lang="ko-KR" altLang="en-US" sz="2000" dirty="0">
                <a:latin typeface="Pretendard"/>
                <a:ea typeface="Pretendard"/>
                <a:cs typeface="Pretendard"/>
              </a:rPr>
              <a:t>단위로 관리하여 </a:t>
            </a:r>
            <a:r>
              <a:rPr lang="ko-KR" altLang="en-US" sz="2000" dirty="0"/>
              <a:t>계정의 </a:t>
            </a:r>
            <a:r>
              <a:rPr lang="en-US" altLang="ko-KR" sz="2000" dirty="0"/>
              <a:t>home directory </a:t>
            </a:r>
            <a:r>
              <a:rPr lang="ko-KR" altLang="en-US" sz="2000" dirty="0"/>
              <a:t>하위에 있음</a:t>
            </a:r>
            <a:endParaRPr lang="en-US" altLang="ko-KR" sz="2000" dirty="0"/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dirty="0">
                <a:solidFill>
                  <a:srgbClr val="FF0000"/>
                </a:solidFill>
              </a:rPr>
              <a:t>제공된 파일 중 </a:t>
            </a:r>
            <a:r>
              <a:rPr lang="en-US" altLang="ko-KR" sz="2000" dirty="0">
                <a:solidFill>
                  <a:srgbClr val="FF0000"/>
                </a:solidFill>
              </a:rPr>
              <a:t>fix_setup.sh </a:t>
            </a:r>
            <a:r>
              <a:rPr lang="ko-KR" altLang="en-US" sz="2000" dirty="0">
                <a:solidFill>
                  <a:srgbClr val="FF0000"/>
                </a:solidFill>
              </a:rPr>
              <a:t>를 실행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1600" dirty="0">
                <a:latin typeface="Pretendard"/>
                <a:ea typeface="Pretendard"/>
                <a:cs typeface="Pretendard"/>
              </a:rPr>
              <a:t>현재 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ros2_base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에 경로 오류가 있어서</a:t>
            </a:r>
            <a:r>
              <a:rPr lang="en-US" altLang="ko-KR" sz="1600" dirty="0"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해당 오류를 고치기 위함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924655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995AF-0EAB-119B-0FE1-0BE464CA3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51F392CC-DA61-4C87-BB45-3FDE4B0BC5A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68AD4375-9F50-F53A-6F9F-DD8473067C05}" type="slidenum">
              <a:rPr>
                <a:latin typeface="Pretendard"/>
                <a:ea typeface="Pretendard"/>
                <a:cs typeface="Pretendard"/>
              </a:rPr>
              <a:t>22</a:t>
            </a:fld>
            <a:endParaRPr dirty="0"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1A66E098-0ED8-9B1E-CFF0-DB5805346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dirty="0">
                <a:solidFill>
                  <a:schemeClr val="accent1"/>
                </a:solidFill>
              </a:rPr>
              <a:t>실습 기자재 정리 매뉴얼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6E3C389A-E59D-8474-9763-A0BCCD948D9F}"/>
              </a:ext>
            </a:extLst>
          </p:cNvPr>
          <p:cNvSpPr>
            <a:spLocks noGrp="1"/>
          </p:cNvSpPr>
          <p:nvPr/>
        </p:nvSpPr>
        <p:spPr>
          <a:xfrm>
            <a:off x="499314" y="1791584"/>
            <a:ext cx="7709021" cy="4242603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dirty="0">
                <a:latin typeface="Pretendard"/>
                <a:ea typeface="Pretendard"/>
                <a:cs typeface="Pretendard"/>
              </a:rPr>
              <a:t>구성품목</a:t>
            </a:r>
            <a:endParaRPr lang="en-US" altLang="ko-KR" sz="2000" dirty="0">
              <a:latin typeface="Pretendard"/>
              <a:ea typeface="Pretendard"/>
              <a:cs typeface="Pretendard"/>
            </a:endParaRP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600" dirty="0"/>
              <a:t>LAN</a:t>
            </a:r>
            <a:r>
              <a:rPr lang="ko-KR" altLang="en-US" sz="1600" dirty="0"/>
              <a:t>선 </a:t>
            </a:r>
            <a:r>
              <a:rPr lang="en-US" altLang="ko-KR" sz="1600" dirty="0"/>
              <a:t>2ea</a:t>
            </a: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1600" dirty="0"/>
              <a:t>파워 케이블 </a:t>
            </a:r>
            <a:r>
              <a:rPr lang="en-US" altLang="ko-KR" sz="1600" dirty="0"/>
              <a:t>2ea</a:t>
            </a: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600" dirty="0"/>
              <a:t>HDMI </a:t>
            </a:r>
            <a:r>
              <a:rPr lang="ko-KR" altLang="en-US" sz="1600" dirty="0"/>
              <a:t>케이블 </a:t>
            </a:r>
            <a:r>
              <a:rPr lang="en-US" altLang="ko-KR" sz="1600" dirty="0"/>
              <a:t>1ea</a:t>
            </a: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en-US" altLang="ko-KR" sz="1600" dirty="0" err="1"/>
              <a:t>Usb</a:t>
            </a:r>
            <a:r>
              <a:rPr lang="en-US" altLang="ko-KR" sz="1600" dirty="0"/>
              <a:t> to Ethernet</a:t>
            </a:r>
            <a:r>
              <a:rPr lang="ko-KR" altLang="en-US" sz="1600" dirty="0"/>
              <a:t> 어댑터 </a:t>
            </a:r>
            <a:r>
              <a:rPr lang="en-US" altLang="ko-KR" sz="1600" dirty="0"/>
              <a:t>1ea</a:t>
            </a: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1600" dirty="0"/>
              <a:t>모니터 파워케이블 </a:t>
            </a:r>
            <a:r>
              <a:rPr lang="en-US" altLang="ko-KR" sz="1600" dirty="0"/>
              <a:t>1ea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b="1" dirty="0">
                <a:solidFill>
                  <a:srgbClr val="FF0000"/>
                </a:solidFill>
              </a:rPr>
              <a:t>모니터 파워케이블을 제외한 모든 구성품목은 각 비닐에 다시 넣은 후 정리</a:t>
            </a:r>
            <a:endParaRPr lang="en-US" altLang="ko-KR" sz="2000" b="1" dirty="0">
              <a:solidFill>
                <a:srgbClr val="FF0000"/>
              </a:solidFill>
            </a:endParaRP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1600" dirty="0"/>
              <a:t>작은 비닐이나 박스 등을 임의로 버리지 말 것</a:t>
            </a:r>
            <a:endParaRPr lang="en-US" altLang="ko-KR" sz="1600" dirty="0"/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1600" b="1" dirty="0">
                <a:solidFill>
                  <a:srgbClr val="FF0000"/>
                </a:solidFill>
              </a:rPr>
              <a:t>정리상태불량 시 조별 감점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endParaRPr lang="en-US" altLang="ko-KR" sz="1600" dirty="0"/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>
                <a:latin typeface="Pretendard"/>
                <a:ea typeface="Pretendard"/>
                <a:cs typeface="Pretendard"/>
              </a:defRPr>
            </a:pPr>
            <a:endParaRPr lang="en-US" altLang="ko-KR" sz="2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Google Shape;534;p58">
            <a:extLst>
              <a:ext uri="{FF2B5EF4-FFF2-40B4-BE49-F238E27FC236}">
                <a16:creationId xmlns:a16="http://schemas.microsoft.com/office/drawing/2014/main" id="{A38B8F2D-3F33-679B-016D-93744D1EF31E}"/>
              </a:ext>
            </a:extLst>
          </p:cNvPr>
          <p:cNvSpPr>
            <a:spLocks noGrp="1"/>
          </p:cNvSpPr>
          <p:nvPr/>
        </p:nvSpPr>
        <p:spPr>
          <a:xfrm>
            <a:off x="393700" y="1431926"/>
            <a:ext cx="5780272" cy="43907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b="1" dirty="0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실습이 마친 후</a:t>
            </a:r>
            <a:r>
              <a:rPr lang="en-US" altLang="ko-KR" sz="2000" b="1" dirty="0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,</a:t>
            </a:r>
            <a:r>
              <a:rPr lang="ko-KR" altLang="en-US" sz="2000" b="1" dirty="0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 모두 처음 상태 그대로 정리할 것</a:t>
            </a:r>
            <a:endParaRPr sz="2000" b="1" dirty="0">
              <a:solidFill>
                <a:srgbClr val="FF0000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832AE7-B40C-E58D-B582-D0A4CE69B1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45" r="8899"/>
          <a:stretch>
            <a:fillRect/>
          </a:stretch>
        </p:blipFill>
        <p:spPr>
          <a:xfrm rot="16200000">
            <a:off x="6961061" y="-664870"/>
            <a:ext cx="3375236" cy="578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2410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521E2-EDD9-0439-4721-454DA236A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9F710-9D7B-3DAA-B8E4-FA34788EC06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02F15020-66A7-620A-7B7A-C05C4312DEAE}" type="slidenum">
              <a:rPr>
                <a:latin typeface="Pretendard"/>
                <a:ea typeface="Pretendard"/>
                <a:cs typeface="Pretendard"/>
              </a:rPr>
              <a:t>23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C85E359-5716-1D15-781A-8E7B43B69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420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3A7AEF89-DB19-D30A-DD30-B471516D1F77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실제 관절 상태 Topic 발행·구독</a:t>
            </a:r>
          </a:p>
        </p:txBody>
      </p:sp>
    </p:spTree>
    <p:extLst>
      <p:ext uri="{BB962C8B-B14F-4D97-AF65-F5344CB8AC3E}">
        <p14:creationId xmlns:p14="http://schemas.microsoft.com/office/powerpoint/2010/main" val="3574643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68AD4375-9F50-F53A-6F9F-DD8473067C05}" type="slidenum">
              <a:rPr>
                <a:latin typeface="Pretendard"/>
                <a:ea typeface="Pretendard"/>
                <a:cs typeface="Pretendard"/>
              </a:rPr>
              <a:t>24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 1 수행 항목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noGrp="1"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rclpy·PyYAML·SDK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·/dev/ttyACM0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확인</a:t>
            </a:r>
            <a:endParaRPr sz="1600" b="0" i="0" u="none" cap="none" spc="0" dirty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 err="1">
                <a:latin typeface="Pretendard"/>
                <a:ea typeface="Pretendard"/>
                <a:cs typeface="Pretendard"/>
              </a:rPr>
              <a:t>상세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명령과</a:t>
            </a:r>
            <a:r>
              <a:rPr sz="1600" dirty="0">
                <a:latin typeface="Pretendard"/>
                <a:ea typeface="Pretendard"/>
                <a:cs typeface="Pretendard"/>
              </a:rPr>
              <a:t> TODO: student/practice.md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>
                <a:latin typeface="Pretendard"/>
                <a:ea typeface="Pretendard"/>
                <a:cs typeface="Pretendard"/>
              </a:rPr>
              <a:t>네 </a:t>
            </a:r>
            <a:r>
              <a:rPr sz="2000" dirty="0" err="1">
                <a:latin typeface="Pretendard"/>
                <a:ea typeface="Pretendard"/>
                <a:cs typeface="Pretendard"/>
              </a:rPr>
              <a:t>단계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확인</a:t>
            </a:r>
            <a:r>
              <a:rPr sz="2000" dirty="0">
                <a:latin typeface="Pretendard"/>
                <a:ea typeface="Pretendard"/>
                <a:cs typeface="Pretendard"/>
              </a:rPr>
              <a:t> 후 Topic </a:t>
            </a:r>
            <a:r>
              <a:rPr sz="2000" dirty="0" err="1">
                <a:latin typeface="Pretendard"/>
                <a:ea typeface="Pretendard"/>
                <a:cs typeface="Pretendard"/>
              </a:rPr>
              <a:t>실습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완료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noGrp="1"/>
          </p:cNvSpPr>
          <p:nvPr/>
        </p:nvSpPr>
        <p:spPr>
          <a:xfrm>
            <a:off x="70296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환경·장비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noGrp="1"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/joint_states Subscription 완성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noGrp="1"/>
          </p:cNvSpPr>
          <p:nvPr/>
        </p:nvSpPr>
        <p:spPr>
          <a:xfrm>
            <a:off x="655512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 dirty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Listener TODO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noGrp="1"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Publisher와 Listener 실행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noGrp="1"/>
          </p:cNvSpPr>
          <p:nvPr/>
        </p:nvSpPr>
        <p:spPr>
          <a:xfrm>
            <a:off x="70296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빌드·Launch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타입·6개 관절값·발행 주기 확인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Topic 관찰</a:t>
            </a:r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50060C77-52B1-F6FC-B1A4-C961670FE2AD}"/>
              </a:ext>
            </a:extLst>
          </p:cNvPr>
          <p:cNvSpPr>
            <a:spLocks noGrp="1"/>
          </p:cNvSpPr>
          <p:nvPr/>
        </p:nvSpPr>
        <p:spPr>
          <a:xfrm>
            <a:off x="499316" y="2553962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1159D27A-1461-523D-7DD5-673A60B66AD8}"/>
              </a:ext>
            </a:extLst>
          </p:cNvPr>
          <p:cNvSpPr>
            <a:spLocks noGrp="1"/>
          </p:cNvSpPr>
          <p:nvPr/>
        </p:nvSpPr>
        <p:spPr>
          <a:xfrm>
            <a:off x="6298499" y="2553962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5" name="Rounded Rectangle 9">
            <a:extLst>
              <a:ext uri="{FF2B5EF4-FFF2-40B4-BE49-F238E27FC236}">
                <a16:creationId xmlns:a16="http://schemas.microsoft.com/office/drawing/2014/main" id="{8D6E1CF7-05C7-0A24-2B00-908E4780C230}"/>
              </a:ext>
            </a:extLst>
          </p:cNvPr>
          <p:cNvSpPr>
            <a:spLocks noGrp="1"/>
          </p:cNvSpPr>
          <p:nvPr/>
        </p:nvSpPr>
        <p:spPr>
          <a:xfrm>
            <a:off x="499316" y="4298613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E8DB49BA-56EA-3432-AE06-A384DAAD1E28}"/>
              </a:ext>
            </a:extLst>
          </p:cNvPr>
          <p:cNvSpPr>
            <a:spLocks noGrp="1"/>
          </p:cNvSpPr>
          <p:nvPr/>
        </p:nvSpPr>
        <p:spPr>
          <a:xfrm>
            <a:off x="6298499" y="4298613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41680313-6E64-04FF-399A-57B7CADE95A9}" type="slidenum">
              <a:rPr>
                <a:latin typeface="Pretendard"/>
                <a:ea typeface="Pretendard"/>
                <a:cs typeface="Pretendard"/>
              </a:rPr>
              <a:t>25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420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 2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최신 관절 상태 Service 요청·응답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5FEBBBCE-9E16-527A-0EE3-E5839422D847}" type="slidenum">
              <a:rPr>
                <a:latin typeface="Pretendard"/>
                <a:ea typeface="Pretendard"/>
                <a:cs typeface="Pretendard"/>
              </a:rPr>
              <a:t>26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 2 수행 항목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noGrp="1"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Trigger Service와 Response 작성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 err="1">
                <a:latin typeface="Pretendard"/>
                <a:ea typeface="Pretendard"/>
                <a:cs typeface="Pretendard"/>
              </a:rPr>
              <a:t>상세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명령과</a:t>
            </a:r>
            <a:r>
              <a:rPr sz="1600" dirty="0">
                <a:latin typeface="Pretendard"/>
                <a:ea typeface="Pretendard"/>
                <a:cs typeface="Pretendard"/>
              </a:rPr>
              <a:t> TODO: student/practice.md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 err="1">
                <a:latin typeface="Pretendard"/>
                <a:ea typeface="Pretendard"/>
                <a:cs typeface="Pretendard"/>
              </a:rPr>
              <a:t>Server·Client·Launch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완성</a:t>
            </a:r>
            <a:r>
              <a:rPr sz="2000" dirty="0">
                <a:latin typeface="Pretendard"/>
                <a:ea typeface="Pretendard"/>
                <a:cs typeface="Pretendard"/>
              </a:rPr>
              <a:t> 후 </a:t>
            </a:r>
            <a:r>
              <a:rPr sz="2000" dirty="0" err="1">
                <a:latin typeface="Pretendard"/>
                <a:ea typeface="Pretendard"/>
                <a:cs typeface="Pretendard"/>
              </a:rPr>
              <a:t>요청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결과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확인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noGrp="1"/>
          </p:cNvSpPr>
          <p:nvPr/>
        </p:nvSpPr>
        <p:spPr>
          <a:xfrm>
            <a:off x="70296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 dirty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Server TODO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noGrp="1"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대기·비동기 호출·결과 처리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noGrp="1"/>
          </p:cNvSpPr>
          <p:nvPr/>
        </p:nvSpPr>
        <p:spPr>
          <a:xfrm>
            <a:off x="655512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Client TODO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noGrp="1"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Publisher와 Service Server 실행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noGrp="1"/>
          </p:cNvSpPr>
          <p:nvPr/>
        </p:nvSpPr>
        <p:spPr>
          <a:xfrm>
            <a:off x="70296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 dirty="0" err="1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Bringup</a:t>
            </a:r>
            <a:r>
              <a:rPr sz="1800" b="0" i="0" u="none" cap="none" spc="0" dirty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 Launch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Python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Client와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CLI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응답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확인</a:t>
            </a:r>
            <a:endParaRPr sz="1600" b="0" i="0" u="none" cap="none" spc="0" dirty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 dirty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Service </a:t>
            </a:r>
            <a:r>
              <a:rPr sz="1800" b="0" i="0" u="none" cap="none" spc="0" dirty="0" err="1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호출</a:t>
            </a:r>
            <a:endParaRPr sz="1800" b="0" i="0" u="none" cap="none" spc="0" dirty="0">
              <a:ln>
                <a:noFill/>
              </a:ln>
              <a:solidFill>
                <a:srgbClr val="3357B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50060C77-52B1-F6FC-B1A4-C961670FE2AD}"/>
              </a:ext>
            </a:extLst>
          </p:cNvPr>
          <p:cNvSpPr>
            <a:spLocks noGrp="1"/>
          </p:cNvSpPr>
          <p:nvPr/>
        </p:nvSpPr>
        <p:spPr>
          <a:xfrm>
            <a:off x="499316" y="2553962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1159D27A-1461-523D-7DD5-673A60B66AD8}"/>
              </a:ext>
            </a:extLst>
          </p:cNvPr>
          <p:cNvSpPr>
            <a:spLocks noGrp="1"/>
          </p:cNvSpPr>
          <p:nvPr/>
        </p:nvSpPr>
        <p:spPr>
          <a:xfrm>
            <a:off x="6298499" y="2553962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5" name="Rounded Rectangle 9">
            <a:extLst>
              <a:ext uri="{FF2B5EF4-FFF2-40B4-BE49-F238E27FC236}">
                <a16:creationId xmlns:a16="http://schemas.microsoft.com/office/drawing/2014/main" id="{8D6E1CF7-05C7-0A24-2B00-908E4780C230}"/>
              </a:ext>
            </a:extLst>
          </p:cNvPr>
          <p:cNvSpPr>
            <a:spLocks noGrp="1"/>
          </p:cNvSpPr>
          <p:nvPr/>
        </p:nvSpPr>
        <p:spPr>
          <a:xfrm>
            <a:off x="499316" y="4298613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E8DB49BA-56EA-3432-AE06-A384DAAD1E28}"/>
              </a:ext>
            </a:extLst>
          </p:cNvPr>
          <p:cNvSpPr>
            <a:spLocks noGrp="1"/>
          </p:cNvSpPr>
          <p:nvPr/>
        </p:nvSpPr>
        <p:spPr>
          <a:xfrm>
            <a:off x="6298499" y="4298613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fld id="{D172A7C5-A0CC-7B36-F236-345181E6AD72}" type="slidenum">
              <a:rPr>
                <a:latin typeface="Pretendard"/>
                <a:ea typeface="Pretendard"/>
                <a:cs typeface="Pretendard"/>
              </a:rPr>
              <a:t>27</a:t>
            </a:fld>
            <a:endParaRPr dirty="0"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defRPr>
                <a:latin typeface="Pretendard"/>
                <a:ea typeface="Pretendard"/>
                <a:cs typeface="Pretendard"/>
              </a:defRPr>
            </a:pPr>
            <a:r>
              <a:rPr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3주차 </a:t>
            </a:r>
            <a:r>
              <a:rPr dirty="0" err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조교</a:t>
            </a:r>
            <a:r>
              <a:rPr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dirty="0" err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검사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noGrp="1"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Publisher·Listener·Service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Server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정상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실행</a:t>
            </a:r>
            <a:endParaRPr sz="1600" b="0" i="0" u="none" cap="none" spc="0" dirty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dirty="0">
                <a:latin typeface="Pretendard"/>
                <a:ea typeface="Pretendard"/>
                <a:cs typeface="Pretendard"/>
              </a:rPr>
              <a:t>실습</a:t>
            </a:r>
            <a:r>
              <a:rPr lang="en-US" altLang="ko-KR" sz="2000" dirty="0">
                <a:latin typeface="Pretendard"/>
                <a:ea typeface="Pretendard"/>
                <a:cs typeface="Pretendard"/>
              </a:rPr>
              <a:t>2 </a:t>
            </a:r>
            <a:r>
              <a:rPr lang="ko-KR" altLang="en-US" sz="2000" dirty="0">
                <a:latin typeface="Pretendard"/>
                <a:ea typeface="Pretendard"/>
                <a:cs typeface="Pretendard"/>
              </a:rPr>
              <a:t>실행 결과를 조교에게 검사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noGrp="1"/>
          </p:cNvSpPr>
          <p:nvPr/>
        </p:nvSpPr>
        <p:spPr>
          <a:xfrm>
            <a:off x="70296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노드 실행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noGrp="1"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6개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name·position과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약 20 Hz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확인</a:t>
            </a:r>
            <a:endParaRPr sz="1600" b="0" i="0" u="none" cap="none" spc="0" dirty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noGrp="1"/>
          </p:cNvSpPr>
          <p:nvPr/>
        </p:nvSpPr>
        <p:spPr>
          <a:xfrm>
            <a:off x="655512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 dirty="0" err="1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JointState</a:t>
            </a:r>
            <a:endParaRPr sz="1800" b="0" i="0" u="none" cap="none" spc="0" dirty="0">
              <a:ln>
                <a:noFill/>
              </a:ln>
              <a:solidFill>
                <a:srgbClr val="3357B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noGrp="1"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/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get_joint_state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= Trigger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확인</a:t>
            </a:r>
            <a:endParaRPr sz="1600" b="0" i="0" u="none" cap="none" spc="0" dirty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noGrp="1"/>
          </p:cNvSpPr>
          <p:nvPr/>
        </p:nvSpPr>
        <p:spPr>
          <a:xfrm>
            <a:off x="70296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 dirty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Service </a:t>
            </a:r>
            <a:r>
              <a:rPr sz="1800" b="0" i="0" u="none" cap="none" spc="0" dirty="0" err="1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타입</a:t>
            </a:r>
            <a:endParaRPr sz="1800" b="0" i="0" u="none" cap="none" spc="0" dirty="0">
              <a:ln>
                <a:noFill/>
              </a:ln>
              <a:solidFill>
                <a:srgbClr val="3357B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Python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Client·CLI에서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6개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관절값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수신</a:t>
            </a:r>
            <a:endParaRPr sz="1600" b="0" i="0" u="none" cap="none" spc="0" dirty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 dirty="0" err="1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최신값</a:t>
            </a:r>
            <a:r>
              <a:rPr sz="1800" b="0" i="0" u="none" cap="none" spc="0" dirty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i="0" u="none" cap="none" spc="0" dirty="0" err="1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응답</a:t>
            </a:r>
            <a:endParaRPr sz="1800" b="0" i="0" u="none" cap="none" spc="0" dirty="0">
              <a:ln>
                <a:noFill/>
              </a:ln>
              <a:solidFill>
                <a:srgbClr val="3357B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50060C77-52B1-F6FC-B1A4-C961670FE2AD}"/>
              </a:ext>
            </a:extLst>
          </p:cNvPr>
          <p:cNvSpPr>
            <a:spLocks noGrp="1"/>
          </p:cNvSpPr>
          <p:nvPr/>
        </p:nvSpPr>
        <p:spPr>
          <a:xfrm>
            <a:off x="499316" y="2553962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1159D27A-1461-523D-7DD5-673A60B66AD8}"/>
              </a:ext>
            </a:extLst>
          </p:cNvPr>
          <p:cNvSpPr>
            <a:spLocks noGrp="1"/>
          </p:cNvSpPr>
          <p:nvPr/>
        </p:nvSpPr>
        <p:spPr>
          <a:xfrm>
            <a:off x="6298499" y="2553962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5" name="Rounded Rectangle 9">
            <a:extLst>
              <a:ext uri="{FF2B5EF4-FFF2-40B4-BE49-F238E27FC236}">
                <a16:creationId xmlns:a16="http://schemas.microsoft.com/office/drawing/2014/main" id="{8D6E1CF7-05C7-0A24-2B00-908E4780C230}"/>
              </a:ext>
            </a:extLst>
          </p:cNvPr>
          <p:cNvSpPr>
            <a:spLocks noGrp="1"/>
          </p:cNvSpPr>
          <p:nvPr/>
        </p:nvSpPr>
        <p:spPr>
          <a:xfrm>
            <a:off x="499316" y="4298613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E8DB49BA-56EA-3432-AE06-A384DAAD1E28}"/>
              </a:ext>
            </a:extLst>
          </p:cNvPr>
          <p:cNvSpPr>
            <a:spLocks noGrp="1"/>
          </p:cNvSpPr>
          <p:nvPr/>
        </p:nvSpPr>
        <p:spPr>
          <a:xfrm>
            <a:off x="6298499" y="4298613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583F3BE4-F092-FCE9-7B02-01AFC59FCE8E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 err="1">
                <a:latin typeface="Pretendard"/>
                <a:ea typeface="Pretendard"/>
                <a:cs typeface="Pretendard"/>
              </a:rPr>
              <a:t>상세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명령과</a:t>
            </a:r>
            <a:r>
              <a:rPr sz="1600" dirty="0">
                <a:latin typeface="Pretendard"/>
                <a:ea typeface="Pretendard"/>
                <a:cs typeface="Pretendard"/>
              </a:rPr>
              <a:t> TODO: student/practice.md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1341</Words>
  <Application>Microsoft Office PowerPoint</Application>
  <DocSecurity>0</DocSecurity>
  <PresentationFormat>와이드스크린</PresentationFormat>
  <Paragraphs>277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Pretendard SemiBold</vt:lpstr>
      <vt:lpstr>Pretendard</vt:lpstr>
      <vt:lpstr>Default Codex Theme</vt:lpstr>
      <vt:lpstr>3주차 — ROS 2·Topic·Service</vt:lpstr>
      <vt:lpstr>PowerPoint 프레젠테이션</vt:lpstr>
      <vt:lpstr>이론</vt:lpstr>
      <vt:lpstr>2주차 통신 복습</vt:lpstr>
      <vt:lpstr>실습 장비 구성</vt:lpstr>
      <vt:lpstr>ROS2 - Service</vt:lpstr>
      <vt:lpstr>Topic과 Service 비교</vt:lpstr>
      <vt:lpstr>ROS 2 인터페이스: .msg와 .srv</vt:lpstr>
      <vt:lpstr>ROS 2 인터페이스: .msg와 .srv</vt:lpstr>
      <vt:lpstr>Service Client 흐름</vt:lpstr>
      <vt:lpstr>Client 생성·Server 대기</vt:lpstr>
      <vt:lpstr>비동기 호출·Future</vt:lpstr>
      <vt:lpstr>ROS2 Service 사용 흐름</vt:lpstr>
      <vt:lpstr>Service CLI</vt:lpstr>
      <vt:lpstr>JointState 메시지</vt:lpstr>
      <vt:lpstr>name·position 배열</vt:lpstr>
      <vt:lpstr>Launch가 필요한 이유</vt:lpstr>
      <vt:lpstr>Launch 파일 구성</vt:lpstr>
      <vt:lpstr>Launch 설치와 실행</vt:lpstr>
      <vt:lpstr>실습 준비</vt:lpstr>
      <vt:lpstr>실습 전 준비사항</vt:lpstr>
      <vt:lpstr>실습 기자재 정리 매뉴얼</vt:lpstr>
      <vt:lpstr>실습 1</vt:lpstr>
      <vt:lpstr>실습 1 수행 항목</vt:lpstr>
      <vt:lpstr>실습 2</vt:lpstr>
      <vt:lpstr>실습 2 수행 항목</vt:lpstr>
      <vt:lpstr>3주차 조교 검사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김성민</cp:lastModifiedBy>
  <cp:revision>48</cp:revision>
  <dcterms:created xsi:type="dcterms:W3CDTF">2026-08-29T06:43:51Z</dcterms:created>
  <dcterms:modified xsi:type="dcterms:W3CDTF">2026-09-11T06:58:47Z</dcterms:modified>
</cp:coreProperties>
</file>