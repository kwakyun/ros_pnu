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78" r:id="rId22"/>
    <p:sldId id="279" r:id="rId23"/>
    <p:sldId id="283" r:id="rId24"/>
    <p:sldId id="280" r:id="rId25"/>
    <p:sldId id="281" r:id="rId26"/>
    <p:sldId id="282" r:id="rId27"/>
  </p:sldIdLst>
  <p:sldSz cx="12192000" cy="6858000"/>
  <p:notesSz cx="6858000" cy="9144000"/>
  <p:embeddedFontLst>
    <p:embeddedFont>
      <p:font typeface="Pretendard" panose="02000503000000020004" pitchFamily="50" charset="-127"/>
      <p:regular r:id="rId29"/>
      <p:bold r:id="rId30"/>
    </p:embeddedFont>
    <p:embeddedFont>
      <p:font typeface="Pretendard SemiBold" panose="02000703000000020004" pitchFamily="50" charset="-127"/>
      <p:bold r:id="rId3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39DFB-8AD7-2C8D-FF19-6BDC42D2D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164DC2-51AB-7ABD-CAF2-CCA0103C03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73BFEE-9573-89FF-929C-A1A3627A8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3BDF7-4D4B-84DB-876D-C29316094C2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141531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buNone/>
              <a:defRPr sz="6000" b="1" i="0">
                <a:latin typeface="Pretendard"/>
                <a:ea typeface="Pretendard"/>
                <a:cs typeface="Pretendard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699" y="6279294"/>
            <a:ext cx="8129411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294"/>
            <a:ext cx="8705144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294"/>
            <a:ext cx="7493000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4826000"/>
            <a:ext cx="2595934" cy="1168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699" y="6279294"/>
            <a:ext cx="8466647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3334966" y="4826000"/>
            <a:ext cx="2595934" cy="11684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4826000"/>
            <a:ext cx="2595934" cy="1168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9205679" y="4826000"/>
            <a:ext cx="2595934" cy="11684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699" y="6279294"/>
            <a:ext cx="7361767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294"/>
            <a:ext cx="7587544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294"/>
            <a:ext cx="7531100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2900" b="1" i="0" kern="1200">
          <a:solidFill>
            <a:schemeClr val="tx1"/>
          </a:solidFill>
          <a:latin typeface="Pretendard"/>
          <a:ea typeface="Pretendard"/>
          <a:cs typeface="Pretendard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Pretendard"/>
        <a:buChar char="•"/>
        <a:defRPr sz="24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marL="4572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9144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3716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18288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2860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7432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2004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6576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48" userDrawn="1">
          <p15:clr>
            <a:srgbClr val="F26B43"/>
          </p15:clr>
        </p15:guide>
        <p15:guide id="4" pos="1264" userDrawn="1">
          <p15:clr>
            <a:srgbClr val="F26B43"/>
          </p15:clr>
        </p15:guide>
        <p15:guide id="5" pos="1480" userDrawn="1">
          <p15:clr>
            <a:srgbClr val="F26B43"/>
          </p15:clr>
        </p15:guide>
        <p15:guide id="6" pos="2520" userDrawn="1">
          <p15:clr>
            <a:srgbClr val="F26B43"/>
          </p15:clr>
        </p15:guide>
        <p15:guide id="7" pos="2712" userDrawn="1">
          <p15:clr>
            <a:srgbClr val="F26B43"/>
          </p15:clr>
        </p15:guide>
        <p15:guide id="8" pos="3736" userDrawn="1">
          <p15:clr>
            <a:srgbClr val="F26B43"/>
          </p15:clr>
        </p15:guide>
        <p15:guide id="9" pos="3944" userDrawn="1">
          <p15:clr>
            <a:srgbClr val="F26B43"/>
          </p15:clr>
        </p15:guide>
        <p15:guide id="10" pos="4968" userDrawn="1">
          <p15:clr>
            <a:srgbClr val="F26B43"/>
          </p15:clr>
        </p15:guide>
        <p15:guide id="11" pos="5184" userDrawn="1">
          <p15:clr>
            <a:srgbClr val="F26B43"/>
          </p15:clr>
        </p15:guide>
        <p15:guide id="12" pos="6200" userDrawn="1">
          <p15:clr>
            <a:srgbClr val="F26B43"/>
          </p15:clr>
        </p15:guide>
        <p15:guide id="13" pos="6416" userDrawn="1">
          <p15:clr>
            <a:srgbClr val="F26B43"/>
          </p15:clr>
        </p15:guide>
        <p15:guide id="14" pos="7432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7" orient="horz" pos="248" userDrawn="1">
          <p15:clr>
            <a:srgbClr val="F26B43"/>
          </p15:clr>
        </p15:guide>
        <p15:guide id="18" orient="horz" pos="656" userDrawn="1">
          <p15:clr>
            <a:srgbClr val="F26B43"/>
          </p15:clr>
        </p15:guide>
        <p15:guide id="19" orient="horz" pos="872" userDrawn="1">
          <p15:clr>
            <a:srgbClr val="F26B43"/>
          </p15:clr>
        </p15:guide>
        <p15:guide id="20" orient="horz" pos="1280" userDrawn="1">
          <p15:clr>
            <a:srgbClr val="F26B43"/>
          </p15:clr>
        </p15:guide>
        <p15:guide id="21" orient="horz" pos="1496" userDrawn="1">
          <p15:clr>
            <a:srgbClr val="F26B43"/>
          </p15:clr>
        </p15:guide>
        <p15:guide id="22" orient="horz" pos="1904" userDrawn="1">
          <p15:clr>
            <a:srgbClr val="F26B43"/>
          </p15:clr>
        </p15:guide>
        <p15:guide id="23" orient="horz" pos="2120" userDrawn="1">
          <p15:clr>
            <a:srgbClr val="F26B43"/>
          </p15:clr>
        </p15:guide>
        <p15:guide id="24" orient="horz" pos="2528" userDrawn="1">
          <p15:clr>
            <a:srgbClr val="F26B43"/>
          </p15:clr>
        </p15:guide>
        <p15:guide id="25" orient="horz" pos="2744" userDrawn="1">
          <p15:clr>
            <a:srgbClr val="F26B43"/>
          </p15:clr>
        </p15:guide>
        <p15:guide id="26" orient="horz" pos="3152" userDrawn="1">
          <p15:clr>
            <a:srgbClr val="F26B43"/>
          </p15:clr>
        </p15:guide>
        <p15:guide id="27" orient="horz" pos="3368" userDrawn="1">
          <p15:clr>
            <a:srgbClr val="F26B43"/>
          </p15:clr>
        </p15:guide>
        <p15:guide id="28" orient="horz" pos="3776" userDrawn="1">
          <p15:clr>
            <a:srgbClr val="F26B43"/>
          </p15:clr>
        </p15:guide>
        <p15:guide id="29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6809B0-D483-45C1-B580-B57BB5CC52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9968" y="1444887"/>
            <a:ext cx="10764781" cy="949063"/>
          </a:xfrm>
        </p:spPr>
        <p:txBody>
          <a:bodyPr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550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6주차 — 작업 공간·역기구학 제어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C66AB198-0518-67DE-AB81-D65264FDA20F}"/>
              </a:ext>
            </a:extLst>
          </p:cNvPr>
          <p:cNvSpPr>
            <a:spLocks noGrp="1"/>
          </p:cNvSpPr>
          <p:nvPr/>
        </p:nvSpPr>
        <p:spPr>
          <a:xfrm>
            <a:off x="603018" y="4606175"/>
            <a:ext cx="6304556" cy="320279"/>
          </a:xfrm>
          <a:prstGeom prst="rect">
            <a:avLst/>
          </a:prstGeom>
          <a:noFill/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Pretendard"/>
              <a:buNone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Gamepad·FK·IK·EEF Control</a:t>
            </a:r>
          </a:p>
        </p:txBody>
      </p:sp>
      <p:sp>
        <p:nvSpPr>
          <p:cNvPr id="10" name="Subtitle 4">
            <a:extLst>
              <a:ext uri="{FF2B5EF4-FFF2-40B4-BE49-F238E27FC236}">
                <a16:creationId xmlns:a16="http://schemas.microsoft.com/office/drawing/2014/main" id="{CC2E0538-5645-7BC8-CF3A-FDF31FD97820}"/>
              </a:ext>
            </a:extLst>
          </p:cNvPr>
          <p:cNvSpPr>
            <a:spLocks noGrp="1"/>
          </p:cNvSpPr>
          <p:nvPr/>
        </p:nvSpPr>
        <p:spPr>
          <a:xfrm>
            <a:off x="603018" y="555606"/>
            <a:ext cx="3578411" cy="345178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Pretendard"/>
              <a:buNone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>
                <a:solidFill>
                  <a:schemeClr val="accent2">
                    <a:lumMod val="90000"/>
                  </a:schemeClr>
                </a:solidFill>
                <a:latin typeface="Pretendard"/>
                <a:ea typeface="Pretendard"/>
                <a:cs typeface="Pretendard"/>
              </a:rPr>
              <a:t>임베디드 시스템 설계 및 실습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729CEB81-A958-4CDA-8FDD-4761767D45EB}"/>
              </a:ext>
            </a:extLst>
          </p:cNvPr>
          <p:cNvSpPr>
            <a:spLocks noGrp="1"/>
          </p:cNvSpPr>
          <p:nvPr/>
        </p:nvSpPr>
        <p:spPr>
          <a:xfrm>
            <a:off x="-183260" y="3934067"/>
            <a:ext cx="125585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1" name="Page Number">
            <a:extLst>
              <a:ext uri="{FF2B5EF4-FFF2-40B4-BE49-F238E27FC236}">
                <a16:creationId xmlns:a16="http://schemas.microsoft.com/office/drawing/2014/main" id="{B9255052-E5A2-4B5F-A124-684829B84FC4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/>
          <a:lstStyle/>
          <a:p>
            <a:pPr algn="r">
              <a:buNone/>
              <a:defRPr sz="11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10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85088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08432E-6CC9-7470-65A5-7F6A330EFB4F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E2598689-54C9-18A7-3A19-ED76AA08988F}" type="slidenum">
              <a:rPr>
                <a:latin typeface="Pretendard"/>
                <a:ea typeface="Pretendard"/>
                <a:cs typeface="Pretendard"/>
              </a:rPr>
              <a:t>2</a:t>
            </a:fld>
            <a:endParaRPr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73F7058-30A0-0125-1A90-B808A012B5B4}"/>
              </a:ext>
            </a:extLst>
          </p:cNvPr>
          <p:cNvSpPr>
            <a:spLocks noGrp="1"/>
          </p:cNvSpPr>
          <p:nvPr/>
        </p:nvSpPr>
        <p:spPr>
          <a:xfrm>
            <a:off x="393699" y="392242"/>
            <a:ext cx="3578411" cy="345178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Pretendard"/>
              <a:buNone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graphicFrame>
        <p:nvGraphicFramePr>
          <p:cNvPr id="9" name="Table 6"/>
          <p:cNvGraphicFramePr/>
          <p:nvPr/>
        </p:nvGraphicFramePr>
        <p:xfrm>
          <a:off x="393700" y="960120"/>
          <a:ext cx="11404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1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Pretendard"/>
                          <a:ea typeface="Pretendard"/>
                          <a:cs typeface="Pretendard"/>
                        </a:rPr>
                        <a:t>01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5주차 복습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Pretendard"/>
                          <a:ea typeface="Pretendard"/>
                          <a:cs typeface="Pretendard"/>
                        </a:rPr>
                        <a:t>02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End-Effector·Pose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Pretendard"/>
                          <a:ea typeface="Pretendard"/>
                          <a:cs typeface="Pretendard"/>
                        </a:rPr>
                        <a:t>03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Joint·Task Space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Pretendard"/>
                          <a:ea typeface="Pretendard"/>
                          <a:cs typeface="Pretendard"/>
                        </a:rPr>
                        <a:t>04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FK·IK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Pretendard"/>
                          <a:ea typeface="Pretendard"/>
                          <a:cs typeface="Pretendard"/>
                        </a:rPr>
                        <a:t>05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Gamepad 입력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Pretendard"/>
                          <a:ea typeface="Pretendard"/>
                          <a:cs typeface="Pretendard"/>
                        </a:rPr>
                        <a:t>06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실습 1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0133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F5D028D-B73B-5BFF-0AA5-65F94FB570F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202359C0-8A7A-196E-DD58-8E6569619F09}" type="slidenum">
              <a:rPr>
                <a:latin typeface="Pretendard"/>
                <a:ea typeface="Pretendard"/>
                <a:cs typeface="Pretendard"/>
              </a:rPr>
              <a:t>3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D035ED81-B82C-6CFE-FAA7-0911E05CD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1170935"/>
            <a:ext cx="11404600" cy="1797958"/>
          </a:xfrm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420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이론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6730FFED-E57C-67CB-4BAA-568126831AB5}"/>
              </a:ext>
            </a:extLst>
          </p:cNvPr>
          <p:cNvSpPr>
            <a:spLocks noGrp="1"/>
          </p:cNvSpPr>
          <p:nvPr/>
        </p:nvSpPr>
        <p:spPr>
          <a:xfrm>
            <a:off x="2549677" y="3297710"/>
            <a:ext cx="7092645" cy="186590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말단부 목표와 관절 운동의 관계 이해</a:t>
            </a:r>
            <a:endParaRPr sz="1600">
              <a:latin typeface="Pretendard SemiBold"/>
              <a:ea typeface="Pretendard SemiBold"/>
              <a:cs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46614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F5D028D-B73B-5BFF-0AA5-65F94FB570F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EFD6AB9A-5F9E-5F59-51AB-3C8734130965}" type="slidenum">
              <a:rPr>
                <a:latin typeface="Pretendard"/>
                <a:ea typeface="Pretendard"/>
                <a:cs typeface="Pretendard"/>
              </a:rPr>
              <a:t>4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D035ED81-B82C-6CFE-FAA7-0911E05CD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1170935"/>
            <a:ext cx="11404600" cy="1797958"/>
          </a:xfrm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420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5주차 복습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6730FFED-E57C-67CB-4BAA-568126831AB5}"/>
              </a:ext>
            </a:extLst>
          </p:cNvPr>
          <p:cNvSpPr>
            <a:spLocks noGrp="1"/>
          </p:cNvSpPr>
          <p:nvPr/>
        </p:nvSpPr>
        <p:spPr>
          <a:xfrm>
            <a:off x="2549677" y="3297710"/>
            <a:ext cx="7092645" cy="186590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관절 위치제어와 Forward Kinematics 다시 보기</a:t>
            </a:r>
            <a:endParaRPr sz="1600">
              <a:latin typeface="Pretendard SemiBold"/>
              <a:ea typeface="Pretendard SemiBold"/>
              <a:cs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46614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EE5B3003-2C54-13C6-9832-7637201064DE}" type="slidenum">
              <a:rPr>
                <a:latin typeface="Pretendard"/>
                <a:ea typeface="Pretendard"/>
                <a:cs typeface="Pretendard"/>
              </a:rPr>
              <a:t>5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5주차 복습 - 관절 위치제어</a:t>
            </a: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23133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/joint_targets로 관절별 목표각 전달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Controller가 목표를 실제 Servo 명령으로 변환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/joint_states로 현재 관절값 확인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원하는 손끝 위치를 관절각으로 직접 판단해야 함</a:t>
            </a: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각 관절의 목표각을 직접 지정하는 제어 방식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8C630A04-5A25-9E0C-9436-126091DB86B3}" type="slidenum">
              <a:rPr>
                <a:latin typeface="Pretendard"/>
                <a:ea typeface="Pretendard"/>
                <a:cs typeface="Pretendard"/>
              </a:rPr>
              <a:t>6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</a:rPr>
              <a:t>5주차 복습 - </a:t>
            </a: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Forward Kinematics</a:t>
            </a: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23133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입력: Joint Values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출력: End-Effector Pose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하나의 관절 구성에서 하나의 Pose 결정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측정 관절값으로 실제 손끝 자세 복원</a:t>
            </a: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관절값으로 End-Effector의 위치와 방향 계산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>
                <a:latin typeface="Pretendard"/>
                <a:ea typeface="Pretendard"/>
                <a:cs typeface="Pretendard"/>
              </a:rPr>
              <a:t>Forward Kinematics</a:t>
            </a:r>
            <a:endParaRPr sz="140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입력: Joint Values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출력: End-Effector Pose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현재 손끝 자세 계산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한 관절 구성에서 한 결과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D3D7D1C8-AE23-AA48-DF65-C742588DBE47}" type="slidenum">
              <a:rPr>
                <a:latin typeface="Pretendard"/>
                <a:ea typeface="Pretendard"/>
                <a:cs typeface="Pretendard"/>
              </a:rPr>
              <a:t>7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FK·IK 비교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5560261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>
                <a:latin typeface="Pretendard"/>
                <a:ea typeface="Pretendard"/>
                <a:cs typeface="Pretendard"/>
              </a:rPr>
              <a:t>Inverse Kinematics</a:t>
            </a:r>
            <a:endParaRPr sz="140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입력: End-Effector Target</a:t>
            </a:r>
            <a:endParaRPr sz="140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출력: Joint Targets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목표 자세를 관절 명령으로 변환</a:t>
            </a:r>
            <a:endParaRPr sz="140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여러 결과 또는 해 없음</a:t>
            </a:r>
            <a:endParaRPr sz="1400"/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두 계산은 입력과 출력의 방향이 서로 반대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BA58DA2A-B818-18A9-29C1-B697728D5BCE}" type="slidenum">
              <a:rPr>
                <a:latin typeface="Pretendard"/>
                <a:ea typeface="Pretendard"/>
                <a:cs typeface="Pretendard"/>
              </a:rPr>
              <a:t>8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</a:rPr>
              <a:t>End-Effector</a:t>
            </a: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 제어</a:t>
            </a: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23133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</a:t>
            </a:r>
            <a:r>
              <a:rPr sz="1600" b="1">
                <a:latin typeface="Pretendard"/>
                <a:ea typeface="Pretendard"/>
                <a:cs typeface="Pretendard"/>
              </a:rPr>
              <a:t>End-Effector</a:t>
            </a:r>
            <a:r>
              <a:rPr sz="1600">
                <a:latin typeface="Pretendard"/>
                <a:ea typeface="Pretendard"/>
                <a:cs typeface="Pretendard"/>
              </a:rPr>
              <a:t>: </a:t>
            </a:r>
            <a:r>
              <a:rPr sz="1600"/>
              <a:t>로봇의 실제 작업이 발생하는 끝단</a:t>
            </a:r>
            <a:br/>
            <a:r>
              <a:rPr sz="1600"/>
              <a:t>• </a:t>
            </a:r>
            <a:r>
              <a:rPr sz="1600">
                <a:latin typeface="Pretendard"/>
                <a:ea typeface="Pretendard"/>
                <a:cs typeface="Pretendard"/>
              </a:rPr>
              <a:t>물체 접근·이동 같은 작업 중심 명령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X·Y·Z 좌표로 이동 방향 표현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Pitch로 손끝 기울기 표현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목표 Pose를 관절각으로 바꾸는 IK 필요</a:t>
            </a: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>
                <a:latin typeface="Pretendard"/>
                <a:ea typeface="Pretendard"/>
                <a:cs typeface="Pretendard"/>
              </a:rPr>
              <a:t>관절각 대신 손끝의 위치와 방향을 직접 지정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DB7BEEEC-A170-5376-2B6E-CB54687B0CB1}" type="slidenum">
              <a:rPr>
                <a:latin typeface="Pretendard"/>
                <a:ea typeface="Pretendard"/>
                <a:cs typeface="Pretendard"/>
              </a:rPr>
              <a:t>9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Pose</a:t>
            </a: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23133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Position: X·Y·Z </a:t>
            </a:r>
            <a:r>
              <a:rPr sz="1600" dirty="0" err="1">
                <a:latin typeface="Pretendard"/>
                <a:ea typeface="Pretendard"/>
                <a:cs typeface="Pretendard"/>
              </a:rPr>
              <a:t>위치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성분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Orientation: </a:t>
            </a:r>
            <a:r>
              <a:rPr sz="1600" dirty="0" err="1">
                <a:latin typeface="Pretendard"/>
                <a:ea typeface="Pretendard"/>
                <a:cs typeface="Pretendard"/>
              </a:rPr>
              <a:t>Roll·Pitch·Yaw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방향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성분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이번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실습은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X·Y·Z·Pitch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사용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기준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좌표계와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함께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해석</a:t>
            </a:r>
            <a:endParaRPr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dirty="0" err="1">
                <a:latin typeface="Pretendard"/>
                <a:ea typeface="Pretendard"/>
                <a:cs typeface="Pretendard"/>
              </a:rPr>
              <a:t>위치와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방향을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함께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표현한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로봇의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자세</a:t>
            </a:r>
            <a:endParaRPr sz="2000" dirty="0"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30394428-F1DC-E5F6-DB0C-7DE31F3D8A23}" type="slidenum">
              <a:rPr>
                <a:latin typeface="Pretendard"/>
                <a:ea typeface="Pretendard"/>
                <a:cs typeface="Pretendard"/>
              </a:rPr>
              <a:t>10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Base 좌표계</a:t>
            </a: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23133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로봇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Base에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고정된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원점과</a:t>
            </a:r>
            <a:r>
              <a:rPr sz="1600" dirty="0">
                <a:latin typeface="Pretendard"/>
                <a:ea typeface="Pretendard"/>
                <a:cs typeface="Pretendard"/>
              </a:rPr>
              <a:t> 축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/</a:t>
            </a:r>
            <a:r>
              <a:rPr sz="1600" dirty="0" err="1">
                <a:latin typeface="Pretendard"/>
                <a:ea typeface="Pretendard"/>
                <a:cs typeface="Pretendard"/>
              </a:rPr>
              <a:t>target_pose의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frame_id는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base_link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같은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물체도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기준이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바뀌면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좌표값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변화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기준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좌표계가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없으면</a:t>
            </a:r>
            <a:r>
              <a:rPr sz="1600" dirty="0">
                <a:latin typeface="Pretendard"/>
                <a:ea typeface="Pretendard"/>
                <a:cs typeface="Pretendard"/>
              </a:rPr>
              <a:t> Pose </a:t>
            </a:r>
            <a:r>
              <a:rPr sz="1600" dirty="0" err="1">
                <a:latin typeface="Pretendard"/>
                <a:ea typeface="Pretendard"/>
                <a:cs typeface="Pretendard"/>
              </a:rPr>
              <a:t>해석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불가</a:t>
            </a:r>
            <a:endParaRPr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dirty="0" err="1">
                <a:latin typeface="Pretendard"/>
                <a:ea typeface="Pretendard"/>
                <a:cs typeface="Pretendard"/>
              </a:rPr>
              <a:t>모든</a:t>
            </a:r>
            <a:r>
              <a:rPr sz="2000" dirty="0">
                <a:latin typeface="Pretendard"/>
                <a:ea typeface="Pretendard"/>
                <a:cs typeface="Pretendard"/>
              </a:rPr>
              <a:t> EEF </a:t>
            </a:r>
            <a:r>
              <a:rPr sz="2000" dirty="0" err="1">
                <a:latin typeface="Pretendard"/>
                <a:ea typeface="Pretendard"/>
                <a:cs typeface="Pretendard"/>
              </a:rPr>
              <a:t>위치와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방향을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해석하는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기준</a:t>
            </a:r>
            <a:endParaRPr sz="2000" dirty="0">
              <a:latin typeface="Pretendard"/>
              <a:ea typeface="Pretendard"/>
              <a:cs typeface="Pretendard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CAA5AB-60B6-4B77-7453-C6E29C587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700" y="82208"/>
            <a:ext cx="6422231" cy="6081538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A04F594A-B271-4375-5D84-096AA9409C08}"/>
              </a:ext>
            </a:extLst>
          </p:cNvPr>
          <p:cNvSpPr/>
          <p:nvPr/>
        </p:nvSpPr>
        <p:spPr>
          <a:xfrm>
            <a:off x="7264400" y="4562474"/>
            <a:ext cx="304800" cy="2825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0603E4-5CF9-35EA-0C85-F639AE1019DB}"/>
              </a:ext>
            </a:extLst>
          </p:cNvPr>
          <p:cNvSpPr txBox="1"/>
          <p:nvPr/>
        </p:nvSpPr>
        <p:spPr>
          <a:xfrm>
            <a:off x="6457950" y="4845050"/>
            <a:ext cx="1208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>
                <a:solidFill>
                  <a:srgbClr val="FF0000"/>
                </a:solidFill>
              </a:rPr>
              <a:t>Base_link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4DB16885-0D3F-A391-B669-3211DB3B26E8}" type="slidenum">
              <a:rPr>
                <a:latin typeface="Pretendard"/>
                <a:ea typeface="Pretendard"/>
                <a:cs typeface="Pretendard"/>
              </a:rPr>
              <a:t>11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dirty="0">
                <a:solidFill>
                  <a:schemeClr val="accent1"/>
                </a:solidFill>
              </a:rPr>
              <a:t>5</a:t>
            </a:r>
            <a:r>
              <a:rPr lang="ko-KR" altLang="en-US" dirty="0">
                <a:solidFill>
                  <a:schemeClr val="accent1"/>
                </a:solidFill>
              </a:rPr>
              <a:t>주차</a:t>
            </a:r>
            <a:r>
              <a:rPr lang="en-US" altLang="ko-KR" dirty="0">
                <a:solidFill>
                  <a:schemeClr val="accent1"/>
                </a:solidFill>
              </a:rPr>
              <a:t>: </a:t>
            </a:r>
            <a:r>
              <a:rPr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Joint Space</a:t>
            </a:r>
            <a:r>
              <a:rPr lang="ko-KR" altLang="en-US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에서 로봇 제어</a:t>
            </a:r>
            <a:endParaRPr dirty="0">
              <a:solidFill>
                <a:schemeClr val="accent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23133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관절 변수 q₁~q₅로 Arm 형상 결정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Servo 위치 명령과 직접 연결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관절별 허용 범위 적용 가능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손끝의 실제 위치는 바로 드러나지 않음</a:t>
            </a: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각 관절의 회전각으로 로봇 자세 표현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2DD23107-4986-8758-3A93-3D74F35908CC}" type="slidenum">
              <a:rPr>
                <a:latin typeface="Pretendard"/>
                <a:ea typeface="Pretendard"/>
                <a:cs typeface="Pretendard"/>
              </a:rPr>
              <a:t>12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6</a:t>
            </a:r>
            <a:r>
              <a:rPr lang="ko-KR" altLang="en-US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주차</a:t>
            </a:r>
            <a:r>
              <a:rPr lang="en-US" altLang="ko-KR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: </a:t>
            </a:r>
            <a:r>
              <a:rPr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Task Space</a:t>
            </a:r>
            <a:r>
              <a:rPr lang="ko-KR" altLang="en-US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에서 로봇 제어</a:t>
            </a:r>
            <a:endParaRPr dirty="0">
              <a:solidFill>
                <a:schemeClr val="accent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23133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X·Y·Z로 손끝 위치 지정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Pitch로 손끝 기울기 지정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작업 목적을 직관적으로 표현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실제 구동 전 Joint Space 변환 필요</a:t>
            </a: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End-Effector의 위치와 방향으로 작업 목표 표현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>
                <a:latin typeface="Pretendard"/>
                <a:ea typeface="Pretendard"/>
                <a:cs typeface="Pretendard"/>
              </a:rPr>
              <a:t>Joint Space</a:t>
            </a:r>
            <a:endParaRPr sz="2000" b="1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endParaRPr sz="140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관절각 q₁~q₅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모터가 실행할 값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관절 제한과 직접 연결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FK의 입력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327921A4-25C4-3DB4-06B1-32693CEE2241}" type="slidenum">
              <a:rPr>
                <a:latin typeface="Pretendard"/>
                <a:ea typeface="Pretendard"/>
                <a:cs typeface="Pretendard"/>
              </a:rPr>
              <a:t>13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Joint·Task Space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5560261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 dirty="0">
                <a:latin typeface="Pretendard"/>
                <a:ea typeface="Pretendard"/>
                <a:cs typeface="Pretendard"/>
              </a:rPr>
              <a:t>Task Space</a:t>
            </a:r>
            <a:endParaRPr sz="2000" b="1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X·Y·Z·</a:t>
            </a:r>
            <a:r>
              <a:rPr lang="en-US" sz="1400" dirty="0" err="1">
                <a:latin typeface="Pretendard"/>
                <a:ea typeface="Pretendard"/>
                <a:cs typeface="Pretendard"/>
              </a:rPr>
              <a:t>Roll</a:t>
            </a:r>
            <a:r>
              <a:rPr lang="en-US" altLang="ko-KR" sz="1400" dirty="0" err="1"/>
              <a:t>·</a:t>
            </a:r>
            <a:r>
              <a:rPr sz="1400" dirty="0" err="1">
                <a:latin typeface="Pretendard"/>
                <a:ea typeface="Pretendard"/>
                <a:cs typeface="Pretendard"/>
              </a:rPr>
              <a:t>Pitch</a:t>
            </a:r>
            <a:r>
              <a:rPr lang="en-US" altLang="ko-KR" sz="1400" dirty="0" err="1">
                <a:latin typeface="Pretendard"/>
                <a:ea typeface="Pretendard"/>
                <a:cs typeface="Pretendard"/>
              </a:rPr>
              <a:t>·Yaw</a:t>
            </a:r>
            <a:endParaRPr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사용자가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지정할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작업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목표</a:t>
            </a: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End-Effector </a:t>
            </a:r>
            <a:r>
              <a:rPr sz="1400" dirty="0" err="1">
                <a:latin typeface="Pretendard"/>
                <a:ea typeface="Pretendard"/>
                <a:cs typeface="Pretendard"/>
              </a:rPr>
              <a:t>중심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표현</a:t>
            </a:r>
            <a:endParaRPr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IK의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입력</a:t>
            </a:r>
            <a:endParaRPr sz="1400" dirty="0"/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로봇 내부 운동과 작업 목표를 서로 다른 공간으로 표현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DC9C7607-4BA3-B4DC-A00F-2E67A9FCFF7E}" type="slidenum">
              <a:rPr>
                <a:latin typeface="Pretendard"/>
                <a:ea typeface="Pretendard"/>
                <a:cs typeface="Pretendard"/>
              </a:rPr>
              <a:t>14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dirty="0" err="1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자유도</a:t>
            </a:r>
            <a:r>
              <a:rPr lang="en-US" altLang="ko-KR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en-US" dirty="0" err="1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DoF</a:t>
            </a:r>
            <a:r>
              <a:rPr lang="en-US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), </a:t>
            </a:r>
            <a:r>
              <a:rPr lang="ko-KR" altLang="en-US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제어변수</a:t>
            </a:r>
            <a:endParaRPr dirty="0">
              <a:solidFill>
                <a:schemeClr val="accent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10179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1600" dirty="0"/>
              <a:t>• </a:t>
            </a:r>
            <a:r>
              <a:rPr lang="ko-KR" altLang="en-US" sz="1600" dirty="0">
                <a:latin typeface="Pretendard"/>
                <a:ea typeface="Pretendard"/>
                <a:cs typeface="Pretendard"/>
              </a:rPr>
              <a:t>물체가 </a:t>
            </a:r>
            <a:r>
              <a:rPr lang="en-US" altLang="ko-KR" sz="1600" dirty="0">
                <a:latin typeface="Pretendard"/>
                <a:ea typeface="Pretendard"/>
                <a:cs typeface="Pretendard"/>
              </a:rPr>
              <a:t>3</a:t>
            </a:r>
            <a:r>
              <a:rPr lang="ko-KR" altLang="en-US" sz="1600" dirty="0">
                <a:latin typeface="Pretendard"/>
                <a:ea typeface="Pretendard"/>
                <a:cs typeface="Pretendard"/>
              </a:rPr>
              <a:t>차원 공간에서 독립적으로 움직일 수 있는 방향의 개수</a:t>
            </a:r>
            <a:endParaRPr lang="en-US" altLang="ko-KR"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2000" dirty="0">
                <a:latin typeface="Pretendard"/>
                <a:ea typeface="Pretendard"/>
                <a:cs typeface="Pretendard"/>
              </a:rPr>
              <a:t>자유도</a:t>
            </a:r>
            <a:r>
              <a:rPr lang="en-US" altLang="ko-KR" sz="2000" dirty="0">
                <a:latin typeface="Pretendard"/>
                <a:ea typeface="Pretendard"/>
                <a:cs typeface="Pretendard"/>
              </a:rPr>
              <a:t>(</a:t>
            </a:r>
            <a:r>
              <a:rPr lang="en-US" sz="2000" dirty="0">
                <a:latin typeface="Pretendard"/>
                <a:ea typeface="Pretendard"/>
                <a:cs typeface="Pretendard"/>
              </a:rPr>
              <a:t>Degrees of Freedom)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69DC538F-36E5-BCEC-B637-DCC128FCEE21}"/>
              </a:ext>
            </a:extLst>
          </p:cNvPr>
          <p:cNvSpPr>
            <a:spLocks noGrp="1"/>
          </p:cNvSpPr>
          <p:nvPr/>
        </p:nvSpPr>
        <p:spPr>
          <a:xfrm>
            <a:off x="393700" y="2767086"/>
            <a:ext cx="11404600" cy="10179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lvl="0"/>
            <a:r>
              <a:rPr lang="ko-KR" altLang="ko-KR" sz="1600" b="1" dirty="0"/>
              <a:t>위치 (3개):</a:t>
            </a:r>
            <a:r>
              <a:rPr lang="ko-KR" altLang="ko-KR" sz="1600" dirty="0"/>
              <a:t> 앞/뒤(</a:t>
            </a:r>
            <a:r>
              <a:rPr lang="ko-KR" altLang="ko-KR" sz="1600" dirty="0" err="1"/>
              <a:t>X</a:t>
            </a:r>
            <a:r>
              <a:rPr lang="ko-KR" altLang="ko-KR" sz="1600" dirty="0"/>
              <a:t>), 좌/우(</a:t>
            </a:r>
            <a:r>
              <a:rPr lang="ko-KR" altLang="ko-KR" sz="1600" dirty="0" err="1"/>
              <a:t>Y</a:t>
            </a:r>
            <a:r>
              <a:rPr lang="ko-KR" altLang="ko-KR" sz="1600" dirty="0"/>
              <a:t>), 위/아래(</a:t>
            </a:r>
            <a:r>
              <a:rPr lang="ko-KR" altLang="ko-KR" sz="1600" dirty="0" err="1"/>
              <a:t>Z</a:t>
            </a:r>
            <a:r>
              <a:rPr lang="ko-KR" altLang="ko-KR" sz="1600" dirty="0"/>
              <a:t>) 이동</a:t>
            </a:r>
          </a:p>
          <a:p>
            <a:pPr lvl="0"/>
            <a:r>
              <a:rPr lang="ko-KR" altLang="ko-KR" sz="1600" b="1" dirty="0"/>
              <a:t>자세/회전 (3개):</a:t>
            </a:r>
            <a:r>
              <a:rPr lang="ko-KR" altLang="ko-KR" sz="1600" dirty="0"/>
              <a:t> </a:t>
            </a:r>
            <a:r>
              <a:rPr lang="ko-KR" altLang="ko-KR" sz="1600" dirty="0" err="1"/>
              <a:t>Roll</a:t>
            </a:r>
            <a:r>
              <a:rPr lang="ko-KR" altLang="ko-KR" sz="1600" dirty="0"/>
              <a:t>(좌우 기울임), </a:t>
            </a:r>
            <a:r>
              <a:rPr lang="ko-KR" altLang="ko-KR" sz="1600" dirty="0" err="1"/>
              <a:t>Pitch</a:t>
            </a:r>
            <a:r>
              <a:rPr lang="ko-KR" altLang="ko-KR" sz="1600" dirty="0"/>
              <a:t>(앞뒤 숙임), </a:t>
            </a:r>
            <a:r>
              <a:rPr lang="ko-KR" altLang="ko-KR" sz="1600" dirty="0" err="1"/>
              <a:t>Yaw</a:t>
            </a:r>
            <a:r>
              <a:rPr lang="ko-KR" altLang="ko-KR" sz="1600" dirty="0"/>
              <a:t>(좌우 회전)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468DEF-D8C2-6B6B-45AC-4C15137A5D47}"/>
              </a:ext>
            </a:extLst>
          </p:cNvPr>
          <p:cNvSpPr>
            <a:spLocks noGrp="1"/>
          </p:cNvSpPr>
          <p:nvPr/>
        </p:nvSpPr>
        <p:spPr>
          <a:xfrm>
            <a:off x="393699" y="2305013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2000" dirty="0">
                <a:latin typeface="Pretendard"/>
                <a:ea typeface="Pretendard"/>
                <a:cs typeface="Pretendard"/>
              </a:rPr>
              <a:t>3</a:t>
            </a:r>
            <a:r>
              <a:rPr lang="ko-KR" altLang="en-US" sz="2000" dirty="0">
                <a:latin typeface="Pretendard"/>
                <a:ea typeface="Pretendard"/>
                <a:cs typeface="Pretendard"/>
              </a:rPr>
              <a:t>차원 공간의 최대 </a:t>
            </a:r>
            <a:r>
              <a:rPr lang="en-US" altLang="ko-KR" sz="2000" dirty="0">
                <a:latin typeface="Pretendard"/>
                <a:ea typeface="Pretendard"/>
                <a:cs typeface="Pretendard"/>
              </a:rPr>
              <a:t>6</a:t>
            </a:r>
            <a:r>
              <a:rPr lang="ko-KR" altLang="en-US" sz="2000" dirty="0">
                <a:latin typeface="Pretendard"/>
                <a:ea typeface="Pretendard"/>
                <a:cs typeface="Pretendard"/>
              </a:rPr>
              <a:t>자유도 </a:t>
            </a:r>
            <a:r>
              <a:rPr lang="en-US" altLang="ko-KR" sz="2000" dirty="0">
                <a:latin typeface="Pretendard"/>
                <a:ea typeface="Pretendard"/>
                <a:cs typeface="Pretendard"/>
              </a:rPr>
              <a:t>(6 </a:t>
            </a:r>
            <a:r>
              <a:rPr lang="en-US" altLang="ko-KR" sz="2000" dirty="0" err="1">
                <a:latin typeface="Pretendard"/>
                <a:ea typeface="Pretendard"/>
                <a:cs typeface="Pretendard"/>
              </a:rPr>
              <a:t>DoF</a:t>
            </a:r>
            <a:r>
              <a:rPr lang="en-US" altLang="ko-KR" sz="2000" dirty="0">
                <a:latin typeface="Pretendard"/>
                <a:ea typeface="Pretendard"/>
                <a:cs typeface="Pretendard"/>
              </a:rPr>
              <a:t>)</a:t>
            </a:r>
            <a:endParaRPr lang="ko-KR" altLang="en-US" sz="2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86C71A-EEE3-2E5B-F918-8C0BC166548B}"/>
              </a:ext>
            </a:extLst>
          </p:cNvPr>
          <p:cNvSpPr txBox="1"/>
          <p:nvPr/>
        </p:nvSpPr>
        <p:spPr>
          <a:xfrm>
            <a:off x="393699" y="3885078"/>
            <a:ext cx="6096000" cy="417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2000" dirty="0">
                <a:latin typeface="Pretendard"/>
                <a:ea typeface="Pretendard"/>
                <a:cs typeface="Pretendard"/>
              </a:rPr>
              <a:t>로봇의 자유도와 제어변수는 같은 개념이 아님</a:t>
            </a:r>
          </a:p>
        </p:txBody>
      </p:sp>
      <p:sp>
        <p:nvSpPr>
          <p:cNvPr id="6" name="Google Shape;534;p58">
            <a:extLst>
              <a:ext uri="{FF2B5EF4-FFF2-40B4-BE49-F238E27FC236}">
                <a16:creationId xmlns:a16="http://schemas.microsoft.com/office/drawing/2014/main" id="{16770878-D7BE-9B50-DCDA-D28B6E1116C9}"/>
              </a:ext>
            </a:extLst>
          </p:cNvPr>
          <p:cNvSpPr>
            <a:spLocks noGrp="1"/>
          </p:cNvSpPr>
          <p:nvPr/>
        </p:nvSpPr>
        <p:spPr>
          <a:xfrm>
            <a:off x="393699" y="4453662"/>
            <a:ext cx="11404600" cy="10179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1600" dirty="0"/>
              <a:t>• </a:t>
            </a:r>
            <a:r>
              <a:rPr lang="ko-KR" altLang="en-US" sz="1600" dirty="0"/>
              <a:t>제어변수</a:t>
            </a:r>
            <a:r>
              <a:rPr lang="en-US" altLang="ko-KR" sz="1600" dirty="0"/>
              <a:t>: </a:t>
            </a:r>
            <a:r>
              <a:rPr lang="ko-KR" altLang="en-US" sz="1600" dirty="0"/>
              <a:t>사용자가 시스템에 직접 입력할 수 있는 명령 값</a:t>
            </a:r>
            <a:endParaRPr lang="en-US" altLang="ko-KR" sz="1600" dirty="0"/>
          </a:p>
          <a:p>
            <a:pPr marL="0" indent="0"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1600" dirty="0"/>
              <a:t>• </a:t>
            </a:r>
            <a:r>
              <a:rPr lang="ko-KR" altLang="en-US" sz="1600" dirty="0"/>
              <a:t>제어변수가 </a:t>
            </a:r>
            <a:r>
              <a:rPr lang="en-US" altLang="ko-KR" sz="1600" dirty="0"/>
              <a:t>6</a:t>
            </a:r>
            <a:r>
              <a:rPr lang="ko-KR" altLang="en-US" sz="1600" dirty="0"/>
              <a:t>개</a:t>
            </a:r>
            <a:r>
              <a:rPr lang="en-US" altLang="ko-KR" sz="1600" dirty="0"/>
              <a:t>(</a:t>
            </a:r>
            <a:r>
              <a:rPr lang="ko-KR" altLang="en-US" sz="1600" dirty="0"/>
              <a:t>관절이 </a:t>
            </a:r>
            <a:r>
              <a:rPr lang="en-US" altLang="ko-KR" sz="1600" dirty="0"/>
              <a:t>6</a:t>
            </a:r>
            <a:r>
              <a:rPr lang="ko-KR" altLang="en-US" sz="1600" dirty="0"/>
              <a:t>개</a:t>
            </a:r>
            <a:r>
              <a:rPr lang="en-US" altLang="ko-KR" sz="1600" dirty="0"/>
              <a:t>)</a:t>
            </a:r>
            <a:r>
              <a:rPr lang="ko-KR" altLang="en-US" sz="1600" dirty="0"/>
              <a:t>라고 해서 자유도가 </a:t>
            </a:r>
            <a:r>
              <a:rPr lang="en-US" altLang="ko-KR" sz="1600" dirty="0"/>
              <a:t>6</a:t>
            </a:r>
            <a:r>
              <a:rPr lang="ko-KR" altLang="en-US" sz="1600" dirty="0"/>
              <a:t>이라는 뜻은 아님</a:t>
            </a:r>
            <a:endParaRPr lang="en-US" altLang="ko-KR" sz="16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1600" dirty="0"/>
              <a:t>• </a:t>
            </a:r>
            <a:r>
              <a:rPr lang="ko-KR" altLang="en-US" sz="1600" dirty="0"/>
              <a:t>이번 실습에서는 </a:t>
            </a:r>
            <a:r>
              <a:rPr lang="en-US" altLang="ko-KR" sz="1600" dirty="0"/>
              <a:t>4</a:t>
            </a:r>
            <a:r>
              <a:rPr lang="ko-KR" altLang="en-US" sz="1600" dirty="0"/>
              <a:t>개 변수</a:t>
            </a:r>
            <a:r>
              <a:rPr lang="en-US" altLang="ko-KR" sz="1600" dirty="0"/>
              <a:t>(X, Y, Z+ Pitch (</a:t>
            </a:r>
            <a:r>
              <a:rPr lang="ko-KR" altLang="en-US" sz="1600" dirty="0"/>
              <a:t>상하 각도</a:t>
            </a:r>
            <a:r>
              <a:rPr lang="en-US" altLang="ko-KR" sz="1600" dirty="0"/>
              <a:t>)) </a:t>
            </a:r>
            <a:r>
              <a:rPr lang="ko-KR" altLang="en-US" sz="1600" dirty="0"/>
              <a:t>제어</a:t>
            </a:r>
            <a:endParaRPr lang="en-US" altLang="ko-KR" sz="1600" dirty="0"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90F7333B-44AC-F7E9-D49D-FE92F45E0477}" type="slidenum">
              <a:rPr>
                <a:latin typeface="Pretendard"/>
                <a:ea typeface="Pretendard"/>
                <a:cs typeface="Pretendard"/>
              </a:rPr>
              <a:t>15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Inverse Kinematics</a:t>
            </a: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23133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입력: X·Y·Z·Pitch Target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출력: 5개 Arm Joint Target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Task Space 명령을 Joint Space로 변환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실제 Servo 구동 전에 필요한 계산</a:t>
            </a: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목표 End-Effector Pose를 관절 목표값으로 변환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B1C6C81E-38B9-7560-621D-5A151A79DF9B}" type="slidenum">
              <a:rPr>
                <a:latin typeface="Pretendard"/>
                <a:ea typeface="Pretendard"/>
                <a:cs typeface="Pretendard"/>
              </a:rPr>
              <a:t>16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IK 해의 특성</a:t>
            </a: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23133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같은 손끝 위치에 여러 관절 조합 가능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로봇 구조에 따라 가능한 자세 변화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관절 제한을 만족하는 결과 선택 필요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목표에 도달할 수 없으면 해 없음</a:t>
            </a: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하나의 목표에 하나의 관절 자세만 존재하지는 않음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CCF91274-D221-1BB4-3BF9-836E3AD31EBE}" type="slidenum">
              <a:rPr>
                <a:latin typeface="Pretendard"/>
                <a:ea typeface="Pretendard"/>
                <a:cs typeface="Pretendard"/>
              </a:rPr>
              <a:t>17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도달 불가 목표</a:t>
            </a: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23133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로봇</a:t>
            </a:r>
            <a:r>
              <a:rPr sz="1600" dirty="0">
                <a:latin typeface="Pretendard"/>
                <a:ea typeface="Pretendard"/>
                <a:cs typeface="Pretendard"/>
              </a:rPr>
              <a:t> 팔 </a:t>
            </a:r>
            <a:r>
              <a:rPr sz="1600" dirty="0" err="1">
                <a:latin typeface="Pretendard"/>
                <a:ea typeface="Pretendard"/>
                <a:cs typeface="Pretendard"/>
              </a:rPr>
              <a:t>길이보다</a:t>
            </a:r>
            <a:r>
              <a:rPr sz="1600" dirty="0">
                <a:latin typeface="Pretendard"/>
                <a:ea typeface="Pretendard"/>
                <a:cs typeface="Pretendard"/>
              </a:rPr>
              <a:t> 먼 </a:t>
            </a:r>
            <a:r>
              <a:rPr sz="1600" dirty="0" err="1">
                <a:latin typeface="Pretendard"/>
                <a:ea typeface="Pretendard"/>
                <a:cs typeface="Pretendard"/>
              </a:rPr>
              <a:t>위치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Joint </a:t>
            </a:r>
            <a:r>
              <a:rPr sz="1600" dirty="0" err="1">
                <a:latin typeface="Pretendard"/>
                <a:ea typeface="Pretendard"/>
                <a:cs typeface="Pretendard"/>
              </a:rPr>
              <a:t>Limit을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벗어나는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관절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조합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위치와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Pitch를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동시에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만족할</a:t>
            </a:r>
            <a:r>
              <a:rPr sz="1600" dirty="0">
                <a:latin typeface="Pretendard"/>
                <a:ea typeface="Pretendard"/>
                <a:cs typeface="Pretendard"/>
              </a:rPr>
              <a:t> 수 </a:t>
            </a:r>
            <a:r>
              <a:rPr sz="1600" dirty="0" err="1">
                <a:latin typeface="Pretendard"/>
                <a:ea typeface="Pretendard"/>
                <a:cs typeface="Pretendard"/>
              </a:rPr>
              <a:t>없는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목표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안전을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위해</a:t>
            </a:r>
            <a:r>
              <a:rPr sz="1600" dirty="0">
                <a:latin typeface="Pretendard"/>
                <a:ea typeface="Pretendard"/>
                <a:cs typeface="Pretendard"/>
              </a:rPr>
              <a:t> IK </a:t>
            </a:r>
            <a:r>
              <a:rPr sz="1600" dirty="0" err="1">
                <a:latin typeface="Pretendard"/>
                <a:ea typeface="Pretendard"/>
                <a:cs typeface="Pretendard"/>
              </a:rPr>
              <a:t>결과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생성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중단</a:t>
            </a:r>
            <a:endParaRPr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dirty="0" err="1">
                <a:latin typeface="Pretendard"/>
                <a:ea typeface="Pretendard"/>
                <a:cs typeface="Pretendard"/>
              </a:rPr>
              <a:t>모든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목표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Pose가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실제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로봇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자세로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변환되지는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않음</a:t>
            </a:r>
            <a:endParaRPr sz="2000" dirty="0"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844E025A-983C-6D44-79C6-4612AACD43FC}" type="slidenum">
              <a:rPr>
                <a:latin typeface="Pretendard"/>
                <a:ea typeface="Pretendard"/>
                <a:cs typeface="Pretendard"/>
              </a:rPr>
              <a:t>18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IK 계산 흐름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1970" y="1934870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현재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관절값을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계산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시작점으로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사용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목표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위치와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현재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위치의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차이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확인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관절값을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조금씩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조정하며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결과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비교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허용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오차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안의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결과만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목표로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사용</a:t>
            </a:r>
            <a:endParaRPr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871672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dirty="0" err="1">
                <a:latin typeface="Pretendard"/>
                <a:ea typeface="Pretendard"/>
                <a:cs typeface="Pretendard"/>
              </a:rPr>
              <a:t>현재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자세에서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목표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오차가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줄어들도록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관절값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조정</a:t>
            </a:r>
            <a:endParaRPr sz="2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Content Placeholder 10">
            <a:extLst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noGrp="1"/>
          </p:cNvSpPr>
          <p:nvPr/>
        </p:nvSpPr>
        <p:spPr>
          <a:xfrm>
            <a:off x="6648104" y="218425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Joint Values 확인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noGrp="1"/>
          </p:cNvSpPr>
          <p:nvPr/>
        </p:nvSpPr>
        <p:spPr>
          <a:xfrm>
            <a:off x="6644793" y="181325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현재 자세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noGrp="1"/>
          </p:cNvSpPr>
          <p:nvPr/>
        </p:nvSpPr>
        <p:spPr>
          <a:xfrm>
            <a:off x="6648104" y="369301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목표 방향으로 관절값 조정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noGrp="1"/>
          </p:cNvSpPr>
          <p:nvPr/>
        </p:nvSpPr>
        <p:spPr>
          <a:xfrm>
            <a:off x="6644793" y="332201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오차 감소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noGrp="1"/>
          </p:cNvSpPr>
          <p:nvPr/>
        </p:nvSpPr>
        <p:spPr>
          <a:xfrm>
            <a:off x="6648105" y="520177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Limit·허용 오차 검사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noGrp="1"/>
          </p:cNvSpPr>
          <p:nvPr/>
        </p:nvSpPr>
        <p:spPr>
          <a:xfrm>
            <a:off x="6644794" y="483077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결과 확인</a:t>
            </a:r>
          </a:p>
        </p:txBody>
      </p:sp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672731C3-3B3D-DFCA-5B87-6A9824F94DC9}"/>
              </a:ext>
            </a:extLst>
          </p:cNvPr>
          <p:cNvSpPr>
            <a:spLocks noGrp="1"/>
          </p:cNvSpPr>
          <p:nvPr/>
        </p:nvSpPr>
        <p:spPr>
          <a:xfrm>
            <a:off x="6405842" y="4542881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975D7694-EF39-E4BA-A934-D6C495CCF4BC}"/>
              </a:ext>
            </a:extLst>
          </p:cNvPr>
          <p:cNvSpPr>
            <a:spLocks noGrp="1"/>
          </p:cNvSpPr>
          <p:nvPr/>
        </p:nvSpPr>
        <p:spPr>
          <a:xfrm>
            <a:off x="6405842" y="303069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3" name="Rounded Rectangle 9">
            <a:extLst>
              <a:ext uri="{FF2B5EF4-FFF2-40B4-BE49-F238E27FC236}">
                <a16:creationId xmlns:a16="http://schemas.microsoft.com/office/drawing/2014/main" id="{84356975-E5D7-C04B-9BA6-EEC211598B5E}"/>
              </a:ext>
            </a:extLst>
          </p:cNvPr>
          <p:cNvSpPr>
            <a:spLocks noGrp="1"/>
          </p:cNvSpPr>
          <p:nvPr/>
        </p:nvSpPr>
        <p:spPr>
          <a:xfrm>
            <a:off x="6405843" y="1518509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F6DF2BE2-2DFA-1C03-677D-BDC2260D6D92}" type="slidenum">
              <a:rPr>
                <a:latin typeface="Pretendard"/>
                <a:ea typeface="Pretendard"/>
                <a:cs typeface="Pretendard"/>
              </a:rPr>
              <a:t>19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IK 결과 선택</a:t>
            </a: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23133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현재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자세와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가까운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결과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우선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모든</a:t>
            </a:r>
            <a:r>
              <a:rPr sz="1600" dirty="0">
                <a:latin typeface="Pretendard"/>
                <a:ea typeface="Pretendard"/>
                <a:cs typeface="Pretendard"/>
              </a:rPr>
              <a:t> Joint Limit </a:t>
            </a:r>
            <a:r>
              <a:rPr sz="1600" dirty="0" err="1">
                <a:latin typeface="Pretendard"/>
                <a:ea typeface="Pretendard"/>
                <a:cs typeface="Pretendard"/>
              </a:rPr>
              <a:t>안의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값만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사용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위치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오차가</a:t>
            </a:r>
            <a:r>
              <a:rPr sz="1600" dirty="0">
                <a:latin typeface="Pretendard"/>
                <a:ea typeface="Pretendard"/>
                <a:cs typeface="Pretendard"/>
              </a:rPr>
              <a:t> 큰 </a:t>
            </a:r>
            <a:r>
              <a:rPr sz="1600" dirty="0" err="1">
                <a:latin typeface="Pretendard"/>
                <a:ea typeface="Pretendard"/>
                <a:cs typeface="Pretendard"/>
              </a:rPr>
              <a:t>결과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거부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급격한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관절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자세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전환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방지</a:t>
            </a:r>
            <a:endParaRPr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dirty="0" err="1">
                <a:latin typeface="Pretendard"/>
                <a:ea typeface="Pretendard"/>
                <a:cs typeface="Pretendard"/>
              </a:rPr>
              <a:t>움직임이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연속적이고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안전한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관절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목표를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선택</a:t>
            </a:r>
            <a:endParaRPr sz="2000" dirty="0"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A4E99CEF-AF55-BA3C-ADF8-4E52E186DD8F}" type="slidenum">
              <a:rPr>
                <a:latin typeface="Pretendard"/>
                <a:ea typeface="Pretendard"/>
                <a:cs typeface="Pretendard"/>
              </a:rPr>
              <a:t>20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Gamepad 입력</a:t>
            </a: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23133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Axis </a:t>
            </a:r>
            <a:r>
              <a:rPr sz="1600" dirty="0" err="1">
                <a:latin typeface="Pretendard"/>
                <a:ea typeface="Pretendard"/>
                <a:cs typeface="Pretendard"/>
              </a:rPr>
              <a:t>값으로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이동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방향과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크기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표현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왼쪽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Stick으로</a:t>
            </a:r>
            <a:r>
              <a:rPr sz="1600" dirty="0">
                <a:latin typeface="Pretendard"/>
                <a:ea typeface="Pretendard"/>
                <a:cs typeface="Pretendard"/>
              </a:rPr>
              <a:t> X·Y </a:t>
            </a:r>
            <a:r>
              <a:rPr sz="1600" dirty="0" err="1">
                <a:latin typeface="Pretendard"/>
                <a:ea typeface="Pretendard"/>
                <a:cs typeface="Pretendard"/>
              </a:rPr>
              <a:t>이동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오른쪽</a:t>
            </a:r>
            <a:r>
              <a:rPr sz="1600" dirty="0">
                <a:latin typeface="Pretendard"/>
                <a:ea typeface="Pretendard"/>
                <a:cs typeface="Pretendard"/>
              </a:rPr>
              <a:t> Stick·</a:t>
            </a:r>
            <a:r>
              <a:rPr lang="ko-KR" altLang="en-US" sz="1600" dirty="0">
                <a:latin typeface="Pretendard"/>
                <a:ea typeface="Pretendard"/>
                <a:cs typeface="Pretendard"/>
              </a:rPr>
              <a:t>왼쪽 </a:t>
            </a:r>
            <a:r>
              <a:rPr sz="1600" dirty="0" err="1">
                <a:latin typeface="Pretendard"/>
                <a:ea typeface="Pretendard"/>
                <a:cs typeface="Pretendard"/>
              </a:rPr>
              <a:t>십자키로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Pitch·Z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이동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lang="en-US" sz="1600" dirty="0">
                <a:latin typeface="Pretendard"/>
                <a:ea typeface="Pretendard"/>
                <a:cs typeface="Pretendard"/>
              </a:rPr>
              <a:t>B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버튼으로</a:t>
            </a:r>
            <a:r>
              <a:rPr sz="1600" dirty="0">
                <a:latin typeface="Pretendard"/>
                <a:ea typeface="Pretendard"/>
                <a:cs typeface="Pretendard"/>
              </a:rPr>
              <a:t> Gripper </a:t>
            </a:r>
            <a:r>
              <a:rPr sz="1600" dirty="0" err="1">
                <a:latin typeface="Pretendard"/>
                <a:ea typeface="Pretendard"/>
                <a:cs typeface="Pretendard"/>
              </a:rPr>
              <a:t>상태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전환</a:t>
            </a:r>
            <a:endParaRPr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Analog Stick과 Button을 연속 작업 명령으로 사용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F5D028D-B73B-5BFF-0AA5-65F94FB570F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F3AE1AE4-D79E-94D6-E825-3FC6C21A77D2}" type="slidenum">
              <a:rPr>
                <a:latin typeface="Pretendard"/>
                <a:ea typeface="Pretendard"/>
                <a:cs typeface="Pretendard"/>
              </a:rPr>
              <a:t>21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D035ED81-B82C-6CFE-FAA7-0911E05CD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1170935"/>
            <a:ext cx="11404600" cy="1797958"/>
          </a:xfrm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420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6730FFED-E57C-67CB-4BAA-568126831AB5}"/>
              </a:ext>
            </a:extLst>
          </p:cNvPr>
          <p:cNvSpPr>
            <a:spLocks noGrp="1"/>
          </p:cNvSpPr>
          <p:nvPr/>
        </p:nvSpPr>
        <p:spPr>
          <a:xfrm>
            <a:off x="2549677" y="3297710"/>
            <a:ext cx="7092645" cy="186590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게임패드 기반 EEF 제어와 FK·IK 확인</a:t>
            </a:r>
          </a:p>
        </p:txBody>
      </p:sp>
    </p:spTree>
    <p:extLst>
      <p:ext uri="{BB962C8B-B14F-4D97-AF65-F5344CB8AC3E}">
        <p14:creationId xmlns:p14="http://schemas.microsoft.com/office/powerpoint/2010/main" val="3466142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5AB55966-FA28-BC73-EA9E-53DF014DF033}" type="slidenum">
              <a:rPr>
                <a:latin typeface="Pretendard"/>
                <a:ea typeface="Pretendard"/>
                <a:cs typeface="Pretendard"/>
              </a:rPr>
              <a:t>22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실습 전 </a:t>
            </a:r>
            <a:r>
              <a:rPr lang="en-US" altLang="ko-KR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jetson PC </a:t>
            </a:r>
            <a:r>
              <a:rPr lang="ko-KR" altLang="en-US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환경변수 설정</a:t>
            </a:r>
            <a:endParaRPr dirty="0">
              <a:solidFill>
                <a:schemeClr val="accent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1970" y="1934870"/>
            <a:ext cx="8097980" cy="4497680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Tx/>
              <a:buChar char="-"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1600" dirty="0">
                <a:latin typeface="Pretendard"/>
                <a:ea typeface="Pretendard"/>
                <a:cs typeface="Pretendard"/>
              </a:rPr>
              <a:t>`ROS_DOMAIN_ID`</a:t>
            </a:r>
            <a:r>
              <a:rPr lang="ko-KR" altLang="en-US" sz="1600" dirty="0">
                <a:latin typeface="Pretendard"/>
                <a:ea typeface="Pretendard"/>
                <a:cs typeface="Pretendard"/>
              </a:rPr>
              <a:t>를 </a:t>
            </a:r>
            <a:r>
              <a:rPr lang="en-US" altLang="ko-KR" sz="1600" dirty="0">
                <a:latin typeface="Pretendard"/>
                <a:ea typeface="Pretendard"/>
                <a:cs typeface="Pretendard"/>
              </a:rPr>
              <a:t>`.</a:t>
            </a:r>
            <a:r>
              <a:rPr lang="en-US" altLang="ko-KR" sz="1600" dirty="0" err="1">
                <a:latin typeface="Pretendard"/>
                <a:ea typeface="Pretendard"/>
                <a:cs typeface="Pretendard"/>
              </a:rPr>
              <a:t>bashrc</a:t>
            </a:r>
            <a:r>
              <a:rPr lang="en-US" altLang="ko-KR" sz="1600" dirty="0">
                <a:latin typeface="Pretendard"/>
                <a:ea typeface="Pretendard"/>
                <a:cs typeface="Pretendard"/>
              </a:rPr>
              <a:t>`</a:t>
            </a:r>
            <a:r>
              <a:rPr lang="ko-KR" altLang="en-US" sz="1600" dirty="0">
                <a:latin typeface="Pretendard"/>
                <a:ea typeface="Pretendard"/>
                <a:cs typeface="Pretendard"/>
              </a:rPr>
              <a:t>에 설정하지 않으면 새 터미널에서 기본 </a:t>
            </a:r>
            <a:r>
              <a:rPr lang="en-US" altLang="ko-KR" sz="1600" dirty="0">
                <a:latin typeface="Pretendard"/>
                <a:ea typeface="Pretendard"/>
                <a:cs typeface="Pretendard"/>
              </a:rPr>
              <a:t>Domain ID(= 0)</a:t>
            </a:r>
            <a:r>
              <a:rPr lang="ko-KR" altLang="en-US" sz="1600" dirty="0">
                <a:latin typeface="Pretendard"/>
                <a:ea typeface="Pretendard"/>
                <a:cs typeface="Pretendard"/>
              </a:rPr>
              <a:t>를 사용한다</a:t>
            </a:r>
            <a:r>
              <a:rPr lang="en-US" altLang="ko-KR" sz="1600" dirty="0">
                <a:latin typeface="Pretendard"/>
                <a:ea typeface="Pretendard"/>
                <a:cs typeface="Pretendard"/>
              </a:rPr>
              <a:t>. </a:t>
            </a:r>
            <a:r>
              <a:rPr lang="ko-KR" altLang="en-US" sz="1600" dirty="0">
                <a:latin typeface="Pretendard"/>
                <a:ea typeface="Pretendard"/>
                <a:cs typeface="Pretendard"/>
              </a:rPr>
              <a:t>그러면 동일한 네트워크에 있는 </a:t>
            </a:r>
            <a:r>
              <a:rPr lang="en-US" altLang="ko-KR" sz="1600" dirty="0"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600" dirty="0">
                <a:latin typeface="Pretendard"/>
                <a:ea typeface="Pretendard"/>
                <a:cs typeface="Pretendard"/>
              </a:rPr>
              <a:t>다른 조</a:t>
            </a:r>
            <a:r>
              <a:rPr lang="en-US" altLang="ko-KR" sz="1600" dirty="0">
                <a:latin typeface="Pretendard"/>
                <a:ea typeface="Pretendard"/>
                <a:cs typeface="Pretendard"/>
              </a:rPr>
              <a:t>)ROS 2 Node</a:t>
            </a:r>
            <a:r>
              <a:rPr lang="ko-KR" altLang="en-US" sz="1600" dirty="0">
                <a:latin typeface="Pretendard"/>
                <a:ea typeface="Pretendard"/>
                <a:cs typeface="Pretendard"/>
              </a:rPr>
              <a:t>가 보이거나 명령이 다른 조의 </a:t>
            </a:r>
            <a:r>
              <a:rPr lang="en-US" altLang="ko-KR" sz="1600" dirty="0">
                <a:latin typeface="Pretendard"/>
                <a:ea typeface="Pretendard"/>
                <a:cs typeface="Pretendard"/>
              </a:rPr>
              <a:t>Node</a:t>
            </a:r>
            <a:r>
              <a:rPr lang="ko-KR" altLang="en-US" sz="1600" dirty="0">
                <a:latin typeface="Pretendard"/>
                <a:ea typeface="Pretendard"/>
                <a:cs typeface="Pretendard"/>
              </a:rPr>
              <a:t>에 전달될 수 있다</a:t>
            </a:r>
            <a:r>
              <a:rPr lang="en-US" altLang="ko-KR" sz="1600" dirty="0">
                <a:latin typeface="Pretendard"/>
                <a:ea typeface="Pretendard"/>
                <a:cs typeface="Pretendard"/>
              </a:rPr>
              <a:t>. </a:t>
            </a:r>
            <a:r>
              <a:rPr lang="ko-KR" altLang="en-US" sz="1600" dirty="0">
                <a:latin typeface="Pretendard"/>
                <a:ea typeface="Pretendard"/>
                <a:cs typeface="Pretendard"/>
              </a:rPr>
              <a:t>또한 </a:t>
            </a:r>
            <a:r>
              <a:rPr lang="en-US" altLang="ko-KR" sz="1600" dirty="0">
                <a:latin typeface="Pretendard"/>
                <a:ea typeface="Pretendard"/>
                <a:cs typeface="Pretendard"/>
              </a:rPr>
              <a:t>`ROS_DOMAIN_ID`</a:t>
            </a:r>
            <a:r>
              <a:rPr lang="ko-KR" altLang="en-US" sz="1600" dirty="0">
                <a:latin typeface="Pretendard"/>
                <a:ea typeface="Pretendard"/>
                <a:cs typeface="Pretendard"/>
              </a:rPr>
              <a:t>가 다르게 설정된 터미널 끼리 통신이 이루어 지지 않을 수도 있다</a:t>
            </a:r>
            <a:r>
              <a:rPr lang="en-US" altLang="ko-KR" sz="1600" dirty="0">
                <a:latin typeface="Pretendard"/>
                <a:ea typeface="Pretendard"/>
                <a:cs typeface="Pretendard"/>
              </a:rPr>
              <a:t>.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Tx/>
              <a:buChar char="-"/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1600" dirty="0">
                <a:latin typeface="Pretendard"/>
                <a:ea typeface="Pretendard"/>
                <a:cs typeface="Pretendard"/>
              </a:rPr>
              <a:t>다음 명령어를 통해</a:t>
            </a:r>
            <a:r>
              <a:rPr lang="en-US" altLang="ko-KR" sz="1600" dirty="0">
                <a:latin typeface="Pretendard"/>
                <a:ea typeface="Pretendard"/>
                <a:cs typeface="Pretendard"/>
              </a:rPr>
              <a:t>, .</a:t>
            </a:r>
            <a:r>
              <a:rPr lang="en-US" altLang="ko-KR" sz="1600" dirty="0" err="1">
                <a:latin typeface="Pretendard"/>
                <a:ea typeface="Pretendard"/>
                <a:cs typeface="Pretendard"/>
              </a:rPr>
              <a:t>bashrc</a:t>
            </a:r>
            <a:r>
              <a:rPr lang="en-US" altLang="ko-KR" sz="1600" dirty="0"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600" dirty="0">
                <a:latin typeface="Pretendard"/>
                <a:ea typeface="Pretendard"/>
                <a:cs typeface="Pretendard"/>
              </a:rPr>
              <a:t>파일을 열고</a:t>
            </a:r>
            <a:r>
              <a:rPr lang="en-US" altLang="ko-KR" sz="1600" dirty="0">
                <a:latin typeface="Pretendard"/>
                <a:ea typeface="Pretendard"/>
                <a:cs typeface="Pretendard"/>
              </a:rPr>
              <a:t>,</a:t>
            </a:r>
          </a:p>
          <a:p>
            <a:pPr lvl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Tx/>
              <a:buChar char="-"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1200" dirty="0" err="1">
                <a:latin typeface="Pretendard"/>
                <a:ea typeface="Pretendard"/>
                <a:cs typeface="Pretendard"/>
              </a:rPr>
              <a:t>gedit</a:t>
            </a:r>
            <a:r>
              <a:rPr lang="en-US" altLang="ko-KR" sz="1200" dirty="0">
                <a:latin typeface="Pretendard"/>
                <a:ea typeface="Pretendard"/>
                <a:cs typeface="Pretendard"/>
              </a:rPr>
              <a:t> ~/.</a:t>
            </a:r>
            <a:r>
              <a:rPr lang="en-US" altLang="ko-KR" sz="1200" dirty="0" err="1">
                <a:latin typeface="Pretendard"/>
                <a:ea typeface="Pretendard"/>
                <a:cs typeface="Pretendard"/>
              </a:rPr>
              <a:t>bashrc</a:t>
            </a:r>
            <a:endParaRPr lang="en-US" altLang="ko-KR" sz="1200" dirty="0">
              <a:latin typeface="Pretendard"/>
              <a:ea typeface="Pretendard"/>
              <a:cs typeface="Pretendard"/>
            </a:endParaRP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Tx/>
              <a:buChar char="-"/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1600" dirty="0">
                <a:latin typeface="Pretendard"/>
                <a:ea typeface="Pretendard"/>
                <a:cs typeface="Pretendard"/>
              </a:rPr>
              <a:t>파일 마지막에 다음 내용을 추가한다</a:t>
            </a:r>
            <a:r>
              <a:rPr lang="en-US" altLang="ko-KR" sz="1600" dirty="0">
                <a:latin typeface="Pretendard"/>
                <a:ea typeface="Pretendard"/>
                <a:cs typeface="Pretendard"/>
              </a:rPr>
              <a:t>. `&lt;</a:t>
            </a:r>
            <a:r>
              <a:rPr lang="ko-KR" altLang="en-US" sz="1600" dirty="0">
                <a:latin typeface="Pretendard"/>
                <a:ea typeface="Pretendard"/>
                <a:cs typeface="Pretendard"/>
              </a:rPr>
              <a:t>조 번호</a:t>
            </a:r>
            <a:r>
              <a:rPr lang="en-US" altLang="ko-KR" sz="1600" dirty="0">
                <a:latin typeface="Pretendard"/>
                <a:ea typeface="Pretendard"/>
                <a:cs typeface="Pretendard"/>
              </a:rPr>
              <a:t>&gt;`</a:t>
            </a:r>
            <a:r>
              <a:rPr lang="ko-KR" altLang="en-US" sz="1600" dirty="0">
                <a:latin typeface="Pretendard"/>
                <a:ea typeface="Pretendard"/>
                <a:cs typeface="Pretendard"/>
              </a:rPr>
              <a:t>는 실제 숫자로 바꾼다</a:t>
            </a:r>
            <a:r>
              <a:rPr lang="en-US" altLang="ko-KR" sz="1600" dirty="0"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600" dirty="0">
                <a:latin typeface="Pretendard"/>
                <a:ea typeface="Pretendard"/>
                <a:cs typeface="Pretendard"/>
              </a:rPr>
              <a:t>예</a:t>
            </a:r>
            <a:r>
              <a:rPr lang="en-US" altLang="ko-KR" sz="1600" dirty="0">
                <a:latin typeface="Pretendard"/>
                <a:ea typeface="Pretendard"/>
                <a:cs typeface="Pretendard"/>
              </a:rPr>
              <a:t>: 3</a:t>
            </a:r>
            <a:r>
              <a:rPr lang="ko-KR" altLang="en-US" sz="1600" dirty="0">
                <a:latin typeface="Pretendard"/>
                <a:ea typeface="Pretendard"/>
                <a:cs typeface="Pretendard"/>
              </a:rPr>
              <a:t>조는 </a:t>
            </a:r>
            <a:r>
              <a:rPr lang="en-US" altLang="ko-KR" sz="1600" dirty="0">
                <a:latin typeface="Pretendard"/>
                <a:ea typeface="Pretendard"/>
                <a:cs typeface="Pretendard"/>
              </a:rPr>
              <a:t>3).</a:t>
            </a:r>
          </a:p>
          <a:p>
            <a:pPr lvl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Tx/>
              <a:buChar char="-"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1200" dirty="0">
                <a:latin typeface="Pretendard"/>
                <a:ea typeface="Pretendard"/>
                <a:cs typeface="Pretendard"/>
              </a:rPr>
              <a:t>ROS_DOMAIN_ID=&lt;</a:t>
            </a:r>
            <a:r>
              <a:rPr lang="ko-KR" altLang="en-US" sz="1200" dirty="0">
                <a:latin typeface="Pretendard"/>
                <a:ea typeface="Pretendard"/>
                <a:cs typeface="Pretendard"/>
              </a:rPr>
              <a:t>조 번호</a:t>
            </a:r>
            <a:r>
              <a:rPr lang="en-US" altLang="ko-KR" sz="1200" dirty="0">
                <a:latin typeface="Pretendard"/>
                <a:ea typeface="Pretendard"/>
                <a:cs typeface="Pretendard"/>
              </a:rPr>
              <a:t>&gt;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Tx/>
              <a:buChar char="-"/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1600" dirty="0">
                <a:latin typeface="Pretendard"/>
                <a:ea typeface="Pretendard"/>
                <a:cs typeface="Pretendard"/>
              </a:rPr>
              <a:t>설정 저장 후</a:t>
            </a:r>
            <a:r>
              <a:rPr lang="en-US" altLang="ko-KR" sz="1600" dirty="0"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600" dirty="0">
                <a:latin typeface="Pretendard"/>
                <a:ea typeface="Pretendard"/>
                <a:cs typeface="Pretendard"/>
              </a:rPr>
              <a:t>기존 터미널 및 </a:t>
            </a:r>
            <a:r>
              <a:rPr lang="en-US" altLang="ko-KR" sz="1600" dirty="0">
                <a:latin typeface="Pretendard"/>
                <a:ea typeface="Pretendard"/>
                <a:cs typeface="Pretendard"/>
              </a:rPr>
              <a:t>text-editor</a:t>
            </a:r>
            <a:r>
              <a:rPr lang="ko-KR" altLang="en-US" sz="1600" dirty="0">
                <a:latin typeface="Pretendard"/>
                <a:ea typeface="Pretendard"/>
                <a:cs typeface="Pretendard"/>
              </a:rPr>
              <a:t>를 닫고 새 터미널을 열고 설정한 </a:t>
            </a:r>
            <a:r>
              <a:rPr lang="en-US" altLang="ko-KR" sz="1600" dirty="0">
                <a:latin typeface="Pretendard"/>
                <a:ea typeface="Pretendard"/>
                <a:cs typeface="Pretendard"/>
              </a:rPr>
              <a:t>`ROS_DOMAIN_ID`</a:t>
            </a:r>
            <a:r>
              <a:rPr lang="ko-KR" altLang="en-US" sz="1600" dirty="0">
                <a:latin typeface="Pretendard"/>
                <a:ea typeface="Pretendard"/>
                <a:cs typeface="Pretendard"/>
              </a:rPr>
              <a:t>가 제대로 출력되는지 확인한다</a:t>
            </a:r>
            <a:r>
              <a:rPr lang="en-US" altLang="ko-KR" sz="1600" dirty="0">
                <a:latin typeface="Pretendard"/>
                <a:ea typeface="Pretendard"/>
                <a:cs typeface="Pretendard"/>
              </a:rPr>
              <a:t>.</a:t>
            </a:r>
          </a:p>
          <a:p>
            <a:pPr lvl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Tx/>
              <a:buChar char="-"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1200" dirty="0">
                <a:latin typeface="Pretendard"/>
                <a:ea typeface="Pretendard"/>
                <a:cs typeface="Pretendard"/>
              </a:rPr>
              <a:t>echo $ROS_DOMAIN_ID</a:t>
            </a:r>
            <a:endParaRPr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871672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sz="2000" dirty="0"/>
              <a:t>Practice.md </a:t>
            </a:r>
            <a:r>
              <a:rPr lang="ko-KR" altLang="en-US" sz="2000" dirty="0"/>
              <a:t>에도 동일한 내용이 있음</a:t>
            </a:r>
            <a:endParaRPr sz="2000" dirty="0"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AD1A3-D2F1-62F3-A26A-68512181A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5B37A855-C0DD-B9D3-7053-6394514C425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5AB55966-FA28-BC73-EA9E-53DF014DF033}" type="slidenum">
              <a:rPr>
                <a:latin typeface="Pretendard"/>
                <a:ea typeface="Pretendard"/>
                <a:cs typeface="Pretendard"/>
              </a:rPr>
              <a:t>23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2E3C055-47FE-88DA-43A5-25B4B12F1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실습·제어 구조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AC8948DC-0FD0-170F-E6B9-CFE96905EA97}"/>
              </a:ext>
            </a:extLst>
          </p:cNvPr>
          <p:cNvSpPr>
            <a:spLocks noGrp="1"/>
          </p:cNvSpPr>
          <p:nvPr/>
        </p:nvSpPr>
        <p:spPr>
          <a:xfrm>
            <a:off x="391970" y="1934870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/joy에서 /target_pose 생성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IK가 /joint_targets 계산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Driver가 Servo 구동·/joint_states 발행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FK가 측정값으로 /ee_pose 복원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39AED3F5-ED82-C068-2478-A9EA2F3B9673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871672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Gamepad 입력이 실제 관절 동작과 EEF 관찰까지 연결</a:t>
            </a:r>
          </a:p>
        </p:txBody>
      </p:sp>
      <p:sp>
        <p:nvSpPr>
          <p:cNvPr id="27" name="Content Placeholder 10">
            <a:extLst>
              <a:ext uri="{FF2B5EF4-FFF2-40B4-BE49-F238E27FC236}">
                <a16:creationId xmlns:a16="http://schemas.microsoft.com/office/drawing/2014/main" id="{5C7536A8-7CFB-06CE-EE46-1734E39615C8}"/>
              </a:ext>
            </a:extLst>
          </p:cNvPr>
          <p:cNvSpPr>
            <a:spLocks noGrp="1"/>
          </p:cNvSpPr>
          <p:nvPr/>
        </p:nvSpPr>
        <p:spPr>
          <a:xfrm>
            <a:off x="6648104" y="218425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Gamepad → Target Pose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888E50B-1E24-3241-7BBE-A480803C773D}"/>
              </a:ext>
            </a:extLst>
          </p:cNvPr>
          <p:cNvSpPr>
            <a:spLocks noGrp="1"/>
          </p:cNvSpPr>
          <p:nvPr/>
        </p:nvSpPr>
        <p:spPr>
          <a:xfrm>
            <a:off x="6644793" y="181325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입력·목표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E2C5DEF1-C8A2-857D-3A60-B65043047705}"/>
              </a:ext>
            </a:extLst>
          </p:cNvPr>
          <p:cNvSpPr>
            <a:spLocks noGrp="1"/>
          </p:cNvSpPr>
          <p:nvPr/>
        </p:nvSpPr>
        <p:spPr>
          <a:xfrm>
            <a:off x="6648104" y="369301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IK → Joint Targets → Servo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6C80E7-8AB3-9ECD-3DC6-FF273E723FD1}"/>
              </a:ext>
            </a:extLst>
          </p:cNvPr>
          <p:cNvSpPr>
            <a:spLocks noGrp="1"/>
          </p:cNvSpPr>
          <p:nvPr/>
        </p:nvSpPr>
        <p:spPr>
          <a:xfrm>
            <a:off x="6644793" y="332201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계산·구동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22C8DB0A-3117-122D-B113-B7F2588F7AE7}"/>
              </a:ext>
            </a:extLst>
          </p:cNvPr>
          <p:cNvSpPr>
            <a:spLocks noGrp="1"/>
          </p:cNvSpPr>
          <p:nvPr/>
        </p:nvSpPr>
        <p:spPr>
          <a:xfrm>
            <a:off x="6648105" y="520177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Joint States → FK → EEF Pose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2ECC3D-4FAA-9E84-5BC4-B54E187C4872}"/>
              </a:ext>
            </a:extLst>
          </p:cNvPr>
          <p:cNvSpPr>
            <a:spLocks noGrp="1"/>
          </p:cNvSpPr>
          <p:nvPr/>
        </p:nvSpPr>
        <p:spPr>
          <a:xfrm>
            <a:off x="6644794" y="483077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측정·관찰</a:t>
            </a:r>
          </a:p>
        </p:txBody>
      </p:sp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B04FB7C5-5CDB-30FD-9FEE-655A9F07AF0B}"/>
              </a:ext>
            </a:extLst>
          </p:cNvPr>
          <p:cNvSpPr>
            <a:spLocks noGrp="1"/>
          </p:cNvSpPr>
          <p:nvPr/>
        </p:nvSpPr>
        <p:spPr>
          <a:xfrm>
            <a:off x="6405842" y="4542881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A7DE32DD-A412-258C-AE52-7A5B46501C67}"/>
              </a:ext>
            </a:extLst>
          </p:cNvPr>
          <p:cNvSpPr>
            <a:spLocks noGrp="1"/>
          </p:cNvSpPr>
          <p:nvPr/>
        </p:nvSpPr>
        <p:spPr>
          <a:xfrm>
            <a:off x="6405842" y="303069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3" name="Rounded Rectangle 9">
            <a:extLst>
              <a:ext uri="{FF2B5EF4-FFF2-40B4-BE49-F238E27FC236}">
                <a16:creationId xmlns:a16="http://schemas.microsoft.com/office/drawing/2014/main" id="{F060FDB5-7466-2AA8-D46D-13AC197F2AC7}"/>
              </a:ext>
            </a:extLst>
          </p:cNvPr>
          <p:cNvSpPr>
            <a:spLocks noGrp="1"/>
          </p:cNvSpPr>
          <p:nvPr/>
        </p:nvSpPr>
        <p:spPr>
          <a:xfrm>
            <a:off x="6405843" y="1518509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31967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02F15020-66A7-620A-7B7A-C05C4312DEAE}" type="slidenum">
              <a:rPr>
                <a:latin typeface="Pretendard"/>
                <a:ea typeface="Pretendard"/>
                <a:cs typeface="Pretendard"/>
              </a:rPr>
              <a:t>24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실습·Node 역할</a:t>
            </a: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23133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joy_node: /joy 입력 발행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joystick_to_pose: EEF 목표 생성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ik_solver: Joint Targets 계산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arm_driver: Servo 구동·관절 상태 발행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fk_solver·listener: 현재 EEF Pose 계산·출력</a:t>
            </a: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여섯 Node가 하나의 Launch에서 제어 체인 구성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>
                <a:latin typeface="Pretendard"/>
                <a:ea typeface="Pretendard"/>
                <a:cs typeface="Pretendard"/>
              </a:rPr>
              <a:t>수행 항목</a:t>
            </a:r>
            <a:endParaRPr sz="2000" b="1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endParaRPr sz="140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Publisher 3개·Subscriber 4개 연결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Package·Launch 빌드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Torque ON 후 Gamepad 조작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X·Y·Z·Pitch·Gripper 제어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5FEBBBCE-9E16-527A-0EE3-E5839422D847}" type="slidenum">
              <a:rPr>
                <a:latin typeface="Pretendard"/>
                <a:ea typeface="Pretendard"/>
                <a:cs typeface="Pretendard"/>
              </a:rPr>
              <a:t>25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실습·구현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5560261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>
                <a:latin typeface="Pretendard"/>
                <a:ea typeface="Pretendard"/>
                <a:cs typeface="Pretendard"/>
              </a:rPr>
              <a:t>검사 결과</a:t>
            </a:r>
            <a:endParaRPr sz="2000" b="1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endParaRPr sz="140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전체 Topic Chain 연결</a:t>
            </a:r>
            <a:endParaRPr sz="140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/ee_pose 값 연속 출력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입력 중단 후 마지막 자세 유지</a:t>
            </a:r>
            <a:endParaRPr sz="140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Torque OFF·Launch 종료</a:t>
            </a:r>
            <a:endParaRPr sz="1400"/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통신 객체를 완성하고 EEF 제어·안전 동작을 직접 확인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D172A7C5-A0CC-7B36-F236-345181E6AD72}" type="slidenum">
              <a:rPr>
                <a:latin typeface="Pretendard"/>
                <a:ea typeface="Pretendard"/>
                <a:cs typeface="Pretendard"/>
              </a:rPr>
              <a:t>26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6주차 조교 검사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noGrp="1"/>
          </p:cNvSpPr>
          <p:nvPr/>
        </p:nvSpPr>
        <p:spPr>
          <a:xfrm>
            <a:off x="70627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Publisher·Subscriber TODO·Topic Chain</a:t>
            </a: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63404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실행 결과를 조교에게 직접 확인</a:t>
            </a: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통신·제어·관찰·안전이 모두 확인되면 실습 완료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noGrp="1"/>
          </p:cNvSpPr>
          <p:nvPr/>
        </p:nvSpPr>
        <p:spPr>
          <a:xfrm>
            <a:off x="70296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통신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noGrp="1"/>
          </p:cNvSpPr>
          <p:nvPr/>
        </p:nvSpPr>
        <p:spPr>
          <a:xfrm>
            <a:off x="655843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X·Y·Z·Pitch·Gripper 동작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noGrp="1"/>
          </p:cNvSpPr>
          <p:nvPr/>
        </p:nvSpPr>
        <p:spPr>
          <a:xfrm>
            <a:off x="655512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EEF 제어</a:t>
            </a: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noGrp="1"/>
          </p:cNvSpPr>
          <p:nvPr/>
        </p:nvSpPr>
        <p:spPr>
          <a:xfrm>
            <a:off x="70627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/joint_states 기반 /ee_pose 출력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noGrp="1"/>
          </p:cNvSpPr>
          <p:nvPr/>
        </p:nvSpPr>
        <p:spPr>
          <a:xfrm>
            <a:off x="70296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FK 확인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noGrp="1"/>
          </p:cNvSpPr>
          <p:nvPr/>
        </p:nvSpPr>
        <p:spPr>
          <a:xfrm>
            <a:off x="655843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입력 단절 Hold·Torque OFF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noGrp="1"/>
          </p:cNvSpPr>
          <p:nvPr/>
        </p:nvSpPr>
        <p:spPr>
          <a:xfrm>
            <a:off x="655512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안전</a:t>
            </a:r>
          </a:p>
        </p:txBody>
      </p:sp>
      <p:sp>
        <p:nvSpPr>
          <p:cNvPr id="3" name="Rounded Rectangle 9">
            <a:extLst>
              <a:ext uri="{FF2B5EF4-FFF2-40B4-BE49-F238E27FC236}">
                <a16:creationId xmlns:a16="http://schemas.microsoft.com/office/drawing/2014/main" id="{50060C77-52B1-F6FC-B1A4-C961670FE2AD}"/>
              </a:ext>
            </a:extLst>
          </p:cNvPr>
          <p:cNvSpPr>
            <a:spLocks noGrp="1"/>
          </p:cNvSpPr>
          <p:nvPr/>
        </p:nvSpPr>
        <p:spPr>
          <a:xfrm>
            <a:off x="499316" y="2553962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Rounded Rectangle 9">
            <a:extLst>
              <a:ext uri="{FF2B5EF4-FFF2-40B4-BE49-F238E27FC236}">
                <a16:creationId xmlns:a16="http://schemas.microsoft.com/office/drawing/2014/main" id="{1159D27A-1461-523D-7DD5-673A60B66AD8}"/>
              </a:ext>
            </a:extLst>
          </p:cNvPr>
          <p:cNvSpPr>
            <a:spLocks noGrp="1"/>
          </p:cNvSpPr>
          <p:nvPr/>
        </p:nvSpPr>
        <p:spPr>
          <a:xfrm>
            <a:off x="6298499" y="2553962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5" name="Rounded Rectangle 9">
            <a:extLst>
              <a:ext uri="{FF2B5EF4-FFF2-40B4-BE49-F238E27FC236}">
                <a16:creationId xmlns:a16="http://schemas.microsoft.com/office/drawing/2014/main" id="{8D6E1CF7-05C7-0A24-2B00-908E4780C230}"/>
              </a:ext>
            </a:extLst>
          </p:cNvPr>
          <p:cNvSpPr>
            <a:spLocks noGrp="1"/>
          </p:cNvSpPr>
          <p:nvPr/>
        </p:nvSpPr>
        <p:spPr>
          <a:xfrm>
            <a:off x="499316" y="4298613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6" name="Rounded Rectangle 9">
            <a:extLst>
              <a:ext uri="{FF2B5EF4-FFF2-40B4-BE49-F238E27FC236}">
                <a16:creationId xmlns:a16="http://schemas.microsoft.com/office/drawing/2014/main" id="{E8DB49BA-56EA-3432-AE06-A384DAAD1E28}"/>
              </a:ext>
            </a:extLst>
          </p:cNvPr>
          <p:cNvSpPr>
            <a:spLocks noGrp="1"/>
          </p:cNvSpPr>
          <p:nvPr/>
        </p:nvSpPr>
        <p:spPr>
          <a:xfrm>
            <a:off x="6298499" y="4298613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Pretendard"/>
        <a:ea typeface=""/>
        <a:cs typeface=""/>
      </a:majorFont>
      <a:minorFont>
        <a:latin typeface="Pretendard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Pretendard"/>
        <a:ea typeface=""/>
        <a:cs typeface=""/>
      </a:majorFont>
      <a:minorFont>
        <a:latin typeface="Pretendard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1336</Words>
  <Application>Microsoft Office PowerPoint</Application>
  <DocSecurity>0</DocSecurity>
  <PresentationFormat>와이드스크린</PresentationFormat>
  <Paragraphs>222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29" baseType="lpstr">
      <vt:lpstr>Pretendard SemiBold</vt:lpstr>
      <vt:lpstr>Pretendard</vt:lpstr>
      <vt:lpstr>Default Codex Theme</vt:lpstr>
      <vt:lpstr>6주차 — 작업 공간·역기구학 제어</vt:lpstr>
      <vt:lpstr>PowerPoint 프레젠테이션</vt:lpstr>
      <vt:lpstr>이론</vt:lpstr>
      <vt:lpstr>5주차 복습</vt:lpstr>
      <vt:lpstr>5주차 복습 - 관절 위치제어</vt:lpstr>
      <vt:lpstr>5주차 복습 - Forward Kinematics</vt:lpstr>
      <vt:lpstr>FK·IK 비교</vt:lpstr>
      <vt:lpstr>End-Effector 제어</vt:lpstr>
      <vt:lpstr>Pose</vt:lpstr>
      <vt:lpstr>Base 좌표계</vt:lpstr>
      <vt:lpstr>5주차: Joint Space에서 로봇 제어</vt:lpstr>
      <vt:lpstr>6주차: Task Space에서 로봇 제어</vt:lpstr>
      <vt:lpstr>Joint·Task Space</vt:lpstr>
      <vt:lpstr>자유도(DoF), 제어변수</vt:lpstr>
      <vt:lpstr>Inverse Kinematics</vt:lpstr>
      <vt:lpstr>IK 해의 특성</vt:lpstr>
      <vt:lpstr>도달 불가 목표</vt:lpstr>
      <vt:lpstr>IK 계산 흐름</vt:lpstr>
      <vt:lpstr>IK 결과 선택</vt:lpstr>
      <vt:lpstr>Gamepad 입력</vt:lpstr>
      <vt:lpstr>실습</vt:lpstr>
      <vt:lpstr>실습 전 jetson PC 환경변수 설정</vt:lpstr>
      <vt:lpstr>실습·제어 구조</vt:lpstr>
      <vt:lpstr>실습·Node 역할</vt:lpstr>
      <vt:lpstr>실습·구현</vt:lpstr>
      <vt:lpstr>6주차 조교 검사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김성민</cp:lastModifiedBy>
  <cp:revision>10</cp:revision>
  <dcterms:created xsi:type="dcterms:W3CDTF">2026-09-04T01:18:13Z</dcterms:created>
  <dcterms:modified xsi:type="dcterms:W3CDTF">2026-10-07T00:57:11Z</dcterms:modified>
</cp:coreProperties>
</file>